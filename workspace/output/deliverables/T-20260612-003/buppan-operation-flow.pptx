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463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8E0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OPERATION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メーカー仕入れ物販 — 実務オペレーションフロー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モノ・お金・情報の動き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646920" y="384048"/>
            <a:ext cx="457200" cy="0"/>
          </a:xfrm>
          <a:prstGeom prst="line">
            <a:avLst/>
          </a:prstGeom>
          <a:noFill/>
          <a:ln w="31750">
            <a:solidFill>
              <a:srgbClr val="3C4654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10149840" y="256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03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モノ・作業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646920" y="676656"/>
            <a:ext cx="457200" cy="0"/>
          </a:xfrm>
          <a:prstGeom prst="line">
            <a:avLst/>
          </a:prstGeom>
          <a:noFill/>
          <a:ln w="31750">
            <a:solidFill>
              <a:srgbClr val="D98E04"/>
            </a:solidFill>
            <a:prstDash val="dash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0149840" y="548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03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お金・情報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54480" y="1280160"/>
            <a:ext cx="1046988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E3DD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80160"/>
            <a:ext cx="1143000" cy="106070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280160"/>
            <a:ext cx="1143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社長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(PCで完結)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554480" y="2340864"/>
            <a:ext cx="10469880" cy="1060704"/>
          </a:xfrm>
          <a:prstGeom prst="rect">
            <a:avLst/>
          </a:prstGeom>
          <a:solidFill>
            <a:srgbClr val="F0ECE3"/>
          </a:solidFill>
          <a:ln w="6350">
            <a:solidFill>
              <a:srgbClr val="E3DD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340864"/>
            <a:ext cx="1143000" cy="106070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340864"/>
            <a:ext cx="1143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メーカー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(仕入れ先)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554480" y="3401568"/>
            <a:ext cx="1046988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E3DD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401568"/>
            <a:ext cx="1143000" cy="1060704"/>
          </a:xfrm>
          <a:prstGeom prst="rect">
            <a:avLst/>
          </a:prstGeom>
          <a:solidFill>
            <a:srgbClr val="3E7C4F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401568"/>
            <a:ext cx="1143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就労支援施設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(WAM NET)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554480" y="4462272"/>
            <a:ext cx="10469880" cy="1060704"/>
          </a:xfrm>
          <a:prstGeom prst="rect">
            <a:avLst/>
          </a:prstGeom>
          <a:solidFill>
            <a:srgbClr val="F0ECE3"/>
          </a:solidFill>
          <a:ln w="6350">
            <a:solidFill>
              <a:srgbClr val="E3DD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462272"/>
            <a:ext cx="1143000" cy="106070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4462272"/>
            <a:ext cx="1143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Amazon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FBA倉庫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554480" y="5522976"/>
            <a:ext cx="1046988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E3DD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5522976"/>
            <a:ext cx="1143000" cy="1060704"/>
          </a:xfrm>
          <a:prstGeom prst="rect">
            <a:avLst/>
          </a:prstGeom>
          <a:solidFill>
            <a:srgbClr val="5B6B7B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5522976"/>
            <a:ext cx="1143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顧客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645920" y="1453896"/>
            <a:ext cx="137160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  <a:effectLst>
            <a:outerShdw sx="100000" sy="100000" kx="0" ky="0" algn="bl" rotWithShape="0" blurRad="63500" dist="19050" dir="8100000">
              <a:srgbClr val="1B2A4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45920" y="1453896"/>
            <a:ext cx="64008" cy="713232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1773936" y="1490472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B2A4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 品物リサーチ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Keepa 3基準で抽出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54680" y="1453896"/>
            <a:ext cx="137160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  <a:effectLst>
            <a:outerShdw sx="100000" sy="100000" kx="0" ky="0" algn="bl" rotWithShape="0" blurRad="63500" dist="19050" dir="8100000">
              <a:srgbClr val="1B2A41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1453896"/>
            <a:ext cx="64008" cy="713232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29" name="Text 27"/>
          <p:cNvSpPr/>
          <p:nvPr/>
        </p:nvSpPr>
        <p:spPr>
          <a:xfrm>
            <a:off x="3282696" y="1490472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B2A4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② 仕入れ先選定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中小メーカーを特定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453896"/>
            <a:ext cx="137160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  <a:effectLst>
            <a:outerShdw sx="100000" sy="100000" kx="0" ky="0" algn="bl" rotWithShape="0" blurRad="63500" dist="19050" dir="8100000">
              <a:srgbClr val="1B2A41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453896"/>
            <a:ext cx="64008" cy="713232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4791456" y="1490472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B2A4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 問い合わせ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会社概要＋メール/電話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0" y="2514600"/>
            <a:ext cx="137160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19050" dir="8100000">
              <a:srgbClr val="1B2A41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0" y="2514600"/>
            <a:ext cx="64008" cy="71323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5" name="Text 33"/>
          <p:cNvSpPr/>
          <p:nvPr/>
        </p:nvSpPr>
        <p:spPr>
          <a:xfrm>
            <a:off x="5157216" y="2551176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B2A4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④ 見積回答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卸価格・最低ロット提示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0" y="1453896"/>
            <a:ext cx="137160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  <a:effectLst>
            <a:outerShdw sx="100000" sy="100000" kx="0" ky="0" algn="bl" rotWithShape="0" blurRad="63500" dist="19050" dir="8100000">
              <a:srgbClr val="1B2A41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0" y="1453896"/>
            <a:ext cx="64008" cy="713232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528816" y="1490472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B2A4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⑤ 利益判定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売価×0.65−仕入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B5710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経費35%で概算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955280" y="1453896"/>
            <a:ext cx="137160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  <a:effectLst>
            <a:outerShdw sx="100000" sy="100000" kx="0" ky="0" algn="bl" rotWithShape="0" blurRad="63500" dist="19050" dir="8100000">
              <a:srgbClr val="1B2A41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955280" y="1453896"/>
            <a:ext cx="64008" cy="713232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1" name="Text 39"/>
          <p:cNvSpPr/>
          <p:nvPr/>
        </p:nvSpPr>
        <p:spPr>
          <a:xfrm>
            <a:off x="8083296" y="1490472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B2A4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⑥ 初回発注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現金前払い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B5710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最小5個から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869680" y="2514600"/>
            <a:ext cx="137160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19050" dir="8100000">
              <a:srgbClr val="1B2A41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869680" y="2514600"/>
            <a:ext cx="64008" cy="71323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4" name="Text 42"/>
          <p:cNvSpPr/>
          <p:nvPr/>
        </p:nvSpPr>
        <p:spPr>
          <a:xfrm>
            <a:off x="8997696" y="2551176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B2A4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⑦ 商品出荷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メーカー→施設へ直送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92640" y="3575304"/>
            <a:ext cx="137160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3E7C4F"/>
            </a:solidFill>
            <a:prstDash val="solid"/>
          </a:ln>
          <a:effectLst>
            <a:outerShdw sx="100000" sy="100000" kx="0" ky="0" algn="bl" rotWithShape="0" blurRad="63500" dist="19050" dir="8100000">
              <a:srgbClr val="1B2A41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692640" y="3575304"/>
            <a:ext cx="64008" cy="713232"/>
          </a:xfrm>
          <a:prstGeom prst="rect">
            <a:avLst/>
          </a:prstGeom>
          <a:solidFill>
            <a:srgbClr val="3E7C4F"/>
          </a:solidFill>
          <a:ln/>
        </p:spPr>
      </p:sp>
      <p:sp>
        <p:nvSpPr>
          <p:cNvPr id="47" name="Text 45"/>
          <p:cNvSpPr/>
          <p:nvPr/>
        </p:nvSpPr>
        <p:spPr>
          <a:xfrm>
            <a:off x="9820656" y="361188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B2A4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⑧ ラベル貼り・梱包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施設で検品＋出荷準備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B5710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5〜10円/個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0515600" y="4636008"/>
            <a:ext cx="137160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D98E04"/>
            </a:solidFill>
            <a:prstDash val="solid"/>
          </a:ln>
          <a:effectLst>
            <a:outerShdw sx="100000" sy="100000" kx="0" ky="0" algn="bl" rotWithShape="0" blurRad="63500" dist="19050" dir="8100000">
              <a:srgbClr val="1B2A41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0515600" y="4636008"/>
            <a:ext cx="64008" cy="713232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50" name="Text 48"/>
          <p:cNvSpPr/>
          <p:nvPr/>
        </p:nvSpPr>
        <p:spPr>
          <a:xfrm>
            <a:off x="10643616" y="46725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B2A4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⑨ FBAで販売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入庫・梱包・配送はAmazon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0515600" y="5696712"/>
            <a:ext cx="137160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5B6B7B"/>
            </a:solidFill>
            <a:prstDash val="solid"/>
          </a:ln>
          <a:effectLst>
            <a:outerShdw sx="100000" sy="100000" kx="0" ky="0" algn="bl" rotWithShape="0" blurRad="63500" dist="19050" dir="8100000">
              <a:srgbClr val="1B2A41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0515600" y="5696712"/>
            <a:ext cx="64008" cy="713232"/>
          </a:xfrm>
          <a:prstGeom prst="rect">
            <a:avLst/>
          </a:prstGeom>
          <a:solidFill>
            <a:srgbClr val="5B6B7B"/>
          </a:solidFill>
          <a:ln/>
        </p:spPr>
      </p:sp>
      <p:sp>
        <p:nvSpPr>
          <p:cNvPr id="53" name="Text 51"/>
          <p:cNvSpPr/>
          <p:nvPr/>
        </p:nvSpPr>
        <p:spPr>
          <a:xfrm>
            <a:off x="10643616" y="573328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B2A4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⑩ 顧客が受取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レビュー獲得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0561320" y="1453896"/>
            <a:ext cx="137160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  <a:effectLst>
            <a:outerShdw sx="100000" sy="100000" kx="0" ky="0" algn="bl" rotWithShape="0" blurRad="63500" dist="19050" dir="8100000">
              <a:srgbClr val="1B2A41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0561320" y="1453896"/>
            <a:ext cx="64008" cy="713232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56" name="Text 54"/>
          <p:cNvSpPr/>
          <p:nvPr/>
        </p:nvSpPr>
        <p:spPr>
          <a:xfrm>
            <a:off x="10689336" y="1490472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B2A4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⑪ 売上入金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2週間サイクル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B5710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売価がまとめて入金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017520" y="1810512"/>
            <a:ext cx="137160" cy="0"/>
          </a:xfrm>
          <a:prstGeom prst="line">
            <a:avLst/>
          </a:prstGeom>
          <a:noFill/>
          <a:ln w="28575">
            <a:solidFill>
              <a:srgbClr val="3C4654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526280" y="1810512"/>
            <a:ext cx="137160" cy="0"/>
          </a:xfrm>
          <a:prstGeom prst="line">
            <a:avLst/>
          </a:prstGeom>
          <a:noFill/>
          <a:ln w="28575">
            <a:solidFill>
              <a:srgbClr val="3C4654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5349240" y="2167128"/>
            <a:ext cx="365760" cy="347472"/>
          </a:xfrm>
          <a:prstGeom prst="line">
            <a:avLst/>
          </a:prstGeom>
          <a:noFill/>
          <a:ln w="28575">
            <a:solidFill>
              <a:srgbClr val="3C4654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 flipV="1">
            <a:off x="5715000" y="2167128"/>
            <a:ext cx="1371600" cy="347472"/>
          </a:xfrm>
          <a:prstGeom prst="line">
            <a:avLst/>
          </a:prstGeom>
          <a:noFill/>
          <a:ln w="28575">
            <a:solidFill>
              <a:srgbClr val="3C4654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7772400" y="1810512"/>
            <a:ext cx="182880" cy="0"/>
          </a:xfrm>
          <a:prstGeom prst="line">
            <a:avLst/>
          </a:prstGeom>
          <a:noFill/>
          <a:ln w="28575">
            <a:solidFill>
              <a:srgbClr val="3C4654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8641080" y="2167128"/>
            <a:ext cx="914400" cy="347472"/>
          </a:xfrm>
          <a:prstGeom prst="line">
            <a:avLst/>
          </a:prstGeom>
          <a:noFill/>
          <a:ln w="28575">
            <a:solidFill>
              <a:srgbClr val="3C4654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9555480" y="3227832"/>
            <a:ext cx="822960" cy="347472"/>
          </a:xfrm>
          <a:prstGeom prst="line">
            <a:avLst/>
          </a:prstGeom>
          <a:noFill/>
          <a:ln w="28575">
            <a:solidFill>
              <a:srgbClr val="3C4654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10378440" y="4288536"/>
            <a:ext cx="822960" cy="347472"/>
          </a:xfrm>
          <a:prstGeom prst="line">
            <a:avLst/>
          </a:prstGeom>
          <a:noFill/>
          <a:ln w="28575">
            <a:solidFill>
              <a:srgbClr val="3C4654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11201400" y="5349240"/>
            <a:ext cx="0" cy="347472"/>
          </a:xfrm>
          <a:prstGeom prst="line">
            <a:avLst/>
          </a:prstGeom>
          <a:noFill/>
          <a:ln w="28575">
            <a:solidFill>
              <a:srgbClr val="3C4654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 flipV="1">
            <a:off x="11201400" y="2167128"/>
            <a:ext cx="45720" cy="2468880"/>
          </a:xfrm>
          <a:prstGeom prst="line">
            <a:avLst/>
          </a:prstGeom>
          <a:noFill/>
          <a:ln w="28575">
            <a:solidFill>
              <a:srgbClr val="D98E04"/>
            </a:solidFill>
            <a:prstDash val="dash"/>
            <a:tailEnd type="triangle"/>
          </a:ln>
        </p:spPr>
      </p:sp>
      <p:sp>
        <p:nvSpPr>
          <p:cNvPr id="67" name="Shape 65"/>
          <p:cNvSpPr/>
          <p:nvPr/>
        </p:nvSpPr>
        <p:spPr>
          <a:xfrm flipV="1">
            <a:off x="11247120" y="1078992"/>
            <a:ext cx="0" cy="374904"/>
          </a:xfrm>
          <a:prstGeom prst="line">
            <a:avLst/>
          </a:prstGeom>
          <a:noFill/>
          <a:ln w="28575">
            <a:solidFill>
              <a:srgbClr val="D98E04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8641080" y="1078992"/>
            <a:ext cx="2606040" cy="0"/>
          </a:xfrm>
          <a:prstGeom prst="line">
            <a:avLst/>
          </a:prstGeom>
          <a:noFill/>
          <a:ln w="28575">
            <a:solidFill>
              <a:srgbClr val="D98E04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8641080" y="1078992"/>
            <a:ext cx="0" cy="374904"/>
          </a:xfrm>
          <a:prstGeom prst="line">
            <a:avLst/>
          </a:prstGeom>
          <a:noFill/>
          <a:ln w="28575">
            <a:solidFill>
              <a:srgbClr val="D98E04"/>
            </a:solidFill>
            <a:prstDash val="dash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8183880" y="8412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A85B0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リピート発注（在庫1.2〜1.5倍を維持）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20040" y="6437376"/>
            <a:ext cx="11521440" cy="32918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72" name="Text 70"/>
          <p:cNvSpPr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3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社長の作業はすべてPC上（①〜⑥・⑪）。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物理作業（検品・ラベル貼り・梱包・配送）は就労支援施設とAmazon FBAに外注 → 在庫が減れば⑥へ戻りリピート。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メーカー仕入れ物販 実務オペレーションフロー</dc:title>
  <dc:subject>PptxGenJS Presentation</dc:subject>
  <dc:creator>Satoy Select / カズヨ</dc:creator>
  <cp:lastModifiedBy>Satoy Select / カズヨ</cp:lastModifiedBy>
  <cp:revision>1</cp:revision>
  <dcterms:created xsi:type="dcterms:W3CDTF">2026-06-18T09:46:41Z</dcterms:created>
  <dcterms:modified xsi:type="dcterms:W3CDTF">2026-06-18T09:46:41Z</dcterms:modified>
</cp:coreProperties>
</file>