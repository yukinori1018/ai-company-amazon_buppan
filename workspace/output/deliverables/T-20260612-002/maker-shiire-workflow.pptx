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メーカー仕入れ」という物販手法の全ワークフローを解説します。やることは極めてシンプルです。メーカーから直接卸してもらい、Amazonで販売する。せどりのような掘り出し物探しも、転売のような店舗巡りもありません。その代わり、リサーチ・問い合わせ・仕入れ判断・管理という4つのステップを、決められた基準どおりに淡々と回します。このプレゼンでは、その4ステップと、軌道に乗った後の成長3施策（外注化・融資・限定独占）まで、実務レベルで詳しく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商流で位置づけを理解します。一般流通では、メーカーと消費者の間に卸業者と小売業者が入ります。せどりや転売は、さらにその小売から買って転売するので「小売から小売」の二重流通になり、仕入値が構造的に高い。メーカー仕入れは、このチェーンを一段飛ばしてメーカーから直接卸してもらいます。中間マージンがないため、その商品を扱う誰よりも安く仕入れられる立場に立てます。これが利益の源泉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せどりとの最大の違いは「積み上がるかどうか」です。せどりは売るたびに次の商品を探す消耗戦ですが、メーカー仕入れは一度取引が決まれば、メール1本で何度でも同じ商品を仕入れられます。発注作業は月2回程度。取引メーカーが1社増えるごとに月数千円から数万円の利益が階段状に積み上がる、ストック型のビジネスです。実例として、ご当地ラーメンの詰め合わせ1商品だけで月96セット・月利14万円・利益率26%というケースがあります。1商品でこれです。これを10社、20社と積み上げ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リットは5つ。最安値仕入れ、リピート性、そしてアカウントの安全性。メーカーから正規の書類をもらって仕入れているので、Amazonの真贋調査や規制にも書類一式で対応できます。せどりにはない強みです。一方、よくある不安が3つ。「資金が要るのでは」——月4万円程度から取引できる中小メーカーは多く、自己資金の範囲で始められます。「個人では相手にされないのでは」——実践者の9割以上が個人です。「ライバルが増えて値崩れするのでは」——これは後半で説明する限定化・独占で構造的に防ぎ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ーカーが自分でAmazonに出せばいいのでは」と思うかもしれません。実際には、中小メーカーは人手不足で、1個ずつ消費者に売る作業は割に合いません。彼らは作ることのプロであって、売るのは苦手。まとまったロットで卸す方が生産計画も立てやすい。だから「Amazonでの販売を引き受けます」という私たちの提案には、ちゃんと需要があります。そしてこの関係構築は人と人のコミュニケーションそのもので、AIや営業代行では代替できません。営業代行500件でゼロ成約だった案件が、本人の電話1本で成約した実例もあります。ここが参入障壁であり、私たちの守りにも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が本題、ワークフローの全体像です。日々回すのは4ステップだけ。Keepaで条件に合う商品を抽出し、そのメーカーに問い合わせ、もらった見積を経費35%ルールで利益判定し、通った商品だけ小ロットで仕入れて管理する。販売はFBA、つまりAmazonの倉庫に送れば梱包も発送もAmazonがやってくれます。売上は2週間サイクルで入金され、売れた分をリピート発注する。この繰り返しです。そして月利が安定してきたら、外注化で時間を作り、融資で資金を増やし、限定化・独占で利益を守る。順番に詳しく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リサーチの基準は3つだけです。1つ目、Amazon本体が出品していないこと。Amazon自身が売っている商品ではカートが取れず勝負になりません。2つ目、売れ筋ランキング5万位以内。これは「ちゃんと売れている商品」の足切りラインです。3つ目が重要で、FBAセラーが2人以上いること。意外に思えますが、セラーが1人しかいない商品はOEM品かメーカー直販で、そもそも卸してもらえません。複数のセラーがいるということは「卸す意思のあるメーカー」だという証拠なんです。ライバルの上限は気にしなくて構いません。狙うのは中小メーカー。大手は代理店制度があるので個人には卸し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ツールはKeepaひとつで足ります。月額29ユーロ、約5,000円。Keepaの「製品ファインダー」機能で、いま挙げた3条件をそのままフィルタにかけます。ランキング5万位以内、Amazon本体なし、FBAセラー2人以上。酒類のように免許が要るカテゴリは除外します。出てきた商品リストからメーカー名を控えて、問い合わせ先リストを作る。これがリサーチの実務です。なお「ライバルが多いと売れないのでは」という心配について。売れやすさは需要・供給・カート獲得の3要素で決まり、重要なのはカートを取れるかどうかです。出品者数そのものは、上限を気にする必要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リストができたら問い合わせです。その前に、最大の武器である会社概要資料を作り込みます。内容は3つ。顔写真つきの基本情報、なぜ御社と取引したいのかという思い、そして自分の事業内容です。メーカーの担当者は「知らない相手」からのメールを毎日捨てています。顔が見えて、思いが書いてあって、事業の実体が分かる相手は、それだけで上位数%に入ります。法人格や立派な肩書きは要りません。実践者の9割以上が個人です。ホームページを用意して概要資料からリンクできるようにしておくと、さらに信頼が増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初回メールは4部構成。挨拶、取引したいという要件、会社概要への誘導、締めの一言。シンプルですが、テンプレートをそのまま送ってはいけません。メーカーには同じような営業メールが大量に届いており、テンプレ臭がした瞬間に捨てられます。自分の言葉に書き直してください。そして心構えが5つ。特に効くのが3つ目以降です。中小メーカーはいまだにFAXと電話の文化なので、メールで返事がなければFAXを送り、電話をかける。これだけで成約率が変わります。断られたら必ず理由を聞く。値段が合わなければ条件を聞く。一往復で終わらせないことが、取引数の差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ーカーから見積が届いたら、仕入れ判断です。ここで使うのが「経費35%ルール」。Amazonの販売手数料、FBAの配送代行手数料、倉庫への納品送料を合わせると、だいたい販売価格の35%になります。つまり、販売価格の65%から仕入価格を引いた残りが利益。セミナーの実例では、1,980円の商品で経費682円、仕入1,188円、利益110円でした。利益110円と聞くと小さく感じますが、月280個売れれば3万円。これが1商品分で、リピートで毎月続きます。まずこの概算で足切りし、有望なものだけ正確な計算に進めば、判断のスピードが落ち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利益が出ると分かったら、次は「何個仕入れるか」。その前提として月間販売数を必ず数字で確認します。方法は2つ。1つはキーゾンというChrome拡張で、Keepaのデータをもとに月間販売数を商品ページ上に表示してくれます。もう1つは定点観測。ライバルセラーの在庫数を3日から5日間記録して、減り方から売れるペースを推定する方法です。市場全体の月販数を、自分を含めたFBAセラー数で割れば、自分の取り分の目安が出ます。感覚で仕入れない。必ず数字で確認する。ここを省くと在庫を抱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仕入れの鉄則は「必ず小さく始める」です。初回は最小ロット、5個程度で構いません。目的は利益ではなくテストです。本当に想定ペースで売れるのか、商品状態は問題ないか、メーカーの納期は正確か。それを確認してから、リピートで数を増やします。リピート時の目安は、現金前払いなら月販数の1.5ヶ月分、掛け払いなら2〜3ヶ月分。逆に、初回から大きなロットや高い最低発注額を求めるメーカーは要注意です。そこで無理をしない。売れる確証を得てから積み増す。この順番を守るだけで、物販の最大の失敗である「不良在庫」をほぼ回避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つ目のステップ、管理です。ここで一番大事な数字が「在庫は月販の1.2〜1.5倍」。1ヶ月分ぴったりだと、少し売れ行きがブレただけで欠品します。欠品は売上ゼロというだけでなく、Amazonの検索順位が下がり、カート取得率も落ちる。かといって持ちすぎれば資金が寝る。その均衡点が1.2〜1.5倍です。この比率から逆算すると、目標月利10万円には在庫50〜75万円、月利50万円には250〜375万円が必要になります。つまり「いくら稼ぎたいか」は「いくら在庫を持てるか」で決まる。自分の在庫金額を常に把握していることが、目標達成の前提条件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お金の流れを押さえます。仕入れて、FBA倉庫に納品して、売れて、2週間ごとに入金され、その資金でまた仕入れる。このサイクルが回り始めると、あとは在庫表の管理だけです。スプレッドシートに商品ごとの仕入価格、販売価格、FBA在庫数、販売ペースを記録し、在庫が1.5ヶ月分を切りそうになったらメールでリピート発注する。これを月2回やるだけ。せどりのように毎日リサーチに追われることはありません。だからこそ副業でも回りますし、後で説明する外注化で、さらに手離れさせることが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月利が立ち始めた後の成長施策です。まず外注化。副業で使える時間は月60〜90時間程度しかありません。作業の内訳を見ると、リサーチと問い合わせ送信で月30時間、梱包・納品で16時間、発注書や在庫管理で5時間、合計51時間は外注可能です。つまり作業時間のほとんどは人に任せられる。自分に残すべきはただ一つ、メーカーとの関係構築です。ここは利益の源泉であり、外注もAIも代替できない部分。逆に言えば、それ以外を任せる仕組みを作った人から月利が伸び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梱包・納品の外注先として実践者の8〜9割が使っているのが、就労支援施設です。WAM NETという福祉医療機構のサイトで、自分の県の施設を検索できます。費用は1商品あたり5円から10円程度。民間の代行業者より圧倒的に安く、融通も利きます。進め方は3ステップ。まず施設に作業を受けられるか確認してアポを取り、訪問して受取から梱包、ラベル貼り、引き渡しまでの流れを説明し、1ヶ月ほどテスト梱包で品質とスピードを確認する。施設にはA型とB型があり、特性が違うので両方に話を聞くのがおすすめです。障害者の就労機会を作る社会貢献にもなり、この実績は金融機関からの信用にもつな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つ目の成長施策は融資です。このビジネスは在庫量が利益を決めるので、資金量がそのまま成長速度になります。自己資金100万円だけなら18ヶ月かかる目標が、融資を使えば9ヶ月、半分に縮まる。ルートは日本政策金融公庫か、信用金庫プラス信用保証協会の2つです。ここで大事な鉄則が一つ。「売上100万円の実績を作ってから申請する」こと。実績ゼロで申し込むと50〜100万円しか出ませんが、売上実績があれば売上の2〜3倍まで狙えます。同じ申請でも順番を間違えるだけで調達額が変わる。まず小さく売上を立てる、それから借り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の成長施策が、限定化と独占です。限定化とはメーカーに卸先を絞ってもらうこと。セラーが増えなければ供給が安定し、値崩れが起きません。さらに進んで、Amazonでの販売者が自分だけになるのが独占。5社で分け合っていた市場を1社で取れば、単純計算で利益は5倍です。どうやって実現するか。核心はこの表に尽きます。Amazonには値崩れしやすい、無関係なセラーが相乗りしてくる、という性質がある。一方メーカーは、まさにその値崩れと無断販売者に困っていて、しかも仕組みがよく分からない。つまり、Amazonの仕組みを説明し、値崩れの原因を示し、卸先を絞ればそれが解決すると提案する。私たちの知識そのものが、メーカーの困り事の解決策な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ただし、順序を間違えてはいけません。合言葉は「初対面で結婚を申し込むな」。最初の問い合わせでいきなり独占契約を求めても、確実に断られます。まず普通に取引を始めて、きちんと売り、きちんと支払い、信頼を積む。そのうえでAmazonの状況について助言を求められる関係になり、値崩れ対策を提言し、メーカー側がメリットを感じて初めて、限定化、そして独占へ進みます。恋愛と同じで段階を踏むこと。なお、一度断られても、メーカーの担当者が交代したタイミングで再チャンスが来ることもあります。長期戦で構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注意点です。この業界には嘘のノウハウが出回っています。実店舗があると偽る、経歴を盛る、といったテクニックは必ずバレます。バレた瞬間に取引は終わり、業界は狭いので評判も残る。逆に、派手なテクニックは一切なくても、正しい作業を継続することが最も再現性が高い。メールを送り、FAXを送り、電話をかけ、数字を計り、一社あたり数千円から数万円の利益を階段のように積み上げる。地味ですが、これが実際に成果が出ている人たちの共通点です。忘れてはいけないのは、選ぶのはメーカー側だということ。メーカーから選ばれる誠実な事業者であることが、すべての前提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最後に、これを当社でどう実行するかです。販売アカウントはSatoy Selectが開設済み。現在は小口出品ですが、月49個を超えるペースが見えたら大口に切り替えます。リサーチはKeepa契約済みで、3基準のフィルタリングは自社ツールで自動化できます。梱包・納品はFBAとWAM NETの組み合わせで、物理作業ゼロ・PC完結という当社の方針そのままです。資金は自己資金内の小ロットから始め、売上100万円の実績ができた段階で融資を検討します。直近のアクションは3つ。Keepaで候補メーカーのリストを作る。会社概要資料とホームページを整える。そして週10社のペースで問い合わせを始める。ここまでがメーカー仕入れ式シンプル物販の全ワークフロー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を1枚にまとめます。毎週、Keepaの3基準でリサーチし、会社概要を添えて問い合わせる。見積が来たら35%ルールで概算し、キーゾンで月販を確認して、初回は5個だけ仕入れる。売れたら1.5倍ルールでリピートし、在庫表を回す。育ってきたら外注化と融資でスケールし、限定化・独占で利益を守る。やることはこれだけです。最後に一言。このビジネスで探しているのは、儲かる商品ではありません。長く組めるメーカーというパートナーです。商品は入れ替わっても、メーカーとの関係は資産として残ります。それがメーカー仕入れ式シンプル物販の本質です。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8E04"/>
          </a:solidFill>
          <a:ln/>
        </p:spPr>
      </p:sp>
      <p:sp>
        <p:nvSpPr>
          <p:cNvPr id="3" name="Shape 1"/>
          <p:cNvSpPr/>
          <p:nvPr/>
        </p:nvSpPr>
        <p:spPr>
          <a:xfrm>
            <a:off x="7040880" y="-1371600"/>
            <a:ext cx="4023360" cy="4023360"/>
          </a:xfrm>
          <a:prstGeom prst="ellipse">
            <a:avLst/>
          </a:prstGeom>
          <a:solidFill>
            <a:srgbClr val="2B3F5C">
              <a:alpha val="65000"/>
            </a:srgbClr>
          </a:solidFill>
          <a:ln/>
        </p:spPr>
      </p:sp>
      <p:sp>
        <p:nvSpPr>
          <p:cNvPr id="4" name="Shape 2"/>
          <p:cNvSpPr/>
          <p:nvPr/>
        </p:nvSpPr>
        <p:spPr>
          <a:xfrm>
            <a:off x="7955280" y="3566160"/>
            <a:ext cx="2377440" cy="2377440"/>
          </a:xfrm>
          <a:prstGeom prst="ellipse">
            <a:avLst/>
          </a:prstGeom>
          <a:solidFill>
            <a:srgbClr val="D98E04">
              <a:alpha val="22000"/>
            </a:srgbClr>
          </a:solidFill>
          <a:ln/>
        </p:spPr>
      </p:sp>
      <p:sp>
        <p:nvSpPr>
          <p:cNvPr id="5" name="Text 3"/>
          <p:cNvSpPr/>
          <p:nvPr/>
        </p:nvSpPr>
        <p:spPr>
          <a:xfrm>
            <a:off x="777240" y="1207008"/>
            <a:ext cx="7315200" cy="274320"/>
          </a:xfrm>
          <a:prstGeom prst="rect">
            <a:avLst/>
          </a:prstGeom>
          <a:noFill/>
          <a:ln/>
        </p:spPr>
        <p:txBody>
          <a:bodyPr wrap="square" lIns="0" tIns="0" rIns="0" bIns="0" rtlCol="0" anchor="ctr"/>
          <a:lstStyle/>
          <a:p>
            <a:pPr indent="0" marL="0">
              <a:buNone/>
            </a:pPr>
            <a:r>
              <a:rPr lang="en-US" sz="1100" b="1" spc="400" kern="0" dirty="0">
                <a:solidFill>
                  <a:srgbClr val="F2B33D"/>
                </a:solidFill>
                <a:latin typeface="Hiragino Sans" pitchFamily="34" charset="0"/>
                <a:ea typeface="Hiragino Sans" pitchFamily="34" charset="-122"/>
                <a:cs typeface="Hiragino Sans" pitchFamily="34" charset="-120"/>
              </a:rPr>
              <a:t>MAKER DIRECT SOURCING PLAYBOOK</a:t>
            </a:r>
            <a:endParaRPr lang="en-US" sz="1100" dirty="0"/>
          </a:p>
        </p:txBody>
      </p:sp>
      <p:sp>
        <p:nvSpPr>
          <p:cNvPr id="6" name="Text 4"/>
          <p:cNvSpPr/>
          <p:nvPr/>
        </p:nvSpPr>
        <p:spPr>
          <a:xfrm>
            <a:off x="777240" y="1554480"/>
            <a:ext cx="7498080" cy="1554480"/>
          </a:xfrm>
          <a:prstGeom prst="rect">
            <a:avLst/>
          </a:prstGeom>
          <a:noFill/>
          <a:ln/>
        </p:spPr>
        <p:txBody>
          <a:bodyPr wrap="square" lIns="0" tIns="0" rIns="0" bIns="0" rtlCol="0" anchor="ctr"/>
          <a:lstStyle/>
          <a:p>
            <a:pPr indent="0" marL="0">
              <a:lnSpc>
                <a:spcPct val="115000"/>
              </a:lnSpc>
              <a:buNone/>
            </a:pPr>
            <a:r>
              <a:rPr lang="en-US" sz="3400" b="1" dirty="0">
                <a:solidFill>
                  <a:srgbClr val="FFFFFF"/>
                </a:solidFill>
                <a:latin typeface="Hiragino Sans" pitchFamily="34" charset="0"/>
                <a:ea typeface="Hiragino Sans" pitchFamily="34" charset="-122"/>
                <a:cs typeface="Hiragino Sans" pitchFamily="34" charset="-120"/>
              </a:rPr>
              <a:t>メーカー仕入れ式</a:t>
            </a:r>
            <a:endParaRPr lang="en-US" sz="3400" dirty="0"/>
          </a:p>
          <a:p>
            <a:pPr indent="0" marL="0">
              <a:lnSpc>
                <a:spcPct val="115000"/>
              </a:lnSpc>
              <a:buNone/>
            </a:pPr>
            <a:r>
              <a:rPr lang="en-US" sz="3400" b="1" dirty="0">
                <a:solidFill>
                  <a:srgbClr val="FFFFFF"/>
                </a:solidFill>
                <a:latin typeface="Hiragino Sans" pitchFamily="34" charset="0"/>
                <a:ea typeface="Hiragino Sans" pitchFamily="34" charset="-122"/>
                <a:cs typeface="Hiragino Sans" pitchFamily="34" charset="-120"/>
              </a:rPr>
              <a:t>シンプル物販 完全ワークフロー</a:t>
            </a:r>
            <a:endParaRPr lang="en-US" sz="3400" dirty="0"/>
          </a:p>
        </p:txBody>
      </p:sp>
      <p:sp>
        <p:nvSpPr>
          <p:cNvPr id="7" name="Text 5"/>
          <p:cNvSpPr/>
          <p:nvPr/>
        </p:nvSpPr>
        <p:spPr>
          <a:xfrm>
            <a:off x="777240" y="3246120"/>
            <a:ext cx="7498080" cy="365760"/>
          </a:xfrm>
          <a:prstGeom prst="rect">
            <a:avLst/>
          </a:prstGeom>
          <a:noFill/>
          <a:ln/>
        </p:spPr>
        <p:txBody>
          <a:bodyPr wrap="square" lIns="0" tIns="0" rIns="0" bIns="0" rtlCol="0" anchor="ctr"/>
          <a:lstStyle/>
          <a:p>
            <a:pPr indent="0" marL="0">
              <a:buNone/>
            </a:pPr>
            <a:r>
              <a:rPr lang="en-US" sz="1400" dirty="0">
                <a:solidFill>
                  <a:srgbClr val="C9D4E3"/>
                </a:solidFill>
                <a:latin typeface="Hiragino Sans" pitchFamily="34" charset="0"/>
                <a:ea typeface="Hiragino Sans" pitchFamily="34" charset="-122"/>
                <a:cs typeface="Hiragino Sans" pitchFamily="34" charset="-120"/>
              </a:rPr>
              <a:t>メーカーから直接仕入れて、Amazonで売る。ただそれだけを、正しく回す。</a:t>
            </a:r>
            <a:endParaRPr lang="en-US" sz="1400" dirty="0"/>
          </a:p>
        </p:txBody>
      </p:sp>
      <p:sp>
        <p:nvSpPr>
          <p:cNvPr id="8" name="Shape 6"/>
          <p:cNvSpPr/>
          <p:nvPr/>
        </p:nvSpPr>
        <p:spPr>
          <a:xfrm>
            <a:off x="795528" y="3977640"/>
            <a:ext cx="2011680" cy="0"/>
          </a:xfrm>
          <a:prstGeom prst="line">
            <a:avLst/>
          </a:prstGeom>
          <a:noFill/>
          <a:ln w="12700">
            <a:solidFill>
              <a:srgbClr val="2B3F5C"/>
            </a:solidFill>
            <a:prstDash val="solid"/>
          </a:ln>
        </p:spPr>
      </p:sp>
      <p:sp>
        <p:nvSpPr>
          <p:cNvPr id="9" name="Text 7"/>
          <p:cNvSpPr/>
          <p:nvPr/>
        </p:nvSpPr>
        <p:spPr>
          <a:xfrm>
            <a:off x="777240" y="4114800"/>
            <a:ext cx="7315200" cy="274320"/>
          </a:xfrm>
          <a:prstGeom prst="rect">
            <a:avLst/>
          </a:prstGeom>
          <a:noFill/>
          <a:ln/>
        </p:spPr>
        <p:txBody>
          <a:bodyPr wrap="square" lIns="0" tIns="0" rIns="0" bIns="0" rtlCol="0" anchor="ctr"/>
          <a:lstStyle/>
          <a:p>
            <a:pPr indent="0" marL="0">
              <a:buNone/>
            </a:pPr>
            <a:r>
              <a:rPr lang="en-US" sz="1000" dirty="0">
                <a:solidFill>
                  <a:srgbClr val="8FA1B8"/>
                </a:solidFill>
                <a:latin typeface="Hiragino Sans" pitchFamily="34" charset="0"/>
                <a:ea typeface="Hiragino Sans" pitchFamily="34" charset="-122"/>
                <a:cs typeface="Hiragino Sans" pitchFamily="34" charset="-120"/>
              </a:rPr>
              <a:t>出典: EC STARs Lab. メーカー仕入れ手法（2026-06-10 セミナー＋マニュアルより構成）</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INTRODUCTION</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メーカー仕入れとは — 商流で理解する</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02</a:t>
            </a:r>
            <a:endParaRPr lang="en-US" sz="900" dirty="0"/>
          </a:p>
        </p:txBody>
      </p:sp>
      <p:sp>
        <p:nvSpPr>
          <p:cNvPr id="7" name="Text 5"/>
          <p:cNvSpPr/>
          <p:nvPr/>
        </p:nvSpPr>
        <p:spPr>
          <a:xfrm>
            <a:off x="457200" y="1417320"/>
            <a:ext cx="1481328" cy="365760"/>
          </a:xfrm>
          <a:prstGeom prst="rect">
            <a:avLst/>
          </a:prstGeom>
          <a:noFill/>
          <a:ln/>
        </p:spPr>
        <p:txBody>
          <a:bodyPr wrap="square" lIns="0" tIns="0" rIns="0" bIns="0" rtlCol="0" anchor="ctr"/>
          <a:lstStyle/>
          <a:p>
            <a:pPr indent="0" marL="0">
              <a:buNone/>
            </a:pPr>
            <a:r>
              <a:rPr lang="en-US" sz="1250" b="1" dirty="0">
                <a:solidFill>
                  <a:srgbClr val="1B2A41"/>
                </a:solidFill>
                <a:latin typeface="Hiragino Sans" pitchFamily="34" charset="0"/>
                <a:ea typeface="Hiragino Sans" pitchFamily="34" charset="-122"/>
                <a:cs typeface="Hiragino Sans" pitchFamily="34" charset="-120"/>
              </a:rPr>
              <a:t>一般流通</a:t>
            </a:r>
            <a:endParaRPr lang="en-US" sz="1250" dirty="0"/>
          </a:p>
        </p:txBody>
      </p:sp>
      <p:sp>
        <p:nvSpPr>
          <p:cNvPr id="8" name="Shape 6"/>
          <p:cNvSpPr/>
          <p:nvPr/>
        </p:nvSpPr>
        <p:spPr>
          <a:xfrm>
            <a:off x="2057400" y="1298448"/>
            <a:ext cx="1078992" cy="566928"/>
          </a:xfrm>
          <a:prstGeom prst="rect">
            <a:avLst/>
          </a:prstGeom>
          <a:solidFill>
            <a:srgbClr val="FFFFFF"/>
          </a:solidFill>
          <a:ln w="12700">
            <a:solidFill>
              <a:srgbClr val="E3DDD2"/>
            </a:solidFill>
            <a:prstDash val="solid"/>
          </a:ln>
          <a:effectLst>
            <a:outerShdw sx="100000" sy="100000" kx="0" ky="0" algn="bl" rotWithShape="0" blurRad="88900" dist="25400" dir="8100000">
              <a:srgbClr val="1B2A41">
                <a:alpha val="14000"/>
              </a:srgbClr>
            </a:outerShdw>
          </a:effectLst>
        </p:spPr>
      </p:sp>
      <p:sp>
        <p:nvSpPr>
          <p:cNvPr id="9" name="Text 7"/>
          <p:cNvSpPr/>
          <p:nvPr/>
        </p:nvSpPr>
        <p:spPr>
          <a:xfrm>
            <a:off x="2057400" y="1298448"/>
            <a:ext cx="1078992" cy="566928"/>
          </a:xfrm>
          <a:prstGeom prst="rect">
            <a:avLst/>
          </a:prstGeom>
          <a:noFill/>
          <a:ln/>
        </p:spPr>
        <p:txBody>
          <a:bodyPr wrap="square" lIns="254" tIns="254" rIns="254" bIns="254" rtlCol="0" anchor="ctr"/>
          <a:lstStyle/>
          <a:p>
            <a:pPr algn="ctr" indent="0" marL="0">
              <a:buNone/>
            </a:pPr>
            <a:r>
              <a:rPr lang="en-US" sz="1050" dirty="0">
                <a:solidFill>
                  <a:srgbClr val="23303F"/>
                </a:solidFill>
                <a:latin typeface="Hiragino Sans" pitchFamily="34" charset="0"/>
                <a:ea typeface="Hiragino Sans" pitchFamily="34" charset="-122"/>
                <a:cs typeface="Hiragino Sans" pitchFamily="34" charset="-120"/>
              </a:rPr>
              <a:t>メーカー</a:t>
            </a:r>
            <a:endParaRPr lang="en-US" sz="1050" dirty="0"/>
          </a:p>
        </p:txBody>
      </p:sp>
      <p:sp>
        <p:nvSpPr>
          <p:cNvPr id="10" name="Text 8"/>
          <p:cNvSpPr/>
          <p:nvPr/>
        </p:nvSpPr>
        <p:spPr>
          <a:xfrm>
            <a:off x="3154680" y="1298448"/>
            <a:ext cx="274320" cy="566928"/>
          </a:xfrm>
          <a:prstGeom prst="rect">
            <a:avLst/>
          </a:prstGeom>
          <a:noFill/>
          <a:ln/>
        </p:spPr>
        <p:txBody>
          <a:bodyPr wrap="square" lIns="0" tIns="0" rIns="0" bIns="0" rtlCol="0" anchor="ctr"/>
          <a:lstStyle/>
          <a:p>
            <a:pPr algn="ctr" indent="0" marL="0">
              <a:buNone/>
            </a:pPr>
            <a:r>
              <a:rPr lang="en-US" sz="1400" b="1" dirty="0">
                <a:solidFill>
                  <a:srgbClr val="9AA5B1"/>
                </a:solidFill>
                <a:latin typeface="Hiragino Sans" pitchFamily="34" charset="0"/>
                <a:ea typeface="Hiragino Sans" pitchFamily="34" charset="-122"/>
                <a:cs typeface="Hiragino Sans" pitchFamily="34" charset="-120"/>
              </a:rPr>
              <a:t>→</a:t>
            </a:r>
            <a:endParaRPr lang="en-US" sz="1400" dirty="0"/>
          </a:p>
        </p:txBody>
      </p:sp>
      <p:sp>
        <p:nvSpPr>
          <p:cNvPr id="11" name="Shape 9"/>
          <p:cNvSpPr/>
          <p:nvPr/>
        </p:nvSpPr>
        <p:spPr>
          <a:xfrm>
            <a:off x="3447288" y="1298448"/>
            <a:ext cx="1078992" cy="566928"/>
          </a:xfrm>
          <a:prstGeom prst="rect">
            <a:avLst/>
          </a:prstGeom>
          <a:solidFill>
            <a:srgbClr val="FFFFFF"/>
          </a:solidFill>
          <a:ln w="12700">
            <a:solidFill>
              <a:srgbClr val="E3DDD2"/>
            </a:solidFill>
            <a:prstDash val="solid"/>
          </a:ln>
          <a:effectLst>
            <a:outerShdw sx="100000" sy="100000" kx="0" ky="0" algn="bl" rotWithShape="0" blurRad="88900" dist="25400" dir="8100000">
              <a:srgbClr val="1B2A41">
                <a:alpha val="14000"/>
              </a:srgbClr>
            </a:outerShdw>
          </a:effectLst>
        </p:spPr>
      </p:sp>
      <p:sp>
        <p:nvSpPr>
          <p:cNvPr id="12" name="Text 10"/>
          <p:cNvSpPr/>
          <p:nvPr/>
        </p:nvSpPr>
        <p:spPr>
          <a:xfrm>
            <a:off x="3447288" y="1298448"/>
            <a:ext cx="1078992" cy="566928"/>
          </a:xfrm>
          <a:prstGeom prst="rect">
            <a:avLst/>
          </a:prstGeom>
          <a:noFill/>
          <a:ln/>
        </p:spPr>
        <p:txBody>
          <a:bodyPr wrap="square" lIns="254" tIns="254" rIns="254" bIns="254" rtlCol="0" anchor="ctr"/>
          <a:lstStyle/>
          <a:p>
            <a:pPr algn="ctr" indent="0" marL="0">
              <a:buNone/>
            </a:pPr>
            <a:r>
              <a:rPr lang="en-US" sz="1050" dirty="0">
                <a:solidFill>
                  <a:srgbClr val="23303F"/>
                </a:solidFill>
                <a:latin typeface="Hiragino Sans" pitchFamily="34" charset="0"/>
                <a:ea typeface="Hiragino Sans" pitchFamily="34" charset="-122"/>
                <a:cs typeface="Hiragino Sans" pitchFamily="34" charset="-120"/>
              </a:rPr>
              <a:t>卸業者</a:t>
            </a:r>
            <a:endParaRPr lang="en-US" sz="1050" dirty="0"/>
          </a:p>
        </p:txBody>
      </p:sp>
      <p:sp>
        <p:nvSpPr>
          <p:cNvPr id="13" name="Text 11"/>
          <p:cNvSpPr/>
          <p:nvPr/>
        </p:nvSpPr>
        <p:spPr>
          <a:xfrm>
            <a:off x="4544568" y="1298448"/>
            <a:ext cx="274320" cy="566928"/>
          </a:xfrm>
          <a:prstGeom prst="rect">
            <a:avLst/>
          </a:prstGeom>
          <a:noFill/>
          <a:ln/>
        </p:spPr>
        <p:txBody>
          <a:bodyPr wrap="square" lIns="0" tIns="0" rIns="0" bIns="0" rtlCol="0" anchor="ctr"/>
          <a:lstStyle/>
          <a:p>
            <a:pPr algn="ctr" indent="0" marL="0">
              <a:buNone/>
            </a:pPr>
            <a:r>
              <a:rPr lang="en-US" sz="1400" b="1" dirty="0">
                <a:solidFill>
                  <a:srgbClr val="9AA5B1"/>
                </a:solidFill>
                <a:latin typeface="Hiragino Sans" pitchFamily="34" charset="0"/>
                <a:ea typeface="Hiragino Sans" pitchFamily="34" charset="-122"/>
                <a:cs typeface="Hiragino Sans" pitchFamily="34" charset="-120"/>
              </a:rPr>
              <a:t>→</a:t>
            </a:r>
            <a:endParaRPr lang="en-US" sz="1400" dirty="0"/>
          </a:p>
        </p:txBody>
      </p:sp>
      <p:sp>
        <p:nvSpPr>
          <p:cNvPr id="14" name="Shape 12"/>
          <p:cNvSpPr/>
          <p:nvPr/>
        </p:nvSpPr>
        <p:spPr>
          <a:xfrm>
            <a:off x="4837176" y="1298448"/>
            <a:ext cx="1078992" cy="566928"/>
          </a:xfrm>
          <a:prstGeom prst="rect">
            <a:avLst/>
          </a:prstGeom>
          <a:solidFill>
            <a:srgbClr val="FFFFFF"/>
          </a:solidFill>
          <a:ln w="12700">
            <a:solidFill>
              <a:srgbClr val="E3DDD2"/>
            </a:solidFill>
            <a:prstDash val="solid"/>
          </a:ln>
          <a:effectLst>
            <a:outerShdw sx="100000" sy="100000" kx="0" ky="0" algn="bl" rotWithShape="0" blurRad="88900" dist="25400" dir="8100000">
              <a:srgbClr val="1B2A41">
                <a:alpha val="14000"/>
              </a:srgbClr>
            </a:outerShdw>
          </a:effectLst>
        </p:spPr>
      </p:sp>
      <p:sp>
        <p:nvSpPr>
          <p:cNvPr id="15" name="Text 13"/>
          <p:cNvSpPr/>
          <p:nvPr/>
        </p:nvSpPr>
        <p:spPr>
          <a:xfrm>
            <a:off x="4837176" y="1298448"/>
            <a:ext cx="1078992" cy="566928"/>
          </a:xfrm>
          <a:prstGeom prst="rect">
            <a:avLst/>
          </a:prstGeom>
          <a:noFill/>
          <a:ln/>
        </p:spPr>
        <p:txBody>
          <a:bodyPr wrap="square" lIns="254" tIns="254" rIns="254" bIns="254" rtlCol="0" anchor="ctr"/>
          <a:lstStyle/>
          <a:p>
            <a:pPr algn="ctr" indent="0" marL="0">
              <a:buNone/>
            </a:pPr>
            <a:r>
              <a:rPr lang="en-US" sz="1050" dirty="0">
                <a:solidFill>
                  <a:srgbClr val="23303F"/>
                </a:solidFill>
                <a:latin typeface="Hiragino Sans" pitchFamily="34" charset="0"/>
                <a:ea typeface="Hiragino Sans" pitchFamily="34" charset="-122"/>
                <a:cs typeface="Hiragino Sans" pitchFamily="34" charset="-120"/>
              </a:rPr>
              <a:t>小売業者</a:t>
            </a:r>
            <a:endParaRPr lang="en-US" sz="1050" dirty="0"/>
          </a:p>
        </p:txBody>
      </p:sp>
      <p:sp>
        <p:nvSpPr>
          <p:cNvPr id="16" name="Text 14"/>
          <p:cNvSpPr/>
          <p:nvPr/>
        </p:nvSpPr>
        <p:spPr>
          <a:xfrm>
            <a:off x="5934456" y="1298448"/>
            <a:ext cx="274320" cy="566928"/>
          </a:xfrm>
          <a:prstGeom prst="rect">
            <a:avLst/>
          </a:prstGeom>
          <a:noFill/>
          <a:ln/>
        </p:spPr>
        <p:txBody>
          <a:bodyPr wrap="square" lIns="0" tIns="0" rIns="0" bIns="0" rtlCol="0" anchor="ctr"/>
          <a:lstStyle/>
          <a:p>
            <a:pPr algn="ctr" indent="0" marL="0">
              <a:buNone/>
            </a:pPr>
            <a:r>
              <a:rPr lang="en-US" sz="1400" b="1" dirty="0">
                <a:solidFill>
                  <a:srgbClr val="9AA5B1"/>
                </a:solidFill>
                <a:latin typeface="Hiragino Sans" pitchFamily="34" charset="0"/>
                <a:ea typeface="Hiragino Sans" pitchFamily="34" charset="-122"/>
                <a:cs typeface="Hiragino Sans" pitchFamily="34" charset="-120"/>
              </a:rPr>
              <a:t>→</a:t>
            </a:r>
            <a:endParaRPr lang="en-US" sz="1400" dirty="0"/>
          </a:p>
        </p:txBody>
      </p:sp>
      <p:sp>
        <p:nvSpPr>
          <p:cNvPr id="17" name="Shape 15"/>
          <p:cNvSpPr/>
          <p:nvPr/>
        </p:nvSpPr>
        <p:spPr>
          <a:xfrm>
            <a:off x="6227064" y="1298448"/>
            <a:ext cx="1078992" cy="566928"/>
          </a:xfrm>
          <a:prstGeom prst="rect">
            <a:avLst/>
          </a:prstGeom>
          <a:solidFill>
            <a:srgbClr val="FFFFFF"/>
          </a:solidFill>
          <a:ln w="12700">
            <a:solidFill>
              <a:srgbClr val="E3DDD2"/>
            </a:solidFill>
            <a:prstDash val="solid"/>
          </a:ln>
          <a:effectLst>
            <a:outerShdw sx="100000" sy="100000" kx="0" ky="0" algn="bl" rotWithShape="0" blurRad="88900" dist="25400" dir="8100000">
              <a:srgbClr val="1B2A41">
                <a:alpha val="14000"/>
              </a:srgbClr>
            </a:outerShdw>
          </a:effectLst>
        </p:spPr>
      </p:sp>
      <p:sp>
        <p:nvSpPr>
          <p:cNvPr id="18" name="Text 16"/>
          <p:cNvSpPr/>
          <p:nvPr/>
        </p:nvSpPr>
        <p:spPr>
          <a:xfrm>
            <a:off x="6227064" y="1298448"/>
            <a:ext cx="1078992" cy="566928"/>
          </a:xfrm>
          <a:prstGeom prst="rect">
            <a:avLst/>
          </a:prstGeom>
          <a:noFill/>
          <a:ln/>
        </p:spPr>
        <p:txBody>
          <a:bodyPr wrap="square" lIns="254" tIns="254" rIns="254" bIns="254" rtlCol="0" anchor="ctr"/>
          <a:lstStyle/>
          <a:p>
            <a:pPr algn="ctr" indent="0" marL="0">
              <a:buNone/>
            </a:pPr>
            <a:r>
              <a:rPr lang="en-US" sz="1050" dirty="0">
                <a:solidFill>
                  <a:srgbClr val="23303F"/>
                </a:solidFill>
                <a:latin typeface="Hiragino Sans" pitchFamily="34" charset="0"/>
                <a:ea typeface="Hiragino Sans" pitchFamily="34" charset="-122"/>
                <a:cs typeface="Hiragino Sans" pitchFamily="34" charset="-120"/>
              </a:rPr>
              <a:t>消費者</a:t>
            </a:r>
            <a:endParaRPr lang="en-US" sz="1050" dirty="0"/>
          </a:p>
        </p:txBody>
      </p:sp>
      <p:sp>
        <p:nvSpPr>
          <p:cNvPr id="19" name="Text 17"/>
          <p:cNvSpPr/>
          <p:nvPr/>
        </p:nvSpPr>
        <p:spPr>
          <a:xfrm>
            <a:off x="2057400" y="1883664"/>
            <a:ext cx="5943600" cy="237744"/>
          </a:xfrm>
          <a:prstGeom prst="rect">
            <a:avLst/>
          </a:prstGeom>
          <a:noFill/>
          <a:ln/>
        </p:spPr>
        <p:txBody>
          <a:bodyPr wrap="square" lIns="0" tIns="0" rIns="0" bIns="0" rtlCol="0" anchor="ctr"/>
          <a:lstStyle/>
          <a:p>
            <a:pPr indent="0" marL="0">
              <a:buNone/>
            </a:pPr>
            <a:r>
              <a:rPr lang="en-US" sz="950" i="1" dirty="0">
                <a:solidFill>
                  <a:srgbClr val="6B7280"/>
                </a:solidFill>
                <a:latin typeface="Hiragino Sans" pitchFamily="34" charset="0"/>
                <a:ea typeface="Hiragino Sans" pitchFamily="34" charset="-122"/>
                <a:cs typeface="Hiragino Sans" pitchFamily="34" charset="-120"/>
              </a:rPr>
              <a:t>中間マージン2段</a:t>
            </a:r>
            <a:endParaRPr lang="en-US" sz="950" dirty="0"/>
          </a:p>
        </p:txBody>
      </p:sp>
      <p:sp>
        <p:nvSpPr>
          <p:cNvPr id="20" name="Text 18"/>
          <p:cNvSpPr/>
          <p:nvPr/>
        </p:nvSpPr>
        <p:spPr>
          <a:xfrm>
            <a:off x="457200" y="2350008"/>
            <a:ext cx="1481328" cy="365760"/>
          </a:xfrm>
          <a:prstGeom prst="rect">
            <a:avLst/>
          </a:prstGeom>
          <a:noFill/>
          <a:ln/>
        </p:spPr>
        <p:txBody>
          <a:bodyPr wrap="square" lIns="0" tIns="0" rIns="0" bIns="0" rtlCol="0" anchor="ctr"/>
          <a:lstStyle/>
          <a:p>
            <a:pPr indent="0" marL="0">
              <a:buNone/>
            </a:pPr>
            <a:r>
              <a:rPr lang="en-US" sz="1250" b="1" dirty="0">
                <a:solidFill>
                  <a:srgbClr val="1B2A41"/>
                </a:solidFill>
                <a:latin typeface="Hiragino Sans" pitchFamily="34" charset="0"/>
                <a:ea typeface="Hiragino Sans" pitchFamily="34" charset="-122"/>
                <a:cs typeface="Hiragino Sans" pitchFamily="34" charset="-120"/>
              </a:rPr>
              <a:t>せどり/転売</a:t>
            </a:r>
            <a:endParaRPr lang="en-US" sz="1250" dirty="0"/>
          </a:p>
        </p:txBody>
      </p:sp>
      <p:sp>
        <p:nvSpPr>
          <p:cNvPr id="21" name="Shape 19"/>
          <p:cNvSpPr/>
          <p:nvPr/>
        </p:nvSpPr>
        <p:spPr>
          <a:xfrm>
            <a:off x="2057400" y="2231136"/>
            <a:ext cx="1078992" cy="566928"/>
          </a:xfrm>
          <a:prstGeom prst="rect">
            <a:avLst/>
          </a:prstGeom>
          <a:solidFill>
            <a:srgbClr val="FFFFFF"/>
          </a:solidFill>
          <a:ln w="12700">
            <a:solidFill>
              <a:srgbClr val="E3DDD2"/>
            </a:solidFill>
            <a:prstDash val="solid"/>
          </a:ln>
          <a:effectLst>
            <a:outerShdw sx="100000" sy="100000" kx="0" ky="0" algn="bl" rotWithShape="0" blurRad="88900" dist="25400" dir="8100000">
              <a:srgbClr val="1B2A41">
                <a:alpha val="14000"/>
              </a:srgbClr>
            </a:outerShdw>
          </a:effectLst>
        </p:spPr>
      </p:sp>
      <p:sp>
        <p:nvSpPr>
          <p:cNvPr id="22" name="Text 20"/>
          <p:cNvSpPr/>
          <p:nvPr/>
        </p:nvSpPr>
        <p:spPr>
          <a:xfrm>
            <a:off x="2057400" y="2231136"/>
            <a:ext cx="1078992" cy="566928"/>
          </a:xfrm>
          <a:prstGeom prst="rect">
            <a:avLst/>
          </a:prstGeom>
          <a:noFill/>
          <a:ln/>
        </p:spPr>
        <p:txBody>
          <a:bodyPr wrap="square" lIns="254" tIns="254" rIns="254" bIns="254" rtlCol="0" anchor="ctr"/>
          <a:lstStyle/>
          <a:p>
            <a:pPr algn="ctr" indent="0" marL="0">
              <a:buNone/>
            </a:pPr>
            <a:r>
              <a:rPr lang="en-US" sz="1050" dirty="0">
                <a:solidFill>
                  <a:srgbClr val="23303F"/>
                </a:solidFill>
                <a:latin typeface="Hiragino Sans" pitchFamily="34" charset="0"/>
                <a:ea typeface="Hiragino Sans" pitchFamily="34" charset="-122"/>
                <a:cs typeface="Hiragino Sans" pitchFamily="34" charset="-120"/>
              </a:rPr>
              <a:t>メーカー</a:t>
            </a:r>
            <a:endParaRPr lang="en-US" sz="1050" dirty="0"/>
          </a:p>
        </p:txBody>
      </p:sp>
      <p:sp>
        <p:nvSpPr>
          <p:cNvPr id="23" name="Text 21"/>
          <p:cNvSpPr/>
          <p:nvPr/>
        </p:nvSpPr>
        <p:spPr>
          <a:xfrm>
            <a:off x="3154680" y="2231136"/>
            <a:ext cx="274320" cy="566928"/>
          </a:xfrm>
          <a:prstGeom prst="rect">
            <a:avLst/>
          </a:prstGeom>
          <a:noFill/>
          <a:ln/>
        </p:spPr>
        <p:txBody>
          <a:bodyPr wrap="square" lIns="0" tIns="0" rIns="0" bIns="0" rtlCol="0" anchor="ctr"/>
          <a:lstStyle/>
          <a:p>
            <a:pPr algn="ctr" indent="0" marL="0">
              <a:buNone/>
            </a:pPr>
            <a:r>
              <a:rPr lang="en-US" sz="1400" b="1" dirty="0">
                <a:solidFill>
                  <a:srgbClr val="9AA5B1"/>
                </a:solidFill>
                <a:latin typeface="Hiragino Sans" pitchFamily="34" charset="0"/>
                <a:ea typeface="Hiragino Sans" pitchFamily="34" charset="-122"/>
                <a:cs typeface="Hiragino Sans" pitchFamily="34" charset="-120"/>
              </a:rPr>
              <a:t>→</a:t>
            </a:r>
            <a:endParaRPr lang="en-US" sz="1400" dirty="0"/>
          </a:p>
        </p:txBody>
      </p:sp>
      <p:sp>
        <p:nvSpPr>
          <p:cNvPr id="24" name="Shape 22"/>
          <p:cNvSpPr/>
          <p:nvPr/>
        </p:nvSpPr>
        <p:spPr>
          <a:xfrm>
            <a:off x="3447288" y="2231136"/>
            <a:ext cx="1078992" cy="566928"/>
          </a:xfrm>
          <a:prstGeom prst="rect">
            <a:avLst/>
          </a:prstGeom>
          <a:solidFill>
            <a:srgbClr val="FFFFFF"/>
          </a:solidFill>
          <a:ln w="12700">
            <a:solidFill>
              <a:srgbClr val="E3DDD2"/>
            </a:solidFill>
            <a:prstDash val="solid"/>
          </a:ln>
          <a:effectLst>
            <a:outerShdw sx="100000" sy="100000" kx="0" ky="0" algn="bl" rotWithShape="0" blurRad="88900" dist="25400" dir="8100000">
              <a:srgbClr val="1B2A41">
                <a:alpha val="14000"/>
              </a:srgbClr>
            </a:outerShdw>
          </a:effectLst>
        </p:spPr>
      </p:sp>
      <p:sp>
        <p:nvSpPr>
          <p:cNvPr id="25" name="Text 23"/>
          <p:cNvSpPr/>
          <p:nvPr/>
        </p:nvSpPr>
        <p:spPr>
          <a:xfrm>
            <a:off x="3447288" y="2231136"/>
            <a:ext cx="1078992" cy="566928"/>
          </a:xfrm>
          <a:prstGeom prst="rect">
            <a:avLst/>
          </a:prstGeom>
          <a:noFill/>
          <a:ln/>
        </p:spPr>
        <p:txBody>
          <a:bodyPr wrap="square" lIns="254" tIns="254" rIns="254" bIns="254" rtlCol="0" anchor="ctr"/>
          <a:lstStyle/>
          <a:p>
            <a:pPr algn="ctr" indent="0" marL="0">
              <a:buNone/>
            </a:pPr>
            <a:r>
              <a:rPr lang="en-US" sz="1050" dirty="0">
                <a:solidFill>
                  <a:srgbClr val="23303F"/>
                </a:solidFill>
                <a:latin typeface="Hiragino Sans" pitchFamily="34" charset="0"/>
                <a:ea typeface="Hiragino Sans" pitchFamily="34" charset="-122"/>
                <a:cs typeface="Hiragino Sans" pitchFamily="34" charset="-120"/>
              </a:rPr>
              <a:t>卸</a:t>
            </a:r>
            <a:endParaRPr lang="en-US" sz="1050" dirty="0"/>
          </a:p>
        </p:txBody>
      </p:sp>
      <p:sp>
        <p:nvSpPr>
          <p:cNvPr id="26" name="Text 24"/>
          <p:cNvSpPr/>
          <p:nvPr/>
        </p:nvSpPr>
        <p:spPr>
          <a:xfrm>
            <a:off x="4544568" y="2231136"/>
            <a:ext cx="274320" cy="566928"/>
          </a:xfrm>
          <a:prstGeom prst="rect">
            <a:avLst/>
          </a:prstGeom>
          <a:noFill/>
          <a:ln/>
        </p:spPr>
        <p:txBody>
          <a:bodyPr wrap="square" lIns="0" tIns="0" rIns="0" bIns="0" rtlCol="0" anchor="ctr"/>
          <a:lstStyle/>
          <a:p>
            <a:pPr algn="ctr" indent="0" marL="0">
              <a:buNone/>
            </a:pPr>
            <a:r>
              <a:rPr lang="en-US" sz="1400" b="1" dirty="0">
                <a:solidFill>
                  <a:srgbClr val="9AA5B1"/>
                </a:solidFill>
                <a:latin typeface="Hiragino Sans" pitchFamily="34" charset="0"/>
                <a:ea typeface="Hiragino Sans" pitchFamily="34" charset="-122"/>
                <a:cs typeface="Hiragino Sans" pitchFamily="34" charset="-120"/>
              </a:rPr>
              <a:t>→</a:t>
            </a:r>
            <a:endParaRPr lang="en-US" sz="1400" dirty="0"/>
          </a:p>
        </p:txBody>
      </p:sp>
      <p:sp>
        <p:nvSpPr>
          <p:cNvPr id="27" name="Shape 25"/>
          <p:cNvSpPr/>
          <p:nvPr/>
        </p:nvSpPr>
        <p:spPr>
          <a:xfrm>
            <a:off x="4837176" y="2231136"/>
            <a:ext cx="1078992" cy="566928"/>
          </a:xfrm>
          <a:prstGeom prst="rect">
            <a:avLst/>
          </a:prstGeom>
          <a:solidFill>
            <a:srgbClr val="FFFFFF"/>
          </a:solidFill>
          <a:ln w="12700">
            <a:solidFill>
              <a:srgbClr val="E3DDD2"/>
            </a:solidFill>
            <a:prstDash val="solid"/>
          </a:ln>
          <a:effectLst>
            <a:outerShdw sx="100000" sy="100000" kx="0" ky="0" algn="bl" rotWithShape="0" blurRad="88900" dist="25400" dir="8100000">
              <a:srgbClr val="1B2A41">
                <a:alpha val="14000"/>
              </a:srgbClr>
            </a:outerShdw>
          </a:effectLst>
        </p:spPr>
      </p:sp>
      <p:sp>
        <p:nvSpPr>
          <p:cNvPr id="28" name="Text 26"/>
          <p:cNvSpPr/>
          <p:nvPr/>
        </p:nvSpPr>
        <p:spPr>
          <a:xfrm>
            <a:off x="4837176" y="2231136"/>
            <a:ext cx="1078992" cy="566928"/>
          </a:xfrm>
          <a:prstGeom prst="rect">
            <a:avLst/>
          </a:prstGeom>
          <a:noFill/>
          <a:ln/>
        </p:spPr>
        <p:txBody>
          <a:bodyPr wrap="square" lIns="254" tIns="254" rIns="254" bIns="254" rtlCol="0" anchor="ctr"/>
          <a:lstStyle/>
          <a:p>
            <a:pPr algn="ctr" indent="0" marL="0">
              <a:buNone/>
            </a:pPr>
            <a:r>
              <a:rPr lang="en-US" sz="1050" dirty="0">
                <a:solidFill>
                  <a:srgbClr val="23303F"/>
                </a:solidFill>
                <a:latin typeface="Hiragino Sans" pitchFamily="34" charset="0"/>
                <a:ea typeface="Hiragino Sans" pitchFamily="34" charset="-122"/>
                <a:cs typeface="Hiragino Sans" pitchFamily="34" charset="-120"/>
              </a:rPr>
              <a:t>小売</a:t>
            </a:r>
            <a:endParaRPr lang="en-US" sz="1050" dirty="0"/>
          </a:p>
        </p:txBody>
      </p:sp>
      <p:sp>
        <p:nvSpPr>
          <p:cNvPr id="29" name="Text 27"/>
          <p:cNvSpPr/>
          <p:nvPr/>
        </p:nvSpPr>
        <p:spPr>
          <a:xfrm>
            <a:off x="5934456" y="2231136"/>
            <a:ext cx="274320" cy="566928"/>
          </a:xfrm>
          <a:prstGeom prst="rect">
            <a:avLst/>
          </a:prstGeom>
          <a:noFill/>
          <a:ln/>
        </p:spPr>
        <p:txBody>
          <a:bodyPr wrap="square" lIns="0" tIns="0" rIns="0" bIns="0" rtlCol="0" anchor="ctr"/>
          <a:lstStyle/>
          <a:p>
            <a:pPr algn="ctr" indent="0" marL="0">
              <a:buNone/>
            </a:pPr>
            <a:r>
              <a:rPr lang="en-US" sz="1400" b="1" dirty="0">
                <a:solidFill>
                  <a:srgbClr val="9AA5B1"/>
                </a:solidFill>
                <a:latin typeface="Hiragino Sans" pitchFamily="34" charset="0"/>
                <a:ea typeface="Hiragino Sans" pitchFamily="34" charset="-122"/>
                <a:cs typeface="Hiragino Sans" pitchFamily="34" charset="-120"/>
              </a:rPr>
              <a:t>→</a:t>
            </a:r>
            <a:endParaRPr lang="en-US" sz="1400" dirty="0"/>
          </a:p>
        </p:txBody>
      </p:sp>
      <p:sp>
        <p:nvSpPr>
          <p:cNvPr id="30" name="Shape 28"/>
          <p:cNvSpPr/>
          <p:nvPr/>
        </p:nvSpPr>
        <p:spPr>
          <a:xfrm>
            <a:off x="6227064" y="2231136"/>
            <a:ext cx="1078992" cy="566928"/>
          </a:xfrm>
          <a:prstGeom prst="rect">
            <a:avLst/>
          </a:prstGeom>
          <a:solidFill>
            <a:srgbClr val="2B3F5C"/>
          </a:solidFill>
          <a:ln w="12700">
            <a:solidFill>
              <a:srgbClr val="2B3F5C"/>
            </a:solidFill>
            <a:prstDash val="solid"/>
          </a:ln>
          <a:effectLst>
            <a:outerShdw sx="100000" sy="100000" kx="0" ky="0" algn="bl" rotWithShape="0" blurRad="88900" dist="25400" dir="8100000">
              <a:srgbClr val="1B2A41">
                <a:alpha val="14000"/>
              </a:srgbClr>
            </a:outerShdw>
          </a:effectLst>
        </p:spPr>
      </p:sp>
      <p:sp>
        <p:nvSpPr>
          <p:cNvPr id="31" name="Text 29"/>
          <p:cNvSpPr/>
          <p:nvPr/>
        </p:nvSpPr>
        <p:spPr>
          <a:xfrm>
            <a:off x="6227064" y="2231136"/>
            <a:ext cx="1078992" cy="566928"/>
          </a:xfrm>
          <a:prstGeom prst="rect">
            <a:avLst/>
          </a:prstGeom>
          <a:noFill/>
          <a:ln/>
        </p:spPr>
        <p:txBody>
          <a:bodyPr wrap="square" lIns="254" tIns="254" rIns="254" bIns="254" rtlCol="0" anchor="ctr"/>
          <a:lstStyle/>
          <a:p>
            <a:pPr algn="ctr" indent="0" marL="0">
              <a:buNone/>
            </a:pPr>
            <a:r>
              <a:rPr lang="en-US" sz="1050" b="1" dirty="0">
                <a:solidFill>
                  <a:srgbClr val="FFFFFF"/>
                </a:solidFill>
                <a:latin typeface="Hiragino Sans" pitchFamily="34" charset="0"/>
                <a:ea typeface="Hiragino Sans" pitchFamily="34" charset="-122"/>
                <a:cs typeface="Hiragino Sans" pitchFamily="34" charset="-120"/>
              </a:rPr>
              <a:t>転売業者(Amazon)</a:t>
            </a:r>
            <a:endParaRPr lang="en-US" sz="1050" dirty="0"/>
          </a:p>
        </p:txBody>
      </p:sp>
      <p:sp>
        <p:nvSpPr>
          <p:cNvPr id="32" name="Text 30"/>
          <p:cNvSpPr/>
          <p:nvPr/>
        </p:nvSpPr>
        <p:spPr>
          <a:xfrm>
            <a:off x="7324344" y="2231136"/>
            <a:ext cx="274320" cy="566928"/>
          </a:xfrm>
          <a:prstGeom prst="rect">
            <a:avLst/>
          </a:prstGeom>
          <a:noFill/>
          <a:ln/>
        </p:spPr>
        <p:txBody>
          <a:bodyPr wrap="square" lIns="0" tIns="0" rIns="0" bIns="0" rtlCol="0" anchor="ctr"/>
          <a:lstStyle/>
          <a:p>
            <a:pPr algn="ctr" indent="0" marL="0">
              <a:buNone/>
            </a:pPr>
            <a:r>
              <a:rPr lang="en-US" sz="1400" b="1" dirty="0">
                <a:solidFill>
                  <a:srgbClr val="9AA5B1"/>
                </a:solidFill>
                <a:latin typeface="Hiragino Sans" pitchFamily="34" charset="0"/>
                <a:ea typeface="Hiragino Sans" pitchFamily="34" charset="-122"/>
                <a:cs typeface="Hiragino Sans" pitchFamily="34" charset="-120"/>
              </a:rPr>
              <a:t>→</a:t>
            </a:r>
            <a:endParaRPr lang="en-US" sz="1400" dirty="0"/>
          </a:p>
        </p:txBody>
      </p:sp>
      <p:sp>
        <p:nvSpPr>
          <p:cNvPr id="33" name="Shape 31"/>
          <p:cNvSpPr/>
          <p:nvPr/>
        </p:nvSpPr>
        <p:spPr>
          <a:xfrm>
            <a:off x="7616952" y="2231136"/>
            <a:ext cx="1078992" cy="566928"/>
          </a:xfrm>
          <a:prstGeom prst="rect">
            <a:avLst/>
          </a:prstGeom>
          <a:solidFill>
            <a:srgbClr val="FFFFFF"/>
          </a:solidFill>
          <a:ln w="12700">
            <a:solidFill>
              <a:srgbClr val="E3DDD2"/>
            </a:solidFill>
            <a:prstDash val="solid"/>
          </a:ln>
          <a:effectLst>
            <a:outerShdw sx="100000" sy="100000" kx="0" ky="0" algn="bl" rotWithShape="0" blurRad="88900" dist="25400" dir="8100000">
              <a:srgbClr val="1B2A41">
                <a:alpha val="14000"/>
              </a:srgbClr>
            </a:outerShdw>
          </a:effectLst>
        </p:spPr>
      </p:sp>
      <p:sp>
        <p:nvSpPr>
          <p:cNvPr id="34" name="Text 32"/>
          <p:cNvSpPr/>
          <p:nvPr/>
        </p:nvSpPr>
        <p:spPr>
          <a:xfrm>
            <a:off x="7616952" y="2231136"/>
            <a:ext cx="1078992" cy="566928"/>
          </a:xfrm>
          <a:prstGeom prst="rect">
            <a:avLst/>
          </a:prstGeom>
          <a:noFill/>
          <a:ln/>
        </p:spPr>
        <p:txBody>
          <a:bodyPr wrap="square" lIns="254" tIns="254" rIns="254" bIns="254" rtlCol="0" anchor="ctr"/>
          <a:lstStyle/>
          <a:p>
            <a:pPr algn="ctr" indent="0" marL="0">
              <a:buNone/>
            </a:pPr>
            <a:r>
              <a:rPr lang="en-US" sz="1050" dirty="0">
                <a:solidFill>
                  <a:srgbClr val="23303F"/>
                </a:solidFill>
                <a:latin typeface="Hiragino Sans" pitchFamily="34" charset="0"/>
                <a:ea typeface="Hiragino Sans" pitchFamily="34" charset="-122"/>
                <a:cs typeface="Hiragino Sans" pitchFamily="34" charset="-120"/>
              </a:rPr>
              <a:t>消費者</a:t>
            </a:r>
            <a:endParaRPr lang="en-US" sz="1050" dirty="0"/>
          </a:p>
        </p:txBody>
      </p:sp>
      <p:sp>
        <p:nvSpPr>
          <p:cNvPr id="35" name="Text 33"/>
          <p:cNvSpPr/>
          <p:nvPr/>
        </p:nvSpPr>
        <p:spPr>
          <a:xfrm>
            <a:off x="2057400" y="2816352"/>
            <a:ext cx="5943600" cy="237744"/>
          </a:xfrm>
          <a:prstGeom prst="rect">
            <a:avLst/>
          </a:prstGeom>
          <a:noFill/>
          <a:ln/>
        </p:spPr>
        <p:txBody>
          <a:bodyPr wrap="square" lIns="0" tIns="0" rIns="0" bIns="0" rtlCol="0" anchor="ctr"/>
          <a:lstStyle/>
          <a:p>
            <a:pPr indent="0" marL="0">
              <a:buNone/>
            </a:pPr>
            <a:r>
              <a:rPr lang="en-US" sz="950" i="1" dirty="0">
                <a:solidFill>
                  <a:srgbClr val="6B7280"/>
                </a:solidFill>
                <a:latin typeface="Hiragino Sans" pitchFamily="34" charset="0"/>
                <a:ea typeface="Hiragino Sans" pitchFamily="34" charset="-122"/>
                <a:cs typeface="Hiragino Sans" pitchFamily="34" charset="-120"/>
              </a:rPr>
              <a:t>小売→小売の二重流通</a:t>
            </a:r>
            <a:endParaRPr lang="en-US" sz="950" dirty="0"/>
          </a:p>
        </p:txBody>
      </p:sp>
      <p:sp>
        <p:nvSpPr>
          <p:cNvPr id="36" name="Text 34"/>
          <p:cNvSpPr/>
          <p:nvPr/>
        </p:nvSpPr>
        <p:spPr>
          <a:xfrm>
            <a:off x="457200" y="3282696"/>
            <a:ext cx="1481328" cy="365760"/>
          </a:xfrm>
          <a:prstGeom prst="rect">
            <a:avLst/>
          </a:prstGeom>
          <a:noFill/>
          <a:ln/>
        </p:spPr>
        <p:txBody>
          <a:bodyPr wrap="square" lIns="0" tIns="0" rIns="0" bIns="0" rtlCol="0" anchor="ctr"/>
          <a:lstStyle/>
          <a:p>
            <a:pPr indent="0" marL="0">
              <a:buNone/>
            </a:pPr>
            <a:r>
              <a:rPr lang="en-US" sz="1250" b="1" dirty="0">
                <a:solidFill>
                  <a:srgbClr val="D98E04"/>
                </a:solidFill>
                <a:latin typeface="Hiragino Sans" pitchFamily="34" charset="0"/>
                <a:ea typeface="Hiragino Sans" pitchFamily="34" charset="-122"/>
                <a:cs typeface="Hiragino Sans" pitchFamily="34" charset="-120"/>
              </a:rPr>
              <a:t>メーカー仕入れ</a:t>
            </a:r>
            <a:endParaRPr lang="en-US" sz="1250" dirty="0"/>
          </a:p>
        </p:txBody>
      </p:sp>
      <p:sp>
        <p:nvSpPr>
          <p:cNvPr id="37" name="Shape 35"/>
          <p:cNvSpPr/>
          <p:nvPr/>
        </p:nvSpPr>
        <p:spPr>
          <a:xfrm>
            <a:off x="2057400" y="3163824"/>
            <a:ext cx="1691640" cy="566928"/>
          </a:xfrm>
          <a:prstGeom prst="rect">
            <a:avLst/>
          </a:prstGeom>
          <a:solidFill>
            <a:srgbClr val="FFFFFF"/>
          </a:solidFill>
          <a:ln w="12700">
            <a:solidFill>
              <a:srgbClr val="E3DDD2"/>
            </a:solidFill>
            <a:prstDash val="solid"/>
          </a:ln>
          <a:effectLst>
            <a:outerShdw sx="100000" sy="100000" kx="0" ky="0" algn="bl" rotWithShape="0" blurRad="88900" dist="25400" dir="8100000">
              <a:srgbClr val="1B2A41">
                <a:alpha val="14000"/>
              </a:srgbClr>
            </a:outerShdw>
          </a:effectLst>
        </p:spPr>
      </p:sp>
      <p:sp>
        <p:nvSpPr>
          <p:cNvPr id="38" name="Text 36"/>
          <p:cNvSpPr/>
          <p:nvPr/>
        </p:nvSpPr>
        <p:spPr>
          <a:xfrm>
            <a:off x="2057400" y="3163824"/>
            <a:ext cx="1691640" cy="566928"/>
          </a:xfrm>
          <a:prstGeom prst="rect">
            <a:avLst/>
          </a:prstGeom>
          <a:noFill/>
          <a:ln/>
        </p:spPr>
        <p:txBody>
          <a:bodyPr wrap="square" lIns="254" tIns="254" rIns="254" bIns="254" rtlCol="0" anchor="ctr"/>
          <a:lstStyle/>
          <a:p>
            <a:pPr algn="ctr" indent="0" marL="0">
              <a:buNone/>
            </a:pPr>
            <a:r>
              <a:rPr lang="en-US" sz="1050" dirty="0">
                <a:solidFill>
                  <a:srgbClr val="23303F"/>
                </a:solidFill>
                <a:latin typeface="Hiragino Sans" pitchFamily="34" charset="0"/>
                <a:ea typeface="Hiragino Sans" pitchFamily="34" charset="-122"/>
                <a:cs typeface="Hiragino Sans" pitchFamily="34" charset="-120"/>
              </a:rPr>
              <a:t>メーカー</a:t>
            </a:r>
            <a:endParaRPr lang="en-US" sz="1050" dirty="0"/>
          </a:p>
        </p:txBody>
      </p:sp>
      <p:sp>
        <p:nvSpPr>
          <p:cNvPr id="39" name="Text 37"/>
          <p:cNvSpPr/>
          <p:nvPr/>
        </p:nvSpPr>
        <p:spPr>
          <a:xfrm>
            <a:off x="3767328" y="3163824"/>
            <a:ext cx="274320" cy="566928"/>
          </a:xfrm>
          <a:prstGeom prst="rect">
            <a:avLst/>
          </a:prstGeom>
          <a:noFill/>
          <a:ln/>
        </p:spPr>
        <p:txBody>
          <a:bodyPr wrap="square" lIns="0" tIns="0" rIns="0" bIns="0" rtlCol="0" anchor="ctr"/>
          <a:lstStyle/>
          <a:p>
            <a:pPr algn="ctr" indent="0" marL="0">
              <a:buNone/>
            </a:pPr>
            <a:r>
              <a:rPr lang="en-US" sz="1400" b="1" dirty="0">
                <a:solidFill>
                  <a:srgbClr val="D98E04"/>
                </a:solidFill>
                <a:latin typeface="Hiragino Sans" pitchFamily="34" charset="0"/>
                <a:ea typeface="Hiragino Sans" pitchFamily="34" charset="-122"/>
                <a:cs typeface="Hiragino Sans" pitchFamily="34" charset="-120"/>
              </a:rPr>
              <a:t>→</a:t>
            </a:r>
            <a:endParaRPr lang="en-US" sz="1400" dirty="0"/>
          </a:p>
        </p:txBody>
      </p:sp>
      <p:sp>
        <p:nvSpPr>
          <p:cNvPr id="40" name="Shape 38"/>
          <p:cNvSpPr/>
          <p:nvPr/>
        </p:nvSpPr>
        <p:spPr>
          <a:xfrm>
            <a:off x="4059936" y="3163824"/>
            <a:ext cx="1691640" cy="566928"/>
          </a:xfrm>
          <a:prstGeom prst="rect">
            <a:avLst/>
          </a:prstGeom>
          <a:solidFill>
            <a:srgbClr val="D98E04"/>
          </a:solidFill>
          <a:ln w="12700">
            <a:solidFill>
              <a:srgbClr val="D98E04"/>
            </a:solidFill>
            <a:prstDash val="solid"/>
          </a:ln>
          <a:effectLst>
            <a:outerShdw sx="100000" sy="100000" kx="0" ky="0" algn="bl" rotWithShape="0" blurRad="88900" dist="25400" dir="8100000">
              <a:srgbClr val="1B2A41">
                <a:alpha val="14000"/>
              </a:srgbClr>
            </a:outerShdw>
          </a:effectLst>
        </p:spPr>
      </p:sp>
      <p:sp>
        <p:nvSpPr>
          <p:cNvPr id="41" name="Text 39"/>
          <p:cNvSpPr/>
          <p:nvPr/>
        </p:nvSpPr>
        <p:spPr>
          <a:xfrm>
            <a:off x="4059936" y="3163824"/>
            <a:ext cx="1691640" cy="566928"/>
          </a:xfrm>
          <a:prstGeom prst="rect">
            <a:avLst/>
          </a:prstGeom>
          <a:noFill/>
          <a:ln/>
        </p:spPr>
        <p:txBody>
          <a:bodyPr wrap="square" lIns="254" tIns="254" rIns="254" bIns="254" rtlCol="0" anchor="ctr"/>
          <a:lstStyle/>
          <a:p>
            <a:pPr algn="ctr" indent="0" marL="0">
              <a:buNone/>
            </a:pPr>
            <a:r>
              <a:rPr lang="en-US" sz="1150" b="1" dirty="0">
                <a:solidFill>
                  <a:srgbClr val="FFFFFF"/>
                </a:solidFill>
                <a:latin typeface="Hiragino Sans" pitchFamily="34" charset="0"/>
                <a:ea typeface="Hiragino Sans" pitchFamily="34" charset="-122"/>
                <a:cs typeface="Hiragino Sans" pitchFamily="34" charset="-120"/>
              </a:rPr>
              <a:t>自分（Amazon出品）</a:t>
            </a:r>
            <a:endParaRPr lang="en-US" sz="1150" dirty="0"/>
          </a:p>
        </p:txBody>
      </p:sp>
      <p:sp>
        <p:nvSpPr>
          <p:cNvPr id="42" name="Text 40"/>
          <p:cNvSpPr/>
          <p:nvPr/>
        </p:nvSpPr>
        <p:spPr>
          <a:xfrm>
            <a:off x="5769864" y="3163824"/>
            <a:ext cx="274320" cy="566928"/>
          </a:xfrm>
          <a:prstGeom prst="rect">
            <a:avLst/>
          </a:prstGeom>
          <a:noFill/>
          <a:ln/>
        </p:spPr>
        <p:txBody>
          <a:bodyPr wrap="square" lIns="0" tIns="0" rIns="0" bIns="0" rtlCol="0" anchor="ctr"/>
          <a:lstStyle/>
          <a:p>
            <a:pPr algn="ctr" indent="0" marL="0">
              <a:buNone/>
            </a:pPr>
            <a:r>
              <a:rPr lang="en-US" sz="1400" b="1" dirty="0">
                <a:solidFill>
                  <a:srgbClr val="D98E04"/>
                </a:solidFill>
                <a:latin typeface="Hiragino Sans" pitchFamily="34" charset="0"/>
                <a:ea typeface="Hiragino Sans" pitchFamily="34" charset="-122"/>
                <a:cs typeface="Hiragino Sans" pitchFamily="34" charset="-120"/>
              </a:rPr>
              <a:t>→</a:t>
            </a:r>
            <a:endParaRPr lang="en-US" sz="1400" dirty="0"/>
          </a:p>
        </p:txBody>
      </p:sp>
      <p:sp>
        <p:nvSpPr>
          <p:cNvPr id="43" name="Shape 41"/>
          <p:cNvSpPr/>
          <p:nvPr/>
        </p:nvSpPr>
        <p:spPr>
          <a:xfrm>
            <a:off x="6062472" y="3163824"/>
            <a:ext cx="1691640" cy="566928"/>
          </a:xfrm>
          <a:prstGeom prst="rect">
            <a:avLst/>
          </a:prstGeom>
          <a:solidFill>
            <a:srgbClr val="FFFFFF"/>
          </a:solidFill>
          <a:ln w="12700">
            <a:solidFill>
              <a:srgbClr val="E3DDD2"/>
            </a:solidFill>
            <a:prstDash val="solid"/>
          </a:ln>
          <a:effectLst>
            <a:outerShdw sx="100000" sy="100000" kx="0" ky="0" algn="bl" rotWithShape="0" blurRad="88900" dist="25400" dir="8100000">
              <a:srgbClr val="1B2A41">
                <a:alpha val="14000"/>
              </a:srgbClr>
            </a:outerShdw>
          </a:effectLst>
        </p:spPr>
      </p:sp>
      <p:sp>
        <p:nvSpPr>
          <p:cNvPr id="44" name="Text 42"/>
          <p:cNvSpPr/>
          <p:nvPr/>
        </p:nvSpPr>
        <p:spPr>
          <a:xfrm>
            <a:off x="6062472" y="3163824"/>
            <a:ext cx="1691640" cy="566928"/>
          </a:xfrm>
          <a:prstGeom prst="rect">
            <a:avLst/>
          </a:prstGeom>
          <a:noFill/>
          <a:ln/>
        </p:spPr>
        <p:txBody>
          <a:bodyPr wrap="square" lIns="254" tIns="254" rIns="254" bIns="254" rtlCol="0" anchor="ctr"/>
          <a:lstStyle/>
          <a:p>
            <a:pPr algn="ctr" indent="0" marL="0">
              <a:buNone/>
            </a:pPr>
            <a:r>
              <a:rPr lang="en-US" sz="1050" dirty="0">
                <a:solidFill>
                  <a:srgbClr val="23303F"/>
                </a:solidFill>
                <a:latin typeface="Hiragino Sans" pitchFamily="34" charset="0"/>
                <a:ea typeface="Hiragino Sans" pitchFamily="34" charset="-122"/>
                <a:cs typeface="Hiragino Sans" pitchFamily="34" charset="-120"/>
              </a:rPr>
              <a:t>消費者</a:t>
            </a:r>
            <a:endParaRPr lang="en-US" sz="1050" dirty="0"/>
          </a:p>
        </p:txBody>
      </p:sp>
      <p:sp>
        <p:nvSpPr>
          <p:cNvPr id="45" name="Text 43"/>
          <p:cNvSpPr/>
          <p:nvPr/>
        </p:nvSpPr>
        <p:spPr>
          <a:xfrm>
            <a:off x="2057400" y="3749040"/>
            <a:ext cx="5943600" cy="237744"/>
          </a:xfrm>
          <a:prstGeom prst="rect">
            <a:avLst/>
          </a:prstGeom>
          <a:noFill/>
          <a:ln/>
        </p:spPr>
        <p:txBody>
          <a:bodyPr wrap="square" lIns="0" tIns="0" rIns="0" bIns="0" rtlCol="0" anchor="ctr"/>
          <a:lstStyle/>
          <a:p>
            <a:pPr indent="0" marL="0">
              <a:buNone/>
            </a:pPr>
            <a:r>
              <a:rPr lang="en-US" sz="950" i="1" dirty="0">
                <a:solidFill>
                  <a:srgbClr val="6B7280"/>
                </a:solidFill>
                <a:latin typeface="Hiragino Sans" pitchFamily="34" charset="0"/>
                <a:ea typeface="Hiragino Sans" pitchFamily="34" charset="-122"/>
                <a:cs typeface="Hiragino Sans" pitchFamily="34" charset="-120"/>
              </a:rPr>
              <a:t>直接卸・中間マージンなし</a:t>
            </a:r>
            <a:endParaRPr lang="en-US" sz="950" dirty="0"/>
          </a:p>
        </p:txBody>
      </p:sp>
      <p:sp>
        <p:nvSpPr>
          <p:cNvPr id="46" name="Shape 44"/>
          <p:cNvSpPr/>
          <p:nvPr/>
        </p:nvSpPr>
        <p:spPr>
          <a:xfrm>
            <a:off x="457200" y="4224528"/>
            <a:ext cx="8229600" cy="475488"/>
          </a:xfrm>
          <a:prstGeom prst="rect">
            <a:avLst/>
          </a:prstGeom>
          <a:solidFill>
            <a:srgbClr val="1B2A41"/>
          </a:solidFill>
          <a:ln/>
        </p:spPr>
      </p:sp>
      <p:sp>
        <p:nvSpPr>
          <p:cNvPr id="47" name="Text 45"/>
          <p:cNvSpPr/>
          <p:nvPr/>
        </p:nvSpPr>
        <p:spPr>
          <a:xfrm>
            <a:off x="457200" y="4224528"/>
            <a:ext cx="8229600" cy="475488"/>
          </a:xfrm>
          <a:prstGeom prst="rect">
            <a:avLst/>
          </a:prstGeom>
          <a:noFill/>
          <a:ln/>
        </p:spPr>
        <p:txBody>
          <a:bodyPr wrap="square" lIns="0" tIns="0" rIns="0" bIns="0" rtlCol="0" anchor="ctr"/>
          <a:lstStyle/>
          <a:p>
            <a:pPr algn="ctr" indent="0" marL="0">
              <a:buNone/>
            </a:pPr>
            <a:r>
              <a:rPr lang="en-US" sz="1300" dirty="0">
                <a:solidFill>
                  <a:srgbClr val="C9D4E3"/>
                </a:solidFill>
                <a:latin typeface="Hiragino Sans" pitchFamily="34" charset="0"/>
                <a:ea typeface="Hiragino Sans" pitchFamily="34" charset="-122"/>
                <a:cs typeface="Hiragino Sans" pitchFamily="34" charset="-120"/>
              </a:rPr>
              <a:t>中間マージンなし ＝ </a:t>
            </a:r>
            <a:pPr algn="ctr" indent="0" marL="0">
              <a:buNone/>
            </a:pPr>
            <a:r>
              <a:rPr lang="en-US" sz="1300" b="1" dirty="0">
                <a:solidFill>
                  <a:srgbClr val="F2B33D"/>
                </a:solidFill>
                <a:latin typeface="Hiragino Sans" pitchFamily="34" charset="0"/>
                <a:ea typeface="Hiragino Sans" pitchFamily="34" charset="-122"/>
                <a:cs typeface="Hiragino Sans" pitchFamily="34" charset="-120"/>
              </a:rPr>
              <a:t>その商品を扱う誰よりも安く仕入れられる立場</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INTRODUCTION</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せどりと何が違うのか — フロー型 vs ストック型</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03</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5212080" cy="914400"/>
        </p:xfrm>
        <a:graphic>
          <a:graphicData uri="http://schemas.openxmlformats.org/drawingml/2006/table">
            <a:tbl>
              <a:tblPr/>
              <a:tblGrid>
                <a:gridCol w="1143000"/>
                <a:gridCol w="2011680"/>
                <a:gridCol w="2057400"/>
              </a:tblGrid>
              <a:tr h="402336">
                <a:tc>
                  <a:txBody>
                    <a:bodyPr/>
                    <a:lstStyle/>
                    <a:p>
                      <a:pPr algn="l" indent="0" marL="0">
                        <a:buNone/>
                      </a:pPr>
                      <a:endParaRPr lang="en-US" sz="1100" dirty="0">
                        <a:latin typeface="Hiragino Sans" charset="0"/>
                        <a:ea typeface="Hiragino Sans" charset="0"/>
                        <a:cs typeface="Hiragino Sans" charset="0"/>
                      </a:endParaRPr>
                    </a:p>
                  </a:txBody>
                  <a:tcPr marL="54864" marR="54864" marT="54864" marB="54864" anchor="ctr">
                    <a:lnL w="0" cap="flat" cmpd="sng" algn="ctr">
                      <a:solidFill>
                        <a:srgbClr val="F7F4EE"/>
                      </a:solidFill>
                      <a:prstDash val="solid"/>
                      <a:round/>
                      <a:headEnd type="none" w="med" len="med"/>
                      <a:tailEnd type="none" w="med" len="med"/>
                    </a:lnL>
                    <a:lnR w="0" cap="flat" cmpd="sng" algn="ctr">
                      <a:solidFill>
                        <a:srgbClr val="F7F4EE"/>
                      </a:solidFill>
                      <a:prstDash val="solid"/>
                      <a:round/>
                      <a:headEnd type="none" w="med" len="med"/>
                      <a:tailEnd type="none" w="med" len="med"/>
                    </a:lnR>
                    <a:lnT w="0" cap="flat" cmpd="sng" algn="ctr">
                      <a:solidFill>
                        <a:srgbClr val="F7F4EE"/>
                      </a:solidFill>
                      <a:prstDash val="solid"/>
                      <a:round/>
                      <a:headEnd type="none" w="med" len="med"/>
                      <a:tailEnd type="none" w="med" len="med"/>
                    </a:lnT>
                    <a:lnB w="12700" cap="flat" cmpd="sng" algn="ctr">
                      <a:solidFill>
                        <a:srgbClr val="E3DDD2"/>
                      </a:solidFill>
                      <a:prstDash val="solid"/>
                      <a:round/>
                      <a:headEnd type="none" w="med" len="med"/>
                      <a:tailEnd type="none" w="med" len="med"/>
                    </a:lnB>
                    <a:solidFill>
                      <a:srgbClr val="F7F4EE"/>
                    </a:solidFill>
                  </a:tcPr>
                </a:tc>
                <a:tc>
                  <a:txBody>
                    <a:bodyP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せどり / 転売</a:t>
                      </a:r>
                      <a:endParaRPr lang="en-US" sz="1100" dirty="0">
                        <a:latin typeface="Hiragino Sans" charset="0"/>
                        <a:ea typeface="Hiragino Sans" charset="0"/>
                        <a:cs typeface="Hiragino Sans" charset="0"/>
                      </a:endParaRPr>
                    </a:p>
                  </a:txBody>
                  <a:tcPr marL="54864" marR="54864" marT="54864" marB="54864"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8B95A3"/>
                    </a:solidFill>
                  </a:tcPr>
                </a:tc>
                <a:tc>
                  <a:txBody>
                    <a:bodyP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メーカー仕入れ</a:t>
                      </a:r>
                      <a:endParaRPr lang="en-US" sz="1100" dirty="0">
                        <a:latin typeface="Hiragino Sans" charset="0"/>
                        <a:ea typeface="Hiragino Sans" charset="0"/>
                        <a:cs typeface="Hiragino Sans" charset="0"/>
                      </a:endParaRPr>
                    </a:p>
                  </a:txBody>
                  <a:tcPr marL="54864" marR="54864" marT="54864" marB="54864"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D98E04"/>
                    </a:solidFill>
                  </a:tcPr>
                </a:tc>
              </a:tr>
              <a:tr h="402336">
                <a:tc>
                  <a:txBody>
                    <a:bodyPr/>
                    <a:lstStyle/>
                    <a:p>
                      <a:pPr algn="l" indent="0" marL="0">
                        <a:buNone/>
                      </a:pPr>
                      <a:r>
                        <a:rPr lang="en-US" sz="1100" dirty="0">
                          <a:solidFill>
                            <a:srgbClr val="23303F"/>
                          </a:solidFill>
                          <a:latin typeface="Hiragino Sans" pitchFamily="34" charset="0"/>
                          <a:ea typeface="Hiragino Sans" pitchFamily="34" charset="-122"/>
                          <a:cs typeface="Hiragino Sans" pitchFamily="34" charset="-120"/>
                        </a:rPr>
                        <a:t>リサーチ</a:t>
                      </a:r>
                      <a:endParaRPr lang="en-US" sz="1100" dirty="0">
                        <a:latin typeface="Hiragino Sans" charset="0"/>
                        <a:ea typeface="Hiragino Sans" charset="0"/>
                        <a:cs typeface="Hiragino Sans" charset="0"/>
                      </a:endParaRPr>
                    </a:p>
                  </a:txBody>
                  <a:tcPr marL="54864" marR="54864" marT="54864" marB="54864"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303F"/>
                          </a:solidFill>
                          <a:latin typeface="Hiragino Sans" pitchFamily="34" charset="0"/>
                          <a:ea typeface="Hiragino Sans" pitchFamily="34" charset="-122"/>
                          <a:cs typeface="Hiragino Sans" pitchFamily="34" charset="-120"/>
                        </a:rPr>
                        <a:t>毎回必要（消耗戦）</a:t>
                      </a:r>
                      <a:endParaRPr lang="en-US" sz="1100" dirty="0">
                        <a:latin typeface="Hiragino Sans" charset="0"/>
                        <a:ea typeface="Hiragino Sans" charset="0"/>
                        <a:cs typeface="Hiragino Sans" charset="0"/>
                      </a:endParaRPr>
                    </a:p>
                  </a:txBody>
                  <a:tcPr marL="54864" marR="54864" marT="54864" marB="54864"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3303F"/>
                          </a:solidFill>
                          <a:latin typeface="Hiragino Sans" pitchFamily="34" charset="0"/>
                          <a:ea typeface="Hiragino Sans" pitchFamily="34" charset="-122"/>
                          <a:cs typeface="Hiragino Sans" pitchFamily="34" charset="-120"/>
                        </a:rPr>
                        <a:t>取引成立後は不要</a:t>
                      </a:r>
                      <a:endParaRPr lang="en-US" sz="1100" dirty="0">
                        <a:latin typeface="Hiragino Sans" charset="0"/>
                        <a:ea typeface="Hiragino Sans" charset="0"/>
                        <a:cs typeface="Hiragino Sans" charset="0"/>
                      </a:endParaRPr>
                    </a:p>
                  </a:txBody>
                  <a:tcPr marL="54864" marR="54864" marT="54864" marB="54864"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r>
              <a:tr h="402336">
                <a:tc>
                  <a:txBody>
                    <a:bodyPr/>
                    <a:lstStyle/>
                    <a:p>
                      <a:pPr algn="l" indent="0" marL="0">
                        <a:buNone/>
                      </a:pPr>
                      <a:r>
                        <a:rPr lang="en-US" sz="1100" dirty="0">
                          <a:solidFill>
                            <a:srgbClr val="23303F"/>
                          </a:solidFill>
                          <a:latin typeface="Hiragino Sans" pitchFamily="34" charset="0"/>
                          <a:ea typeface="Hiragino Sans" pitchFamily="34" charset="-122"/>
                          <a:cs typeface="Hiragino Sans" pitchFamily="34" charset="-120"/>
                        </a:rPr>
                        <a:t>仕入れ</a:t>
                      </a:r>
                      <a:endParaRPr lang="en-US" sz="1100" dirty="0">
                        <a:latin typeface="Hiragino Sans" charset="0"/>
                        <a:ea typeface="Hiragino Sans" charset="0"/>
                        <a:cs typeface="Hiragino Sans" charset="0"/>
                      </a:endParaRPr>
                    </a:p>
                  </a:txBody>
                  <a:tcPr marL="54864" marR="54864" marT="54864" marB="54864"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303F"/>
                          </a:solidFill>
                          <a:latin typeface="Hiragino Sans" pitchFamily="34" charset="0"/>
                          <a:ea typeface="Hiragino Sans" pitchFamily="34" charset="-122"/>
                          <a:cs typeface="Hiragino Sans" pitchFamily="34" charset="-120"/>
                        </a:rPr>
                        <a:t>都度・偶発的</a:t>
                      </a:r>
                      <a:endParaRPr lang="en-US" sz="1100" dirty="0">
                        <a:latin typeface="Hiragino Sans" charset="0"/>
                        <a:ea typeface="Hiragino Sans" charset="0"/>
                        <a:cs typeface="Hiragino Sans" charset="0"/>
                      </a:endParaRPr>
                    </a:p>
                  </a:txBody>
                  <a:tcPr marL="54864" marR="54864" marT="54864" marB="54864"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3303F"/>
                          </a:solidFill>
                          <a:latin typeface="Hiragino Sans" pitchFamily="34" charset="0"/>
                          <a:ea typeface="Hiragino Sans" pitchFamily="34" charset="-122"/>
                          <a:cs typeface="Hiragino Sans" pitchFamily="34" charset="-120"/>
                        </a:rPr>
                        <a:t>メール1本でリピート発注</a:t>
                      </a:r>
                      <a:endParaRPr lang="en-US" sz="1100" dirty="0">
                        <a:latin typeface="Hiragino Sans" charset="0"/>
                        <a:ea typeface="Hiragino Sans" charset="0"/>
                        <a:cs typeface="Hiragino Sans" charset="0"/>
                      </a:endParaRPr>
                    </a:p>
                  </a:txBody>
                  <a:tcPr marL="54864" marR="54864" marT="54864" marB="54864"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r>
              <a:tr h="402336">
                <a:tc>
                  <a:txBody>
                    <a:bodyPr/>
                    <a:lstStyle/>
                    <a:p>
                      <a:pPr algn="l" indent="0" marL="0">
                        <a:buNone/>
                      </a:pPr>
                      <a:r>
                        <a:rPr lang="en-US" sz="1100" dirty="0">
                          <a:solidFill>
                            <a:srgbClr val="23303F"/>
                          </a:solidFill>
                          <a:latin typeface="Hiragino Sans" pitchFamily="34" charset="0"/>
                          <a:ea typeface="Hiragino Sans" pitchFamily="34" charset="-122"/>
                          <a:cs typeface="Hiragino Sans" pitchFamily="34" charset="-120"/>
                        </a:rPr>
                        <a:t>利益</a:t>
                      </a:r>
                      <a:endParaRPr lang="en-US" sz="1100" dirty="0">
                        <a:latin typeface="Hiragino Sans" charset="0"/>
                        <a:ea typeface="Hiragino Sans" charset="0"/>
                        <a:cs typeface="Hiragino Sans" charset="0"/>
                      </a:endParaRPr>
                    </a:p>
                  </a:txBody>
                  <a:tcPr marL="54864" marR="54864" marT="54864" marB="54864"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303F"/>
                          </a:solidFill>
                          <a:latin typeface="Hiragino Sans" pitchFamily="34" charset="0"/>
                          <a:ea typeface="Hiragino Sans" pitchFamily="34" charset="-122"/>
                          <a:cs typeface="Hiragino Sans" pitchFamily="34" charset="-120"/>
                        </a:rPr>
                        <a:t>不安定</a:t>
                      </a:r>
                      <a:endParaRPr lang="en-US" sz="1100" dirty="0">
                        <a:latin typeface="Hiragino Sans" charset="0"/>
                        <a:ea typeface="Hiragino Sans" charset="0"/>
                        <a:cs typeface="Hiragino Sans" charset="0"/>
                      </a:endParaRPr>
                    </a:p>
                  </a:txBody>
                  <a:tcPr marL="54864" marR="54864" marT="54864" marB="54864"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3303F"/>
                          </a:solidFill>
                          <a:latin typeface="Hiragino Sans" pitchFamily="34" charset="0"/>
                          <a:ea typeface="Hiragino Sans" pitchFamily="34" charset="-122"/>
                          <a:cs typeface="Hiragino Sans" pitchFamily="34" charset="-120"/>
                        </a:rPr>
                        <a:t>安定（値崩れしにくい）</a:t>
                      </a:r>
                      <a:endParaRPr lang="en-US" sz="1100" dirty="0">
                        <a:latin typeface="Hiragino Sans" charset="0"/>
                        <a:ea typeface="Hiragino Sans" charset="0"/>
                        <a:cs typeface="Hiragino Sans" charset="0"/>
                      </a:endParaRPr>
                    </a:p>
                  </a:txBody>
                  <a:tcPr marL="54864" marR="54864" marT="54864" marB="54864"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r>
              <a:tr h="402336">
                <a:tc>
                  <a:txBody>
                    <a:bodyPr/>
                    <a:lstStyle/>
                    <a:p>
                      <a:pPr algn="l" indent="0" marL="0">
                        <a:buNone/>
                      </a:pPr>
                      <a:r>
                        <a:rPr lang="en-US" sz="1100" dirty="0">
                          <a:solidFill>
                            <a:srgbClr val="23303F"/>
                          </a:solidFill>
                          <a:latin typeface="Hiragino Sans" pitchFamily="34" charset="0"/>
                          <a:ea typeface="Hiragino Sans" pitchFamily="34" charset="-122"/>
                          <a:cs typeface="Hiragino Sans" pitchFamily="34" charset="-120"/>
                        </a:rPr>
                        <a:t>アカウント</a:t>
                      </a:r>
                      <a:endParaRPr lang="en-US" sz="1100" dirty="0">
                        <a:latin typeface="Hiragino Sans" charset="0"/>
                        <a:ea typeface="Hiragino Sans" charset="0"/>
                        <a:cs typeface="Hiragino Sans" charset="0"/>
                      </a:endParaRPr>
                    </a:p>
                  </a:txBody>
                  <a:tcPr marL="54864" marR="54864" marT="54864" marB="54864"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303F"/>
                          </a:solidFill>
                          <a:latin typeface="Hiragino Sans" pitchFamily="34" charset="0"/>
                          <a:ea typeface="Hiragino Sans" pitchFamily="34" charset="-122"/>
                          <a:cs typeface="Hiragino Sans" pitchFamily="34" charset="-120"/>
                        </a:rPr>
                        <a:t>規制リスクあり</a:t>
                      </a:r>
                      <a:endParaRPr lang="en-US" sz="1100" dirty="0">
                        <a:latin typeface="Hiragino Sans" charset="0"/>
                        <a:ea typeface="Hiragino Sans" charset="0"/>
                        <a:cs typeface="Hiragino Sans" charset="0"/>
                      </a:endParaRPr>
                    </a:p>
                  </a:txBody>
                  <a:tcPr marL="54864" marR="54864" marT="54864" marB="54864"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3303F"/>
                          </a:solidFill>
                          <a:latin typeface="Hiragino Sans" pitchFamily="34" charset="0"/>
                          <a:ea typeface="Hiragino Sans" pitchFamily="34" charset="-122"/>
                          <a:cs typeface="Hiragino Sans" pitchFamily="34" charset="-120"/>
                        </a:rPr>
                        <a:t>メーカー書類で防御可能</a:t>
                      </a:r>
                      <a:endParaRPr lang="en-US" sz="1100" dirty="0">
                        <a:latin typeface="Hiragino Sans" charset="0"/>
                        <a:ea typeface="Hiragino Sans" charset="0"/>
                        <a:cs typeface="Hiragino Sans" charset="0"/>
                      </a:endParaRPr>
                    </a:p>
                  </a:txBody>
                  <a:tcPr marL="54864" marR="54864" marT="54864" marB="54864"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r>
              <a:tr h="402336">
                <a:tc>
                  <a:txBody>
                    <a:bodyPr/>
                    <a:lstStyle/>
                    <a:p>
                      <a:pPr algn="l" indent="0" marL="0">
                        <a:buNone/>
                      </a:pPr>
                      <a:r>
                        <a:rPr lang="en-US" sz="1100" dirty="0">
                          <a:solidFill>
                            <a:srgbClr val="23303F"/>
                          </a:solidFill>
                          <a:latin typeface="Hiragino Sans" pitchFamily="34" charset="0"/>
                          <a:ea typeface="Hiragino Sans" pitchFamily="34" charset="-122"/>
                          <a:cs typeface="Hiragino Sans" pitchFamily="34" charset="-120"/>
                        </a:rPr>
                        <a:t>ビジネスの型</a:t>
                      </a:r>
                      <a:endParaRPr lang="en-US" sz="1100" dirty="0">
                        <a:latin typeface="Hiragino Sans" charset="0"/>
                        <a:ea typeface="Hiragino Sans" charset="0"/>
                        <a:cs typeface="Hiragino Sans" charset="0"/>
                      </a:endParaRPr>
                    </a:p>
                  </a:txBody>
                  <a:tcPr marL="54864" marR="54864" marT="54864" marB="54864"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3303F"/>
                          </a:solidFill>
                          <a:latin typeface="Hiragino Sans" pitchFamily="34" charset="0"/>
                          <a:ea typeface="Hiragino Sans" pitchFamily="34" charset="-122"/>
                          <a:cs typeface="Hiragino Sans" pitchFamily="34" charset="-120"/>
                        </a:rPr>
                        <a:t>フロー型</a:t>
                      </a:r>
                      <a:endParaRPr lang="en-US" sz="1100" dirty="0">
                        <a:latin typeface="Hiragino Sans" charset="0"/>
                        <a:ea typeface="Hiragino Sans" charset="0"/>
                        <a:cs typeface="Hiragino Sans" charset="0"/>
                      </a:endParaRPr>
                    </a:p>
                  </a:txBody>
                  <a:tcPr marL="54864" marR="54864" marT="54864" marB="54864"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D98E04"/>
                          </a:solidFill>
                          <a:latin typeface="Hiragino Sans" pitchFamily="34" charset="0"/>
                          <a:ea typeface="Hiragino Sans" pitchFamily="34" charset="-122"/>
                          <a:cs typeface="Hiragino Sans" pitchFamily="34" charset="-120"/>
                        </a:rPr>
                        <a:t>ストック型（積み上がる）</a:t>
                      </a:r>
                      <a:endParaRPr lang="en-US" sz="1100" dirty="0">
                        <a:latin typeface="Hiragino Sans" charset="0"/>
                        <a:ea typeface="Hiragino Sans" charset="0"/>
                        <a:cs typeface="Hiragino Sans" charset="0"/>
                      </a:endParaRPr>
                    </a:p>
                  </a:txBody>
                  <a:tcPr marL="54864" marR="54864" marT="54864" marB="54864"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r>
            </a:tbl>
          </a:graphicData>
        </a:graphic>
      </p:graphicFrame>
      <p:sp>
        <p:nvSpPr>
          <p:cNvPr id="8" name="Shape 5"/>
          <p:cNvSpPr/>
          <p:nvPr/>
        </p:nvSpPr>
        <p:spPr>
          <a:xfrm>
            <a:off x="5989320" y="1325880"/>
            <a:ext cx="2697480" cy="3017520"/>
          </a:xfrm>
          <a:prstGeom prst="rect">
            <a:avLst/>
          </a:prstGeom>
          <a:solidFill>
            <a:srgbClr val="1B2A41"/>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9" name="Text 6"/>
          <p:cNvSpPr/>
          <p:nvPr/>
        </p:nvSpPr>
        <p:spPr>
          <a:xfrm>
            <a:off x="6217920" y="1554480"/>
            <a:ext cx="2286000" cy="457200"/>
          </a:xfrm>
          <a:prstGeom prst="rect">
            <a:avLst/>
          </a:prstGeom>
          <a:noFill/>
          <a:ln/>
        </p:spPr>
        <p:txBody>
          <a:bodyPr wrap="square" lIns="0" tIns="0" rIns="0" bIns="0" rtlCol="0" anchor="ctr"/>
          <a:lstStyle/>
          <a:p>
            <a:pPr indent="0" marL="0">
              <a:buNone/>
            </a:pPr>
            <a:r>
              <a:rPr lang="en-US" sz="1150" b="1" dirty="0">
                <a:solidFill>
                  <a:srgbClr val="F2B33D"/>
                </a:solidFill>
                <a:latin typeface="Hiragino Sans" pitchFamily="34" charset="0"/>
                <a:ea typeface="Hiragino Sans" pitchFamily="34" charset="-122"/>
                <a:cs typeface="Hiragino Sans" pitchFamily="34" charset="-120"/>
              </a:rPr>
              <a:t>実例：ご当地ラーメン詰め合わせ</a:t>
            </a:r>
            <a:endParaRPr lang="en-US" sz="1150" dirty="0"/>
          </a:p>
        </p:txBody>
      </p:sp>
      <p:sp>
        <p:nvSpPr>
          <p:cNvPr id="10" name="Text 7"/>
          <p:cNvSpPr/>
          <p:nvPr/>
        </p:nvSpPr>
        <p:spPr>
          <a:xfrm>
            <a:off x="6217920" y="2057400"/>
            <a:ext cx="2286000" cy="1005840"/>
          </a:xfrm>
          <a:prstGeom prst="rect">
            <a:avLst/>
          </a:prstGeom>
          <a:noFill/>
          <a:ln/>
        </p:spPr>
        <p:txBody>
          <a:bodyPr wrap="square" lIns="0" tIns="0" rIns="0" bIns="0" rtlCol="0" anchor="ctr"/>
          <a:lstStyle/>
          <a:p>
            <a:pPr indent="0" marL="0">
              <a:buNone/>
            </a:pPr>
            <a:r>
              <a:rPr lang="en-US" sz="2200" b="1" dirty="0">
                <a:solidFill>
                  <a:srgbClr val="FFFFFF"/>
                </a:solidFill>
                <a:latin typeface="Hiragino Sans" pitchFamily="34" charset="0"/>
                <a:ea typeface="Hiragino Sans" pitchFamily="34" charset="-122"/>
                <a:cs typeface="Hiragino Sans" pitchFamily="34" charset="-120"/>
              </a:rPr>
              <a:t>月利 約14.2万円</a:t>
            </a:r>
            <a:endParaRPr lang="en-US" sz="2200" dirty="0"/>
          </a:p>
          <a:p>
            <a:pPr indent="0" marL="0">
              <a:buNone/>
            </a:pPr>
            <a:endParaRPr lang="en-US" sz="2200" dirty="0"/>
          </a:p>
          <a:p>
            <a:pPr indent="0" marL="0">
              <a:buNone/>
            </a:pPr>
            <a:r>
              <a:rPr lang="en-US" sz="1100" dirty="0">
                <a:solidFill>
                  <a:srgbClr val="C9D4E3"/>
                </a:solidFill>
                <a:latin typeface="Hiragino Sans" pitchFamily="34" charset="0"/>
                <a:ea typeface="Hiragino Sans" pitchFamily="34" charset="-122"/>
                <a:cs typeface="Hiragino Sans" pitchFamily="34" charset="-120"/>
              </a:rPr>
              <a:t>月96セット販売 / 利益率26%</a:t>
            </a:r>
            <a:endParaRPr lang="en-US" sz="2200" dirty="0"/>
          </a:p>
        </p:txBody>
      </p:sp>
      <p:sp>
        <p:nvSpPr>
          <p:cNvPr id="11" name="Shape 8"/>
          <p:cNvSpPr/>
          <p:nvPr/>
        </p:nvSpPr>
        <p:spPr>
          <a:xfrm>
            <a:off x="6217920" y="3200400"/>
            <a:ext cx="2240280" cy="0"/>
          </a:xfrm>
          <a:prstGeom prst="line">
            <a:avLst/>
          </a:prstGeom>
          <a:noFill/>
          <a:ln w="12700">
            <a:solidFill>
              <a:srgbClr val="2B3F5C"/>
            </a:solidFill>
            <a:prstDash val="solid"/>
          </a:ln>
        </p:spPr>
      </p:sp>
      <p:sp>
        <p:nvSpPr>
          <p:cNvPr id="12" name="Text 9"/>
          <p:cNvSpPr/>
          <p:nvPr/>
        </p:nvSpPr>
        <p:spPr>
          <a:xfrm>
            <a:off x="6217920" y="3310128"/>
            <a:ext cx="2286000" cy="868680"/>
          </a:xfrm>
          <a:prstGeom prst="rect">
            <a:avLst/>
          </a:prstGeom>
          <a:noFill/>
          <a:ln/>
        </p:spPr>
        <p:txBody>
          <a:bodyPr wrap="square" lIns="0" tIns="0" rIns="0" bIns="0" rtlCol="0" anchor="ctr"/>
          <a:lstStyle/>
          <a:p>
            <a:pPr indent="0" marL="0">
              <a:lnSpc>
                <a:spcPct val="125000"/>
              </a:lnSpc>
              <a:buNone/>
            </a:pPr>
            <a:r>
              <a:rPr lang="en-US" sz="1000" dirty="0">
                <a:solidFill>
                  <a:srgbClr val="C9D4E3"/>
                </a:solidFill>
                <a:latin typeface="Hiragino Sans" pitchFamily="34" charset="0"/>
                <a:ea typeface="Hiragino Sans" pitchFamily="34" charset="-122"/>
                <a:cs typeface="Hiragino Sans" pitchFamily="34" charset="-120"/>
              </a:rPr>
              <a:t>1商品でこの利益。発注作業は月2回程度。これを10社、20社と階段状に積み上げる。</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INTRODUCTION</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5つのメリットと、よくある3つの不安</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04</a:t>
            </a:r>
            <a:endParaRPr lang="en-US" sz="900" dirty="0"/>
          </a:p>
        </p:txBody>
      </p:sp>
      <p:sp>
        <p:nvSpPr>
          <p:cNvPr id="7" name="Shape 5"/>
          <p:cNvSpPr/>
          <p:nvPr/>
        </p:nvSpPr>
        <p:spPr>
          <a:xfrm>
            <a:off x="457200" y="1298448"/>
            <a:ext cx="3931920" cy="3310128"/>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8" name="Text 6"/>
          <p:cNvSpPr/>
          <p:nvPr/>
        </p:nvSpPr>
        <p:spPr>
          <a:xfrm>
            <a:off x="713232" y="1481328"/>
            <a:ext cx="3291840" cy="310896"/>
          </a:xfrm>
          <a:prstGeom prst="rect">
            <a:avLst/>
          </a:prstGeom>
          <a:noFill/>
          <a:ln/>
        </p:spPr>
        <p:txBody>
          <a:bodyPr wrap="square" lIns="0" tIns="0" rIns="0" bIns="0" rtlCol="0" anchor="ctr"/>
          <a:lstStyle/>
          <a:p>
            <a:pPr indent="0" marL="0">
              <a:buNone/>
            </a:pPr>
            <a:r>
              <a:rPr lang="en-US" sz="1350" b="1" dirty="0">
                <a:solidFill>
                  <a:srgbClr val="1B2A41"/>
                </a:solidFill>
                <a:latin typeface="Hiragino Sans" pitchFamily="34" charset="0"/>
                <a:ea typeface="Hiragino Sans" pitchFamily="34" charset="-122"/>
                <a:cs typeface="Hiragino Sans" pitchFamily="34" charset="-120"/>
              </a:rPr>
              <a:t>メリット</a:t>
            </a:r>
            <a:endParaRPr lang="en-US" sz="1350" dirty="0"/>
          </a:p>
        </p:txBody>
      </p:sp>
      <p:sp>
        <p:nvSpPr>
          <p:cNvPr id="9" name="Shape 7"/>
          <p:cNvSpPr/>
          <p:nvPr/>
        </p:nvSpPr>
        <p:spPr>
          <a:xfrm>
            <a:off x="713232" y="1901952"/>
            <a:ext cx="310896" cy="310896"/>
          </a:xfrm>
          <a:prstGeom prst="ellipse">
            <a:avLst/>
          </a:prstGeom>
          <a:solidFill>
            <a:srgbClr val="D98E04"/>
          </a:solidFill>
          <a:ln/>
        </p:spPr>
      </p:sp>
      <p:sp>
        <p:nvSpPr>
          <p:cNvPr id="10" name="Text 8"/>
          <p:cNvSpPr/>
          <p:nvPr/>
        </p:nvSpPr>
        <p:spPr>
          <a:xfrm>
            <a:off x="713232" y="18882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1</a:t>
            </a:r>
            <a:endParaRPr lang="en-US" sz="1200" dirty="0"/>
          </a:p>
        </p:txBody>
      </p:sp>
      <p:sp>
        <p:nvSpPr>
          <p:cNvPr id="11" name="Text 9"/>
          <p:cNvSpPr/>
          <p:nvPr/>
        </p:nvSpPr>
        <p:spPr>
          <a:xfrm>
            <a:off x="1152144" y="1901952"/>
            <a:ext cx="3063240" cy="310896"/>
          </a:xfrm>
          <a:prstGeom prst="rect">
            <a:avLst/>
          </a:prstGeom>
          <a:noFill/>
          <a:ln/>
        </p:spPr>
        <p:txBody>
          <a:bodyPr wrap="square" lIns="0" tIns="0" rIns="0" bIns="0" rtlCol="0" anchor="ctr"/>
          <a:lstStyle/>
          <a:p>
            <a:pPr indent="0" marL="0">
              <a:buNone/>
            </a:pPr>
            <a:r>
              <a:rPr lang="en-US" sz="1150" dirty="0">
                <a:solidFill>
                  <a:srgbClr val="23303F"/>
                </a:solidFill>
                <a:latin typeface="Hiragino Sans" pitchFamily="34" charset="0"/>
                <a:ea typeface="Hiragino Sans" pitchFamily="34" charset="-122"/>
                <a:cs typeface="Hiragino Sans" pitchFamily="34" charset="-120"/>
              </a:rPr>
              <a:t>直取引による最安値仕入れ</a:t>
            </a:r>
            <a:endParaRPr lang="en-US" sz="1150" dirty="0"/>
          </a:p>
        </p:txBody>
      </p:sp>
      <p:sp>
        <p:nvSpPr>
          <p:cNvPr id="12" name="Shape 10"/>
          <p:cNvSpPr/>
          <p:nvPr/>
        </p:nvSpPr>
        <p:spPr>
          <a:xfrm>
            <a:off x="713232" y="2432304"/>
            <a:ext cx="310896" cy="310896"/>
          </a:xfrm>
          <a:prstGeom prst="ellipse">
            <a:avLst/>
          </a:prstGeom>
          <a:solidFill>
            <a:srgbClr val="D98E04"/>
          </a:solidFill>
          <a:ln/>
        </p:spPr>
      </p:sp>
      <p:sp>
        <p:nvSpPr>
          <p:cNvPr id="13" name="Text 11"/>
          <p:cNvSpPr/>
          <p:nvPr/>
        </p:nvSpPr>
        <p:spPr>
          <a:xfrm>
            <a:off x="713232" y="24185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2</a:t>
            </a:r>
            <a:endParaRPr lang="en-US" sz="1200" dirty="0"/>
          </a:p>
        </p:txBody>
      </p:sp>
      <p:sp>
        <p:nvSpPr>
          <p:cNvPr id="14" name="Text 12"/>
          <p:cNvSpPr/>
          <p:nvPr/>
        </p:nvSpPr>
        <p:spPr>
          <a:xfrm>
            <a:off x="1152144" y="2432304"/>
            <a:ext cx="3063240" cy="310896"/>
          </a:xfrm>
          <a:prstGeom prst="rect">
            <a:avLst/>
          </a:prstGeom>
          <a:noFill/>
          <a:ln/>
        </p:spPr>
        <p:txBody>
          <a:bodyPr wrap="square" lIns="0" tIns="0" rIns="0" bIns="0" rtlCol="0" anchor="ctr"/>
          <a:lstStyle/>
          <a:p>
            <a:pPr indent="0" marL="0">
              <a:buNone/>
            </a:pPr>
            <a:r>
              <a:rPr lang="en-US" sz="1150" dirty="0">
                <a:solidFill>
                  <a:srgbClr val="23303F"/>
                </a:solidFill>
                <a:latin typeface="Hiragino Sans" pitchFamily="34" charset="0"/>
                <a:ea typeface="Hiragino Sans" pitchFamily="34" charset="-122"/>
                <a:cs typeface="Hiragino Sans" pitchFamily="34" charset="-120"/>
              </a:rPr>
              <a:t>何度でもリピート発注できる</a:t>
            </a:r>
            <a:endParaRPr lang="en-US" sz="1150" dirty="0"/>
          </a:p>
        </p:txBody>
      </p:sp>
      <p:sp>
        <p:nvSpPr>
          <p:cNvPr id="15" name="Shape 13"/>
          <p:cNvSpPr/>
          <p:nvPr/>
        </p:nvSpPr>
        <p:spPr>
          <a:xfrm>
            <a:off x="713232" y="2962656"/>
            <a:ext cx="310896" cy="310896"/>
          </a:xfrm>
          <a:prstGeom prst="ellipse">
            <a:avLst/>
          </a:prstGeom>
          <a:solidFill>
            <a:srgbClr val="D98E04"/>
          </a:solidFill>
          <a:ln/>
        </p:spPr>
      </p:sp>
      <p:sp>
        <p:nvSpPr>
          <p:cNvPr id="16" name="Text 14"/>
          <p:cNvSpPr/>
          <p:nvPr/>
        </p:nvSpPr>
        <p:spPr>
          <a:xfrm>
            <a:off x="713232" y="29489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3</a:t>
            </a:r>
            <a:endParaRPr lang="en-US" sz="1200" dirty="0"/>
          </a:p>
        </p:txBody>
      </p:sp>
      <p:sp>
        <p:nvSpPr>
          <p:cNvPr id="17" name="Text 15"/>
          <p:cNvSpPr/>
          <p:nvPr/>
        </p:nvSpPr>
        <p:spPr>
          <a:xfrm>
            <a:off x="1152144" y="2962656"/>
            <a:ext cx="3063240" cy="310896"/>
          </a:xfrm>
          <a:prstGeom prst="rect">
            <a:avLst/>
          </a:prstGeom>
          <a:noFill/>
          <a:ln/>
        </p:spPr>
        <p:txBody>
          <a:bodyPr wrap="square" lIns="0" tIns="0" rIns="0" bIns="0" rtlCol="0" anchor="ctr"/>
          <a:lstStyle/>
          <a:p>
            <a:pPr indent="0" marL="0">
              <a:buNone/>
            </a:pPr>
            <a:r>
              <a:rPr lang="en-US" sz="1150" dirty="0">
                <a:solidFill>
                  <a:srgbClr val="23303F"/>
                </a:solidFill>
                <a:latin typeface="Hiragino Sans" pitchFamily="34" charset="0"/>
                <a:ea typeface="Hiragino Sans" pitchFamily="34" charset="-122"/>
                <a:cs typeface="Hiragino Sans" pitchFamily="34" charset="-120"/>
              </a:rPr>
              <a:t>アカウントの安全性（書類完備）</a:t>
            </a:r>
            <a:endParaRPr lang="en-US" sz="1150" dirty="0"/>
          </a:p>
        </p:txBody>
      </p:sp>
      <p:sp>
        <p:nvSpPr>
          <p:cNvPr id="18" name="Shape 16"/>
          <p:cNvSpPr/>
          <p:nvPr/>
        </p:nvSpPr>
        <p:spPr>
          <a:xfrm>
            <a:off x="713232" y="3493008"/>
            <a:ext cx="310896" cy="310896"/>
          </a:xfrm>
          <a:prstGeom prst="ellipse">
            <a:avLst/>
          </a:prstGeom>
          <a:solidFill>
            <a:srgbClr val="D98E04"/>
          </a:solidFill>
          <a:ln/>
        </p:spPr>
      </p:sp>
      <p:sp>
        <p:nvSpPr>
          <p:cNvPr id="19" name="Text 17"/>
          <p:cNvSpPr/>
          <p:nvPr/>
        </p:nvSpPr>
        <p:spPr>
          <a:xfrm>
            <a:off x="713232" y="34792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4</a:t>
            </a:r>
            <a:endParaRPr lang="en-US" sz="1200" dirty="0"/>
          </a:p>
        </p:txBody>
      </p:sp>
      <p:sp>
        <p:nvSpPr>
          <p:cNvPr id="20" name="Text 18"/>
          <p:cNvSpPr/>
          <p:nvPr/>
        </p:nvSpPr>
        <p:spPr>
          <a:xfrm>
            <a:off x="1152144" y="3493008"/>
            <a:ext cx="3063240" cy="310896"/>
          </a:xfrm>
          <a:prstGeom prst="rect">
            <a:avLst/>
          </a:prstGeom>
          <a:noFill/>
          <a:ln/>
        </p:spPr>
        <p:txBody>
          <a:bodyPr wrap="square" lIns="0" tIns="0" rIns="0" bIns="0" rtlCol="0" anchor="ctr"/>
          <a:lstStyle/>
          <a:p>
            <a:pPr indent="0" marL="0">
              <a:buNone/>
            </a:pPr>
            <a:r>
              <a:rPr lang="en-US" sz="1150" dirty="0">
                <a:solidFill>
                  <a:srgbClr val="23303F"/>
                </a:solidFill>
                <a:latin typeface="Hiragino Sans" pitchFamily="34" charset="0"/>
                <a:ea typeface="Hiragino Sans" pitchFamily="34" charset="-122"/>
                <a:cs typeface="Hiragino Sans" pitchFamily="34" charset="-120"/>
              </a:rPr>
              <a:t>独占・限定化による利益保護</a:t>
            </a:r>
            <a:endParaRPr lang="en-US" sz="1150" dirty="0"/>
          </a:p>
        </p:txBody>
      </p:sp>
      <p:sp>
        <p:nvSpPr>
          <p:cNvPr id="21" name="Shape 19"/>
          <p:cNvSpPr/>
          <p:nvPr/>
        </p:nvSpPr>
        <p:spPr>
          <a:xfrm>
            <a:off x="713232" y="4023360"/>
            <a:ext cx="310896" cy="310896"/>
          </a:xfrm>
          <a:prstGeom prst="ellipse">
            <a:avLst/>
          </a:prstGeom>
          <a:solidFill>
            <a:srgbClr val="D98E04"/>
          </a:solidFill>
          <a:ln/>
        </p:spPr>
      </p:sp>
      <p:sp>
        <p:nvSpPr>
          <p:cNvPr id="22" name="Text 20"/>
          <p:cNvSpPr/>
          <p:nvPr/>
        </p:nvSpPr>
        <p:spPr>
          <a:xfrm>
            <a:off x="713232" y="40096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5</a:t>
            </a:r>
            <a:endParaRPr lang="en-US" sz="1200" dirty="0"/>
          </a:p>
        </p:txBody>
      </p:sp>
      <p:sp>
        <p:nvSpPr>
          <p:cNvPr id="23" name="Text 21"/>
          <p:cNvSpPr/>
          <p:nvPr/>
        </p:nvSpPr>
        <p:spPr>
          <a:xfrm>
            <a:off x="1152144" y="4023360"/>
            <a:ext cx="3063240" cy="310896"/>
          </a:xfrm>
          <a:prstGeom prst="rect">
            <a:avLst/>
          </a:prstGeom>
          <a:noFill/>
          <a:ln/>
        </p:spPr>
        <p:txBody>
          <a:bodyPr wrap="square" lIns="0" tIns="0" rIns="0" bIns="0" rtlCol="0" anchor="ctr"/>
          <a:lstStyle/>
          <a:p>
            <a:pPr indent="0" marL="0">
              <a:buNone/>
            </a:pPr>
            <a:r>
              <a:rPr lang="en-US" sz="1150" dirty="0">
                <a:solidFill>
                  <a:srgbClr val="23303F"/>
                </a:solidFill>
                <a:latin typeface="Hiragino Sans" pitchFamily="34" charset="0"/>
                <a:ea typeface="Hiragino Sans" pitchFamily="34" charset="-122"/>
                <a:cs typeface="Hiragino Sans" pitchFamily="34" charset="-120"/>
              </a:rPr>
              <a:t>社会的信頼が積み上がる</a:t>
            </a:r>
            <a:endParaRPr lang="en-US" sz="1150" dirty="0"/>
          </a:p>
        </p:txBody>
      </p:sp>
      <p:sp>
        <p:nvSpPr>
          <p:cNvPr id="24" name="Shape 22"/>
          <p:cNvSpPr/>
          <p:nvPr/>
        </p:nvSpPr>
        <p:spPr>
          <a:xfrm>
            <a:off x="4663440" y="1298448"/>
            <a:ext cx="4023360" cy="3310128"/>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25" name="Text 23"/>
          <p:cNvSpPr/>
          <p:nvPr/>
        </p:nvSpPr>
        <p:spPr>
          <a:xfrm>
            <a:off x="4919472" y="1481328"/>
            <a:ext cx="3291840" cy="310896"/>
          </a:xfrm>
          <a:prstGeom prst="rect">
            <a:avLst/>
          </a:prstGeom>
          <a:noFill/>
          <a:ln/>
        </p:spPr>
        <p:txBody>
          <a:bodyPr wrap="square" lIns="0" tIns="0" rIns="0" bIns="0" rtlCol="0" anchor="ctr"/>
          <a:lstStyle/>
          <a:p>
            <a:pPr indent="0" marL="0">
              <a:buNone/>
            </a:pPr>
            <a:r>
              <a:rPr lang="en-US" sz="1350" b="1" dirty="0">
                <a:solidFill>
                  <a:srgbClr val="1B2A41"/>
                </a:solidFill>
                <a:latin typeface="Hiragino Sans" pitchFamily="34" charset="0"/>
                <a:ea typeface="Hiragino Sans" pitchFamily="34" charset="-122"/>
                <a:cs typeface="Hiragino Sans" pitchFamily="34" charset="-120"/>
              </a:rPr>
              <a:t>不安への回答</a:t>
            </a:r>
            <a:endParaRPr lang="en-US" sz="1350" dirty="0"/>
          </a:p>
        </p:txBody>
      </p:sp>
      <p:sp>
        <p:nvSpPr>
          <p:cNvPr id="26" name="Text 24"/>
          <p:cNvSpPr/>
          <p:nvPr/>
        </p:nvSpPr>
        <p:spPr>
          <a:xfrm>
            <a:off x="4919472" y="1883664"/>
            <a:ext cx="3520440" cy="841248"/>
          </a:xfrm>
          <a:prstGeom prst="rect">
            <a:avLst/>
          </a:prstGeom>
          <a:noFill/>
          <a:ln/>
        </p:spPr>
        <p:txBody>
          <a:bodyPr wrap="square" lIns="0" tIns="0" rIns="0" bIns="0" rtlCol="0" anchor="ctr"/>
          <a:lstStyle/>
          <a:p>
            <a:pPr indent="0" marL="0">
              <a:lnSpc>
                <a:spcPct val="112000"/>
              </a:lnSpc>
              <a:spcAft>
                <a:spcPts val="300"/>
              </a:spcAft>
              <a:buNone/>
            </a:pPr>
            <a:r>
              <a:rPr lang="en-US" sz="1150" b="1" dirty="0">
                <a:solidFill>
                  <a:srgbClr val="2B3F5C"/>
                </a:solidFill>
                <a:latin typeface="Hiragino Sans" pitchFamily="34" charset="0"/>
                <a:ea typeface="Hiragino Sans" pitchFamily="34" charset="-122"/>
                <a:cs typeface="Hiragino Sans" pitchFamily="34" charset="-120"/>
              </a:rPr>
              <a:t>Q. 資金が要るのでは？</a:t>
            </a:r>
            <a:endParaRPr lang="en-US" sz="1150" dirty="0"/>
          </a:p>
          <a:p>
            <a:pPr indent="0" marL="0">
              <a:lnSpc>
                <a:spcPct val="112000"/>
              </a:lnSpc>
              <a:buNone/>
            </a:pPr>
            <a:r>
              <a:rPr lang="en-US" sz="1050" dirty="0">
                <a:solidFill>
                  <a:srgbClr val="23303F"/>
                </a:solidFill>
                <a:latin typeface="Hiragino Sans" pitchFamily="34" charset="0"/>
                <a:ea typeface="Hiragino Sans" pitchFamily="34" charset="-122"/>
                <a:cs typeface="Hiragino Sans" pitchFamily="34" charset="-120"/>
              </a:rPr>
              <a:t>月4万円・100個から取引できるメーカーも多い。現金・自己資金内で開始できる</a:t>
            </a:r>
            <a:endParaRPr lang="en-US" sz="1150" dirty="0"/>
          </a:p>
        </p:txBody>
      </p:sp>
      <p:sp>
        <p:nvSpPr>
          <p:cNvPr id="27" name="Shape 25"/>
          <p:cNvSpPr/>
          <p:nvPr/>
        </p:nvSpPr>
        <p:spPr>
          <a:xfrm>
            <a:off x="4919472" y="2697480"/>
            <a:ext cx="3520440" cy="0"/>
          </a:xfrm>
          <a:prstGeom prst="line">
            <a:avLst/>
          </a:prstGeom>
          <a:noFill/>
          <a:ln w="9525">
            <a:solidFill>
              <a:srgbClr val="E3DDD2"/>
            </a:solidFill>
            <a:prstDash val="solid"/>
          </a:ln>
        </p:spPr>
      </p:sp>
      <p:sp>
        <p:nvSpPr>
          <p:cNvPr id="28" name="Text 26"/>
          <p:cNvSpPr/>
          <p:nvPr/>
        </p:nvSpPr>
        <p:spPr>
          <a:xfrm>
            <a:off x="4919472" y="2779776"/>
            <a:ext cx="3520440" cy="841248"/>
          </a:xfrm>
          <a:prstGeom prst="rect">
            <a:avLst/>
          </a:prstGeom>
          <a:noFill/>
          <a:ln/>
        </p:spPr>
        <p:txBody>
          <a:bodyPr wrap="square" lIns="0" tIns="0" rIns="0" bIns="0" rtlCol="0" anchor="ctr"/>
          <a:lstStyle/>
          <a:p>
            <a:pPr indent="0" marL="0">
              <a:lnSpc>
                <a:spcPct val="112000"/>
              </a:lnSpc>
              <a:spcAft>
                <a:spcPts val="300"/>
              </a:spcAft>
              <a:buNone/>
            </a:pPr>
            <a:r>
              <a:rPr lang="en-US" sz="1150" b="1" dirty="0">
                <a:solidFill>
                  <a:srgbClr val="2B3F5C"/>
                </a:solidFill>
                <a:latin typeface="Hiragino Sans" pitchFamily="34" charset="0"/>
                <a:ea typeface="Hiragino Sans" pitchFamily="34" charset="-122"/>
                <a:cs typeface="Hiragino Sans" pitchFamily="34" charset="-120"/>
              </a:rPr>
              <a:t>Q. 個人は相手にされない？</a:t>
            </a:r>
            <a:endParaRPr lang="en-US" sz="1150" dirty="0"/>
          </a:p>
          <a:p>
            <a:pPr indent="0" marL="0">
              <a:lnSpc>
                <a:spcPct val="112000"/>
              </a:lnSpc>
              <a:buNone/>
            </a:pPr>
            <a:r>
              <a:rPr lang="en-US" sz="1050" dirty="0">
                <a:solidFill>
                  <a:srgbClr val="23303F"/>
                </a:solidFill>
                <a:latin typeface="Hiragino Sans" pitchFamily="34" charset="0"/>
                <a:ea typeface="Hiragino Sans" pitchFamily="34" charset="-122"/>
                <a:cs typeface="Hiragino Sans" pitchFamily="34" charset="-120"/>
              </a:rPr>
              <a:t>実践者の9割以上が個人。法人必須のメーカーは少数派</a:t>
            </a:r>
            <a:endParaRPr lang="en-US" sz="1150" dirty="0"/>
          </a:p>
        </p:txBody>
      </p:sp>
      <p:sp>
        <p:nvSpPr>
          <p:cNvPr id="29" name="Shape 27"/>
          <p:cNvSpPr/>
          <p:nvPr/>
        </p:nvSpPr>
        <p:spPr>
          <a:xfrm>
            <a:off x="4919472" y="3593592"/>
            <a:ext cx="3520440" cy="0"/>
          </a:xfrm>
          <a:prstGeom prst="line">
            <a:avLst/>
          </a:prstGeom>
          <a:noFill/>
          <a:ln w="9525">
            <a:solidFill>
              <a:srgbClr val="E3DDD2"/>
            </a:solidFill>
            <a:prstDash val="solid"/>
          </a:ln>
        </p:spPr>
      </p:sp>
      <p:sp>
        <p:nvSpPr>
          <p:cNvPr id="30" name="Text 28"/>
          <p:cNvSpPr/>
          <p:nvPr/>
        </p:nvSpPr>
        <p:spPr>
          <a:xfrm>
            <a:off x="4919472" y="3675888"/>
            <a:ext cx="3520440" cy="841248"/>
          </a:xfrm>
          <a:prstGeom prst="rect">
            <a:avLst/>
          </a:prstGeom>
          <a:noFill/>
          <a:ln/>
        </p:spPr>
        <p:txBody>
          <a:bodyPr wrap="square" lIns="0" tIns="0" rIns="0" bIns="0" rtlCol="0" anchor="ctr"/>
          <a:lstStyle/>
          <a:p>
            <a:pPr indent="0" marL="0">
              <a:lnSpc>
                <a:spcPct val="112000"/>
              </a:lnSpc>
              <a:spcAft>
                <a:spcPts val="300"/>
              </a:spcAft>
              <a:buNone/>
            </a:pPr>
            <a:r>
              <a:rPr lang="en-US" sz="1150" b="1" dirty="0">
                <a:solidFill>
                  <a:srgbClr val="2B3F5C"/>
                </a:solidFill>
                <a:latin typeface="Hiragino Sans" pitchFamily="34" charset="0"/>
                <a:ea typeface="Hiragino Sans" pitchFamily="34" charset="-122"/>
                <a:cs typeface="Hiragino Sans" pitchFamily="34" charset="-120"/>
              </a:rPr>
              <a:t>Q. ライバルが増えて値崩れ？</a:t>
            </a:r>
            <a:endParaRPr lang="en-US" sz="1150" dirty="0"/>
          </a:p>
          <a:p>
            <a:pPr indent="0" marL="0">
              <a:lnSpc>
                <a:spcPct val="112000"/>
              </a:lnSpc>
              <a:buNone/>
            </a:pPr>
            <a:r>
              <a:rPr lang="en-US" sz="1050" dirty="0">
                <a:solidFill>
                  <a:srgbClr val="23303F"/>
                </a:solidFill>
                <a:latin typeface="Hiragino Sans" pitchFamily="34" charset="0"/>
                <a:ea typeface="Hiragino Sans" pitchFamily="34" charset="-122"/>
                <a:cs typeface="Hiragino Sans" pitchFamily="34" charset="-120"/>
              </a:rPr>
              <a:t>限定化・独占で構造的に防げる。担当者交代で再チャンスもある</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INTRODUCTION</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なぜメーカーは、私たちに卸してくれるのか</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05</a:t>
            </a:r>
            <a:endParaRPr lang="en-US" sz="900" dirty="0"/>
          </a:p>
        </p:txBody>
      </p:sp>
      <p:sp>
        <p:nvSpPr>
          <p:cNvPr id="7" name="Shape 5"/>
          <p:cNvSpPr/>
          <p:nvPr/>
        </p:nvSpPr>
        <p:spPr>
          <a:xfrm>
            <a:off x="457200" y="1371600"/>
            <a:ext cx="4709160" cy="841248"/>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8" name="Shape 6"/>
          <p:cNvSpPr/>
          <p:nvPr/>
        </p:nvSpPr>
        <p:spPr>
          <a:xfrm>
            <a:off x="457200" y="1371600"/>
            <a:ext cx="82296" cy="841248"/>
          </a:xfrm>
          <a:prstGeom prst="rect">
            <a:avLst/>
          </a:prstGeom>
          <a:solidFill>
            <a:srgbClr val="D98E04"/>
          </a:solidFill>
          <a:ln/>
        </p:spPr>
      </p:sp>
      <p:sp>
        <p:nvSpPr>
          <p:cNvPr id="9" name="Text 7"/>
          <p:cNvSpPr/>
          <p:nvPr/>
        </p:nvSpPr>
        <p:spPr>
          <a:xfrm>
            <a:off x="713232" y="1481328"/>
            <a:ext cx="4297680" cy="640080"/>
          </a:xfrm>
          <a:prstGeom prst="rect">
            <a:avLst/>
          </a:prstGeom>
          <a:noFill/>
          <a:ln/>
        </p:spPr>
        <p:txBody>
          <a:bodyPr wrap="square" lIns="0" tIns="0" rIns="0" bIns="0" rtlCol="0" anchor="ctr"/>
          <a:lstStyle/>
          <a:p>
            <a:pPr indent="0" marL="0">
              <a:spcAft>
                <a:spcPts val="200"/>
              </a:spcAft>
              <a:buNone/>
            </a:pPr>
            <a:r>
              <a:rPr lang="en-US" sz="1250" b="1" dirty="0">
                <a:solidFill>
                  <a:srgbClr val="1B2A41"/>
                </a:solidFill>
                <a:latin typeface="Hiragino Sans" pitchFamily="34" charset="0"/>
                <a:ea typeface="Hiragino Sans" pitchFamily="34" charset="-122"/>
                <a:cs typeface="Hiragino Sans" pitchFamily="34" charset="-120"/>
              </a:rPr>
              <a:t>人手不足</a:t>
            </a:r>
            <a:endParaRPr lang="en-US" sz="1250" dirty="0"/>
          </a:p>
          <a:p>
            <a:pPr indent="0" marL="0">
              <a:buNone/>
            </a:pPr>
            <a:r>
              <a:rPr lang="en-US" sz="1050" dirty="0">
                <a:solidFill>
                  <a:srgbClr val="6B7280"/>
                </a:solidFill>
                <a:latin typeface="Hiragino Sans" pitchFamily="34" charset="0"/>
                <a:ea typeface="Hiragino Sans" pitchFamily="34" charset="-122"/>
                <a:cs typeface="Hiragino Sans" pitchFamily="34" charset="-120"/>
              </a:rPr>
              <a:t>B2Cの個別販売は手が回らず、費用対効果も悪い</a:t>
            </a:r>
            <a:endParaRPr lang="en-US" sz="1250" dirty="0"/>
          </a:p>
        </p:txBody>
      </p:sp>
      <p:sp>
        <p:nvSpPr>
          <p:cNvPr id="10" name="Shape 8"/>
          <p:cNvSpPr/>
          <p:nvPr/>
        </p:nvSpPr>
        <p:spPr>
          <a:xfrm>
            <a:off x="457200" y="2340864"/>
            <a:ext cx="4709160" cy="841248"/>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11" name="Shape 9"/>
          <p:cNvSpPr/>
          <p:nvPr/>
        </p:nvSpPr>
        <p:spPr>
          <a:xfrm>
            <a:off x="457200" y="2340864"/>
            <a:ext cx="82296" cy="841248"/>
          </a:xfrm>
          <a:prstGeom prst="rect">
            <a:avLst/>
          </a:prstGeom>
          <a:solidFill>
            <a:srgbClr val="D98E04"/>
          </a:solidFill>
          <a:ln/>
        </p:spPr>
      </p:sp>
      <p:sp>
        <p:nvSpPr>
          <p:cNvPr id="12" name="Text 10"/>
          <p:cNvSpPr/>
          <p:nvPr/>
        </p:nvSpPr>
        <p:spPr>
          <a:xfrm>
            <a:off x="713232" y="2450592"/>
            <a:ext cx="4297680" cy="640080"/>
          </a:xfrm>
          <a:prstGeom prst="rect">
            <a:avLst/>
          </a:prstGeom>
          <a:noFill/>
          <a:ln/>
        </p:spPr>
        <p:txBody>
          <a:bodyPr wrap="square" lIns="0" tIns="0" rIns="0" bIns="0" rtlCol="0" anchor="ctr"/>
          <a:lstStyle/>
          <a:p>
            <a:pPr indent="0" marL="0">
              <a:spcAft>
                <a:spcPts val="200"/>
              </a:spcAft>
              <a:buNone/>
            </a:pPr>
            <a:r>
              <a:rPr lang="en-US" sz="1250" b="1" dirty="0">
                <a:solidFill>
                  <a:srgbClr val="1B2A41"/>
                </a:solidFill>
                <a:latin typeface="Hiragino Sans" pitchFamily="34" charset="0"/>
                <a:ea typeface="Hiragino Sans" pitchFamily="34" charset="-122"/>
                <a:cs typeface="Hiragino Sans" pitchFamily="34" charset="-120"/>
              </a:rPr>
              <a:t>「作る」のプロ、「売る」は苦手</a:t>
            </a:r>
            <a:endParaRPr lang="en-US" sz="1250" dirty="0"/>
          </a:p>
          <a:p>
            <a:pPr indent="0" marL="0">
              <a:buNone/>
            </a:pPr>
            <a:r>
              <a:rPr lang="en-US" sz="1050" dirty="0">
                <a:solidFill>
                  <a:srgbClr val="6B7280"/>
                </a:solidFill>
                <a:latin typeface="Hiragino Sans" pitchFamily="34" charset="0"/>
                <a:ea typeface="Hiragino Sans" pitchFamily="34" charset="-122"/>
                <a:cs typeface="Hiragino Sans" pitchFamily="34" charset="-120"/>
              </a:rPr>
              <a:t>Amazon運用・販促のノウハウがない</a:t>
            </a:r>
            <a:endParaRPr lang="en-US" sz="1250" dirty="0"/>
          </a:p>
        </p:txBody>
      </p:sp>
      <p:sp>
        <p:nvSpPr>
          <p:cNvPr id="13" name="Shape 11"/>
          <p:cNvSpPr/>
          <p:nvPr/>
        </p:nvSpPr>
        <p:spPr>
          <a:xfrm>
            <a:off x="457200" y="3310128"/>
            <a:ext cx="4709160" cy="841248"/>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14" name="Shape 12"/>
          <p:cNvSpPr/>
          <p:nvPr/>
        </p:nvSpPr>
        <p:spPr>
          <a:xfrm>
            <a:off x="457200" y="3310128"/>
            <a:ext cx="82296" cy="841248"/>
          </a:xfrm>
          <a:prstGeom prst="rect">
            <a:avLst/>
          </a:prstGeom>
          <a:solidFill>
            <a:srgbClr val="D98E04"/>
          </a:solidFill>
          <a:ln/>
        </p:spPr>
      </p:sp>
      <p:sp>
        <p:nvSpPr>
          <p:cNvPr id="15" name="Text 13"/>
          <p:cNvSpPr/>
          <p:nvPr/>
        </p:nvSpPr>
        <p:spPr>
          <a:xfrm>
            <a:off x="713232" y="3419856"/>
            <a:ext cx="4297680" cy="640080"/>
          </a:xfrm>
          <a:prstGeom prst="rect">
            <a:avLst/>
          </a:prstGeom>
          <a:noFill/>
          <a:ln/>
        </p:spPr>
        <p:txBody>
          <a:bodyPr wrap="square" lIns="0" tIns="0" rIns="0" bIns="0" rtlCol="0" anchor="ctr"/>
          <a:lstStyle/>
          <a:p>
            <a:pPr indent="0" marL="0">
              <a:spcAft>
                <a:spcPts val="200"/>
              </a:spcAft>
              <a:buNone/>
            </a:pPr>
            <a:r>
              <a:rPr lang="en-US" sz="1250" b="1" dirty="0">
                <a:solidFill>
                  <a:srgbClr val="1B2A41"/>
                </a:solidFill>
                <a:latin typeface="Hiragino Sans" pitchFamily="34" charset="0"/>
                <a:ea typeface="Hiragino Sans" pitchFamily="34" charset="-122"/>
                <a:cs typeface="Hiragino Sans" pitchFamily="34" charset="-120"/>
              </a:rPr>
              <a:t>ロット卸は見通しが立つ</a:t>
            </a:r>
            <a:endParaRPr lang="en-US" sz="1250" dirty="0"/>
          </a:p>
          <a:p>
            <a:pPr indent="0" marL="0">
              <a:buNone/>
            </a:pPr>
            <a:r>
              <a:rPr lang="en-US" sz="1050" dirty="0">
                <a:solidFill>
                  <a:srgbClr val="6B7280"/>
                </a:solidFill>
                <a:latin typeface="Hiragino Sans" pitchFamily="34" charset="0"/>
                <a:ea typeface="Hiragino Sans" pitchFamily="34" charset="-122"/>
                <a:cs typeface="Hiragino Sans" pitchFamily="34" charset="-120"/>
              </a:rPr>
              <a:t>まとまった数を定期的に買う相手は生産計画上ありがたい</a:t>
            </a:r>
            <a:endParaRPr lang="en-US" sz="1250" dirty="0"/>
          </a:p>
        </p:txBody>
      </p:sp>
      <p:sp>
        <p:nvSpPr>
          <p:cNvPr id="16" name="Shape 14"/>
          <p:cNvSpPr/>
          <p:nvPr/>
        </p:nvSpPr>
        <p:spPr>
          <a:xfrm>
            <a:off x="5532120" y="1371600"/>
            <a:ext cx="3154680" cy="2907792"/>
          </a:xfrm>
          <a:prstGeom prst="rect">
            <a:avLst/>
          </a:prstGeom>
          <a:solidFill>
            <a:srgbClr val="1B2A41"/>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17" name="Text 15"/>
          <p:cNvSpPr/>
          <p:nvPr/>
        </p:nvSpPr>
        <p:spPr>
          <a:xfrm>
            <a:off x="5779008" y="1627632"/>
            <a:ext cx="2697480" cy="731520"/>
          </a:xfrm>
          <a:prstGeom prst="rect">
            <a:avLst/>
          </a:prstGeom>
          <a:noFill/>
          <a:ln/>
        </p:spPr>
        <p:txBody>
          <a:bodyPr wrap="square" lIns="0" tIns="0" rIns="0" bIns="0" rtlCol="0" anchor="ctr"/>
          <a:lstStyle/>
          <a:p>
            <a:pPr indent="0" marL="0">
              <a:lnSpc>
                <a:spcPct val="120000"/>
              </a:lnSpc>
              <a:buNone/>
            </a:pPr>
            <a:r>
              <a:rPr lang="en-US" sz="1500" b="1" dirty="0">
                <a:solidFill>
                  <a:srgbClr val="FFFFFF"/>
                </a:solidFill>
                <a:latin typeface="Hiragino Sans" pitchFamily="34" charset="0"/>
                <a:ea typeface="Hiragino Sans" pitchFamily="34" charset="-122"/>
                <a:cs typeface="Hiragino Sans" pitchFamily="34" charset="-120"/>
              </a:rPr>
              <a:t>この関係構築は</a:t>
            </a:r>
            <a:endParaRPr lang="en-US" sz="1500" dirty="0"/>
          </a:p>
          <a:p>
            <a:pPr indent="0" marL="0">
              <a:lnSpc>
                <a:spcPct val="120000"/>
              </a:lnSpc>
              <a:buNone/>
            </a:pPr>
            <a:r>
              <a:rPr lang="en-US" sz="1500" b="1" dirty="0">
                <a:solidFill>
                  <a:srgbClr val="FFFFFF"/>
                </a:solidFill>
                <a:latin typeface="Hiragino Sans" pitchFamily="34" charset="0"/>
                <a:ea typeface="Hiragino Sans" pitchFamily="34" charset="-122"/>
                <a:cs typeface="Hiragino Sans" pitchFamily="34" charset="-120"/>
              </a:rPr>
              <a:t>AIに代替されない</a:t>
            </a:r>
            <a:endParaRPr lang="en-US" sz="1500" dirty="0"/>
          </a:p>
        </p:txBody>
      </p:sp>
      <p:sp>
        <p:nvSpPr>
          <p:cNvPr id="18" name="Text 16"/>
          <p:cNvSpPr/>
          <p:nvPr/>
        </p:nvSpPr>
        <p:spPr>
          <a:xfrm>
            <a:off x="5779008" y="2395728"/>
            <a:ext cx="2606040" cy="1691640"/>
          </a:xfrm>
          <a:prstGeom prst="rect">
            <a:avLst/>
          </a:prstGeom>
          <a:noFill/>
          <a:ln/>
        </p:spPr>
        <p:txBody>
          <a:bodyPr wrap="square" lIns="0" tIns="0" rIns="0" bIns="0" rtlCol="0" anchor="ctr"/>
          <a:lstStyle/>
          <a:p>
            <a:pPr indent="0" marL="0">
              <a:lnSpc>
                <a:spcPct val="120000"/>
              </a:lnSpc>
              <a:spcAft>
                <a:spcPts val="400"/>
              </a:spcAft>
              <a:buNone/>
            </a:pPr>
            <a:r>
              <a:rPr lang="en-US" sz="1200" b="1" dirty="0">
                <a:solidFill>
                  <a:srgbClr val="C9D4E3"/>
                </a:solidFill>
                <a:latin typeface="Hiragino Sans" pitchFamily="34" charset="0"/>
                <a:ea typeface="Hiragino Sans" pitchFamily="34" charset="-122"/>
                <a:cs typeface="Hiragino Sans" pitchFamily="34" charset="-120"/>
              </a:rPr>
              <a:t>営業代行 500件 → 0成約</a:t>
            </a:r>
            <a:endParaRPr lang="en-US" sz="1200" dirty="0"/>
          </a:p>
          <a:p>
            <a:pPr indent="0" marL="0">
              <a:lnSpc>
                <a:spcPct val="120000"/>
              </a:lnSpc>
              <a:spcAft>
                <a:spcPts val="1000"/>
              </a:spcAft>
              <a:buNone/>
            </a:pPr>
            <a:r>
              <a:rPr lang="en-US" sz="1200" b="1" dirty="0">
                <a:solidFill>
                  <a:srgbClr val="F2B33D"/>
                </a:solidFill>
                <a:latin typeface="Hiragino Sans" pitchFamily="34" charset="0"/>
                <a:ea typeface="Hiragino Sans" pitchFamily="34" charset="-122"/>
                <a:cs typeface="Hiragino Sans" pitchFamily="34" charset="-120"/>
              </a:rPr>
              <a:t>本人の電話 1件 → 成約</a:t>
            </a:r>
            <a:endParaRPr lang="en-US" sz="1200" dirty="0"/>
          </a:p>
          <a:p>
            <a:pPr indent="0" marL="0">
              <a:lnSpc>
                <a:spcPct val="120000"/>
              </a:lnSpc>
              <a:buNone/>
            </a:pPr>
            <a:r>
              <a:rPr lang="en-US" sz="1050" dirty="0">
                <a:solidFill>
                  <a:srgbClr val="C9D4E3"/>
                </a:solidFill>
                <a:latin typeface="Hiragino Sans" pitchFamily="34" charset="0"/>
                <a:ea typeface="Hiragino Sans" pitchFamily="34" charset="-122"/>
                <a:cs typeface="Hiragino Sans" pitchFamily="34" charset="-120"/>
              </a:rPr>
              <a:t>人と人の信頼構築そのものが参入障壁となり、私たちの守りにもなる。</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OVERVIEW</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全体ワークフロー俯瞰 — 4ステップ＋成長3施策</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06</a:t>
            </a:r>
            <a:endParaRPr lang="en-US" sz="900" dirty="0"/>
          </a:p>
        </p:txBody>
      </p:sp>
      <p:sp>
        <p:nvSpPr>
          <p:cNvPr id="7" name="Shape 5"/>
          <p:cNvSpPr/>
          <p:nvPr/>
        </p:nvSpPr>
        <p:spPr>
          <a:xfrm>
            <a:off x="457200" y="1371600"/>
            <a:ext cx="1874520" cy="1170432"/>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8" name="Shape 6"/>
          <p:cNvSpPr/>
          <p:nvPr/>
        </p:nvSpPr>
        <p:spPr>
          <a:xfrm>
            <a:off x="621792" y="1517904"/>
            <a:ext cx="365760" cy="365760"/>
          </a:xfrm>
          <a:prstGeom prst="ellipse">
            <a:avLst/>
          </a:prstGeom>
          <a:solidFill>
            <a:srgbClr val="1B2A41"/>
          </a:solidFill>
          <a:ln/>
        </p:spPr>
      </p:sp>
      <p:sp>
        <p:nvSpPr>
          <p:cNvPr id="9" name="Text 7"/>
          <p:cNvSpPr/>
          <p:nvPr/>
        </p:nvSpPr>
        <p:spPr>
          <a:xfrm>
            <a:off x="621792" y="150418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1</a:t>
            </a:r>
            <a:endParaRPr lang="en-US" sz="1200" dirty="0"/>
          </a:p>
        </p:txBody>
      </p:sp>
      <p:sp>
        <p:nvSpPr>
          <p:cNvPr id="10" name="Text 8"/>
          <p:cNvSpPr/>
          <p:nvPr/>
        </p:nvSpPr>
        <p:spPr>
          <a:xfrm>
            <a:off x="1097280" y="1517904"/>
            <a:ext cx="1188720" cy="365760"/>
          </a:xfrm>
          <a:prstGeom prst="rect">
            <a:avLst/>
          </a:prstGeom>
          <a:noFill/>
          <a:ln/>
        </p:spPr>
        <p:txBody>
          <a:bodyPr wrap="square" lIns="0" tIns="0" rIns="0" bIns="0" rtlCol="0" anchor="ctr"/>
          <a:lstStyle/>
          <a:p>
            <a:pPr indent="0" marL="0">
              <a:buNone/>
            </a:pPr>
            <a:r>
              <a:rPr lang="en-US" sz="1350" b="1" dirty="0">
                <a:solidFill>
                  <a:srgbClr val="1B2A41"/>
                </a:solidFill>
                <a:latin typeface="Hiragino Sans" pitchFamily="34" charset="0"/>
                <a:ea typeface="Hiragino Sans" pitchFamily="34" charset="-122"/>
                <a:cs typeface="Hiragino Sans" pitchFamily="34" charset="-120"/>
              </a:rPr>
              <a:t>リサーチ</a:t>
            </a:r>
            <a:endParaRPr lang="en-US" sz="1350" dirty="0"/>
          </a:p>
        </p:txBody>
      </p:sp>
      <p:sp>
        <p:nvSpPr>
          <p:cNvPr id="11" name="Text 9"/>
          <p:cNvSpPr/>
          <p:nvPr/>
        </p:nvSpPr>
        <p:spPr>
          <a:xfrm>
            <a:off x="621792" y="1975104"/>
            <a:ext cx="1591056" cy="457200"/>
          </a:xfrm>
          <a:prstGeom prst="rect">
            <a:avLst/>
          </a:prstGeom>
          <a:noFill/>
          <a:ln/>
        </p:spPr>
        <p:txBody>
          <a:bodyPr wrap="square" lIns="0" tIns="0" rIns="0" bIns="0" rtlCol="0" anchor="ctr"/>
          <a:lstStyle/>
          <a:p>
            <a:pPr indent="0" marL="0">
              <a:buNone/>
            </a:pPr>
            <a:r>
              <a:rPr lang="en-US" sz="950" dirty="0">
                <a:solidFill>
                  <a:srgbClr val="6B7280"/>
                </a:solidFill>
                <a:latin typeface="Hiragino Sans" pitchFamily="34" charset="0"/>
                <a:ea typeface="Hiragino Sans" pitchFamily="34" charset="-122"/>
                <a:cs typeface="Hiragino Sans" pitchFamily="34" charset="-120"/>
              </a:rPr>
              <a:t>Keepaで3基準フィルタ</a:t>
            </a:r>
            <a:endParaRPr lang="en-US" sz="950" dirty="0"/>
          </a:p>
        </p:txBody>
      </p:sp>
      <p:sp>
        <p:nvSpPr>
          <p:cNvPr id="12" name="Text 10"/>
          <p:cNvSpPr/>
          <p:nvPr/>
        </p:nvSpPr>
        <p:spPr>
          <a:xfrm>
            <a:off x="2331720" y="1371600"/>
            <a:ext cx="292608" cy="1170432"/>
          </a:xfrm>
          <a:prstGeom prst="rect">
            <a:avLst/>
          </a:prstGeom>
          <a:noFill/>
          <a:ln/>
        </p:spPr>
        <p:txBody>
          <a:bodyPr wrap="square" lIns="0" tIns="0" rIns="0" bIns="0" rtlCol="0" anchor="ctr"/>
          <a:lstStyle/>
          <a:p>
            <a:pPr algn="ctr" indent="0" marL="0">
              <a:buNone/>
            </a:pPr>
            <a:r>
              <a:rPr lang="en-US" sz="1600" b="1" dirty="0">
                <a:solidFill>
                  <a:srgbClr val="D98E04"/>
                </a:solidFill>
                <a:latin typeface="Hiragino Sans" pitchFamily="34" charset="0"/>
                <a:ea typeface="Hiragino Sans" pitchFamily="34" charset="-122"/>
                <a:cs typeface="Hiragino Sans" pitchFamily="34" charset="-120"/>
              </a:rPr>
              <a:t>→</a:t>
            </a:r>
            <a:endParaRPr lang="en-US" sz="1600" dirty="0"/>
          </a:p>
        </p:txBody>
      </p:sp>
      <p:sp>
        <p:nvSpPr>
          <p:cNvPr id="13" name="Shape 11"/>
          <p:cNvSpPr/>
          <p:nvPr/>
        </p:nvSpPr>
        <p:spPr>
          <a:xfrm>
            <a:off x="2624328" y="1371600"/>
            <a:ext cx="1874520" cy="1170432"/>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14" name="Shape 12"/>
          <p:cNvSpPr/>
          <p:nvPr/>
        </p:nvSpPr>
        <p:spPr>
          <a:xfrm>
            <a:off x="2788920" y="1517904"/>
            <a:ext cx="365760" cy="365760"/>
          </a:xfrm>
          <a:prstGeom prst="ellipse">
            <a:avLst/>
          </a:prstGeom>
          <a:solidFill>
            <a:srgbClr val="1B2A41"/>
          </a:solidFill>
          <a:ln/>
        </p:spPr>
      </p:sp>
      <p:sp>
        <p:nvSpPr>
          <p:cNvPr id="15" name="Text 13"/>
          <p:cNvSpPr/>
          <p:nvPr/>
        </p:nvSpPr>
        <p:spPr>
          <a:xfrm>
            <a:off x="2788920" y="150418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2</a:t>
            </a:r>
            <a:endParaRPr lang="en-US" sz="1200" dirty="0"/>
          </a:p>
        </p:txBody>
      </p:sp>
      <p:sp>
        <p:nvSpPr>
          <p:cNvPr id="16" name="Text 14"/>
          <p:cNvSpPr/>
          <p:nvPr/>
        </p:nvSpPr>
        <p:spPr>
          <a:xfrm>
            <a:off x="3264408" y="1517904"/>
            <a:ext cx="1188720" cy="365760"/>
          </a:xfrm>
          <a:prstGeom prst="rect">
            <a:avLst/>
          </a:prstGeom>
          <a:noFill/>
          <a:ln/>
        </p:spPr>
        <p:txBody>
          <a:bodyPr wrap="square" lIns="0" tIns="0" rIns="0" bIns="0" rtlCol="0" anchor="ctr"/>
          <a:lstStyle/>
          <a:p>
            <a:pPr indent="0" marL="0">
              <a:buNone/>
            </a:pPr>
            <a:r>
              <a:rPr lang="en-US" sz="1350" b="1" dirty="0">
                <a:solidFill>
                  <a:srgbClr val="1B2A41"/>
                </a:solidFill>
                <a:latin typeface="Hiragino Sans" pitchFamily="34" charset="0"/>
                <a:ea typeface="Hiragino Sans" pitchFamily="34" charset="-122"/>
                <a:cs typeface="Hiragino Sans" pitchFamily="34" charset="-120"/>
              </a:rPr>
              <a:t>問い合わせ</a:t>
            </a:r>
            <a:endParaRPr lang="en-US" sz="1350" dirty="0"/>
          </a:p>
        </p:txBody>
      </p:sp>
      <p:sp>
        <p:nvSpPr>
          <p:cNvPr id="17" name="Text 15"/>
          <p:cNvSpPr/>
          <p:nvPr/>
        </p:nvSpPr>
        <p:spPr>
          <a:xfrm>
            <a:off x="2788920" y="1975104"/>
            <a:ext cx="1591056" cy="457200"/>
          </a:xfrm>
          <a:prstGeom prst="rect">
            <a:avLst/>
          </a:prstGeom>
          <a:noFill/>
          <a:ln/>
        </p:spPr>
        <p:txBody>
          <a:bodyPr wrap="square" lIns="0" tIns="0" rIns="0" bIns="0" rtlCol="0" anchor="ctr"/>
          <a:lstStyle/>
          <a:p>
            <a:pPr indent="0" marL="0">
              <a:buNone/>
            </a:pPr>
            <a:r>
              <a:rPr lang="en-US" sz="950" dirty="0">
                <a:solidFill>
                  <a:srgbClr val="6B7280"/>
                </a:solidFill>
                <a:latin typeface="Hiragino Sans" pitchFamily="34" charset="0"/>
                <a:ea typeface="Hiragino Sans" pitchFamily="34" charset="-122"/>
                <a:cs typeface="Hiragino Sans" pitchFamily="34" charset="-120"/>
              </a:rPr>
              <a:t>会社概要＋メール/FAX</a:t>
            </a:r>
            <a:endParaRPr lang="en-US" sz="950" dirty="0"/>
          </a:p>
        </p:txBody>
      </p:sp>
      <p:sp>
        <p:nvSpPr>
          <p:cNvPr id="18" name="Text 16"/>
          <p:cNvSpPr/>
          <p:nvPr/>
        </p:nvSpPr>
        <p:spPr>
          <a:xfrm>
            <a:off x="4498848" y="1371600"/>
            <a:ext cx="292608" cy="1170432"/>
          </a:xfrm>
          <a:prstGeom prst="rect">
            <a:avLst/>
          </a:prstGeom>
          <a:noFill/>
          <a:ln/>
        </p:spPr>
        <p:txBody>
          <a:bodyPr wrap="square" lIns="0" tIns="0" rIns="0" bIns="0" rtlCol="0" anchor="ctr"/>
          <a:lstStyle/>
          <a:p>
            <a:pPr algn="ctr" indent="0" marL="0">
              <a:buNone/>
            </a:pPr>
            <a:r>
              <a:rPr lang="en-US" sz="1600" b="1" dirty="0">
                <a:solidFill>
                  <a:srgbClr val="D98E04"/>
                </a:solidFill>
                <a:latin typeface="Hiragino Sans" pitchFamily="34" charset="0"/>
                <a:ea typeface="Hiragino Sans" pitchFamily="34" charset="-122"/>
                <a:cs typeface="Hiragino Sans" pitchFamily="34" charset="-120"/>
              </a:rPr>
              <a:t>→</a:t>
            </a:r>
            <a:endParaRPr lang="en-US" sz="1600" dirty="0"/>
          </a:p>
        </p:txBody>
      </p:sp>
      <p:sp>
        <p:nvSpPr>
          <p:cNvPr id="19" name="Shape 17"/>
          <p:cNvSpPr/>
          <p:nvPr/>
        </p:nvSpPr>
        <p:spPr>
          <a:xfrm>
            <a:off x="4791456" y="1371600"/>
            <a:ext cx="1874520" cy="1170432"/>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20" name="Shape 18"/>
          <p:cNvSpPr/>
          <p:nvPr/>
        </p:nvSpPr>
        <p:spPr>
          <a:xfrm>
            <a:off x="4956048" y="1517904"/>
            <a:ext cx="365760" cy="365760"/>
          </a:xfrm>
          <a:prstGeom prst="ellipse">
            <a:avLst/>
          </a:prstGeom>
          <a:solidFill>
            <a:srgbClr val="1B2A41"/>
          </a:solidFill>
          <a:ln/>
        </p:spPr>
      </p:sp>
      <p:sp>
        <p:nvSpPr>
          <p:cNvPr id="21" name="Text 19"/>
          <p:cNvSpPr/>
          <p:nvPr/>
        </p:nvSpPr>
        <p:spPr>
          <a:xfrm>
            <a:off x="4956048" y="150418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3</a:t>
            </a:r>
            <a:endParaRPr lang="en-US" sz="1200" dirty="0"/>
          </a:p>
        </p:txBody>
      </p:sp>
      <p:sp>
        <p:nvSpPr>
          <p:cNvPr id="22" name="Text 20"/>
          <p:cNvSpPr/>
          <p:nvPr/>
        </p:nvSpPr>
        <p:spPr>
          <a:xfrm>
            <a:off x="5431536" y="1517904"/>
            <a:ext cx="1188720" cy="365760"/>
          </a:xfrm>
          <a:prstGeom prst="rect">
            <a:avLst/>
          </a:prstGeom>
          <a:noFill/>
          <a:ln/>
        </p:spPr>
        <p:txBody>
          <a:bodyPr wrap="square" lIns="0" tIns="0" rIns="0" bIns="0" rtlCol="0" anchor="ctr"/>
          <a:lstStyle/>
          <a:p>
            <a:pPr indent="0" marL="0">
              <a:buNone/>
            </a:pPr>
            <a:r>
              <a:rPr lang="en-US" sz="1350" b="1" dirty="0">
                <a:solidFill>
                  <a:srgbClr val="1B2A41"/>
                </a:solidFill>
                <a:latin typeface="Hiragino Sans" pitchFamily="34" charset="0"/>
                <a:ea typeface="Hiragino Sans" pitchFamily="34" charset="-122"/>
                <a:cs typeface="Hiragino Sans" pitchFamily="34" charset="-120"/>
              </a:rPr>
              <a:t>仕入れ判断</a:t>
            </a:r>
            <a:endParaRPr lang="en-US" sz="1350" dirty="0"/>
          </a:p>
        </p:txBody>
      </p:sp>
      <p:sp>
        <p:nvSpPr>
          <p:cNvPr id="23" name="Text 21"/>
          <p:cNvSpPr/>
          <p:nvPr/>
        </p:nvSpPr>
        <p:spPr>
          <a:xfrm>
            <a:off x="4956048" y="1975104"/>
            <a:ext cx="1591056" cy="457200"/>
          </a:xfrm>
          <a:prstGeom prst="rect">
            <a:avLst/>
          </a:prstGeom>
          <a:noFill/>
          <a:ln/>
        </p:spPr>
        <p:txBody>
          <a:bodyPr wrap="square" lIns="0" tIns="0" rIns="0" bIns="0" rtlCol="0" anchor="ctr"/>
          <a:lstStyle/>
          <a:p>
            <a:pPr indent="0" marL="0">
              <a:buNone/>
            </a:pPr>
            <a:r>
              <a:rPr lang="en-US" sz="950" dirty="0">
                <a:solidFill>
                  <a:srgbClr val="6B7280"/>
                </a:solidFill>
                <a:latin typeface="Hiragino Sans" pitchFamily="34" charset="0"/>
                <a:ea typeface="Hiragino Sans" pitchFamily="34" charset="-122"/>
                <a:cs typeface="Hiragino Sans" pitchFamily="34" charset="-120"/>
              </a:rPr>
              <a:t>35%概算＋月販確認</a:t>
            </a:r>
            <a:endParaRPr lang="en-US" sz="950" dirty="0"/>
          </a:p>
        </p:txBody>
      </p:sp>
      <p:sp>
        <p:nvSpPr>
          <p:cNvPr id="24" name="Text 22"/>
          <p:cNvSpPr/>
          <p:nvPr/>
        </p:nvSpPr>
        <p:spPr>
          <a:xfrm>
            <a:off x="6665976" y="1371600"/>
            <a:ext cx="292608" cy="1170432"/>
          </a:xfrm>
          <a:prstGeom prst="rect">
            <a:avLst/>
          </a:prstGeom>
          <a:noFill/>
          <a:ln/>
        </p:spPr>
        <p:txBody>
          <a:bodyPr wrap="square" lIns="0" tIns="0" rIns="0" bIns="0" rtlCol="0" anchor="ctr"/>
          <a:lstStyle/>
          <a:p>
            <a:pPr algn="ctr" indent="0" marL="0">
              <a:buNone/>
            </a:pPr>
            <a:r>
              <a:rPr lang="en-US" sz="1600" b="1" dirty="0">
                <a:solidFill>
                  <a:srgbClr val="D98E04"/>
                </a:solidFill>
                <a:latin typeface="Hiragino Sans" pitchFamily="34" charset="0"/>
                <a:ea typeface="Hiragino Sans" pitchFamily="34" charset="-122"/>
                <a:cs typeface="Hiragino Sans" pitchFamily="34" charset="-120"/>
              </a:rPr>
              <a:t>→</a:t>
            </a:r>
            <a:endParaRPr lang="en-US" sz="1600" dirty="0"/>
          </a:p>
        </p:txBody>
      </p:sp>
      <p:sp>
        <p:nvSpPr>
          <p:cNvPr id="25" name="Shape 23"/>
          <p:cNvSpPr/>
          <p:nvPr/>
        </p:nvSpPr>
        <p:spPr>
          <a:xfrm>
            <a:off x="6958584" y="1371600"/>
            <a:ext cx="1874520" cy="1170432"/>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26" name="Shape 24"/>
          <p:cNvSpPr/>
          <p:nvPr/>
        </p:nvSpPr>
        <p:spPr>
          <a:xfrm>
            <a:off x="7123176" y="1517904"/>
            <a:ext cx="365760" cy="365760"/>
          </a:xfrm>
          <a:prstGeom prst="ellipse">
            <a:avLst/>
          </a:prstGeom>
          <a:solidFill>
            <a:srgbClr val="1B2A41"/>
          </a:solidFill>
          <a:ln/>
        </p:spPr>
      </p:sp>
      <p:sp>
        <p:nvSpPr>
          <p:cNvPr id="27" name="Text 25"/>
          <p:cNvSpPr/>
          <p:nvPr/>
        </p:nvSpPr>
        <p:spPr>
          <a:xfrm>
            <a:off x="7123176" y="150418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4</a:t>
            </a:r>
            <a:endParaRPr lang="en-US" sz="1200" dirty="0"/>
          </a:p>
        </p:txBody>
      </p:sp>
      <p:sp>
        <p:nvSpPr>
          <p:cNvPr id="28" name="Text 26"/>
          <p:cNvSpPr/>
          <p:nvPr/>
        </p:nvSpPr>
        <p:spPr>
          <a:xfrm>
            <a:off x="7598664" y="1517904"/>
            <a:ext cx="1188720" cy="365760"/>
          </a:xfrm>
          <a:prstGeom prst="rect">
            <a:avLst/>
          </a:prstGeom>
          <a:noFill/>
          <a:ln/>
        </p:spPr>
        <p:txBody>
          <a:bodyPr wrap="square" lIns="0" tIns="0" rIns="0" bIns="0" rtlCol="0" anchor="ctr"/>
          <a:lstStyle/>
          <a:p>
            <a:pPr indent="0" marL="0">
              <a:buNone/>
            </a:pPr>
            <a:r>
              <a:rPr lang="en-US" sz="1350" b="1" dirty="0">
                <a:solidFill>
                  <a:srgbClr val="1B2A41"/>
                </a:solidFill>
                <a:latin typeface="Hiragino Sans" pitchFamily="34" charset="0"/>
                <a:ea typeface="Hiragino Sans" pitchFamily="34" charset="-122"/>
                <a:cs typeface="Hiragino Sans" pitchFamily="34" charset="-120"/>
              </a:rPr>
              <a:t>管理</a:t>
            </a:r>
            <a:endParaRPr lang="en-US" sz="1350" dirty="0"/>
          </a:p>
        </p:txBody>
      </p:sp>
      <p:sp>
        <p:nvSpPr>
          <p:cNvPr id="29" name="Text 27"/>
          <p:cNvSpPr/>
          <p:nvPr/>
        </p:nvSpPr>
        <p:spPr>
          <a:xfrm>
            <a:off x="7123176" y="1975104"/>
            <a:ext cx="1591056" cy="457200"/>
          </a:xfrm>
          <a:prstGeom prst="rect">
            <a:avLst/>
          </a:prstGeom>
          <a:noFill/>
          <a:ln/>
        </p:spPr>
        <p:txBody>
          <a:bodyPr wrap="square" lIns="0" tIns="0" rIns="0" bIns="0" rtlCol="0" anchor="ctr"/>
          <a:lstStyle/>
          <a:p>
            <a:pPr indent="0" marL="0">
              <a:buNone/>
            </a:pPr>
            <a:r>
              <a:rPr lang="en-US" sz="950" dirty="0">
                <a:solidFill>
                  <a:srgbClr val="6B7280"/>
                </a:solidFill>
                <a:latin typeface="Hiragino Sans" pitchFamily="34" charset="0"/>
                <a:ea typeface="Hiragino Sans" pitchFamily="34" charset="-122"/>
                <a:cs typeface="Hiragino Sans" pitchFamily="34" charset="-120"/>
              </a:rPr>
              <a:t>在庫1.5倍＋リピート</a:t>
            </a:r>
            <a:endParaRPr lang="en-US" sz="950" dirty="0"/>
          </a:p>
        </p:txBody>
      </p:sp>
      <p:sp>
        <p:nvSpPr>
          <p:cNvPr id="30" name="Text 28"/>
          <p:cNvSpPr/>
          <p:nvPr/>
        </p:nvSpPr>
        <p:spPr>
          <a:xfrm>
            <a:off x="457200" y="2633472"/>
            <a:ext cx="8229600" cy="256032"/>
          </a:xfrm>
          <a:prstGeom prst="rect">
            <a:avLst/>
          </a:prstGeom>
          <a:noFill/>
          <a:ln/>
        </p:spPr>
        <p:txBody>
          <a:bodyPr wrap="square" lIns="0" tIns="0" rIns="0" bIns="0" rtlCol="0" anchor="ctr"/>
          <a:lstStyle/>
          <a:p>
            <a:pPr indent="0" marL="0">
              <a:buNone/>
            </a:pPr>
            <a:r>
              <a:rPr lang="en-US" sz="1000" i="1" dirty="0">
                <a:solidFill>
                  <a:srgbClr val="6B7280"/>
                </a:solidFill>
                <a:latin typeface="Hiragino Sans" pitchFamily="34" charset="0"/>
                <a:ea typeface="Hiragino Sans" pitchFamily="34" charset="-122"/>
                <a:cs typeface="Hiragino Sans" pitchFamily="34" charset="-120"/>
              </a:rPr>
              <a:t>毎日〜毎週、この4ステップを基準どおりに回す</a:t>
            </a:r>
            <a:endParaRPr lang="en-US" sz="1000" dirty="0"/>
          </a:p>
        </p:txBody>
      </p:sp>
      <p:sp>
        <p:nvSpPr>
          <p:cNvPr id="31" name="Shape 29"/>
          <p:cNvSpPr/>
          <p:nvPr/>
        </p:nvSpPr>
        <p:spPr>
          <a:xfrm>
            <a:off x="457200" y="3063240"/>
            <a:ext cx="8229600" cy="1371600"/>
          </a:xfrm>
          <a:prstGeom prst="rect">
            <a:avLst/>
          </a:prstGeom>
          <a:solidFill>
            <a:srgbClr val="1B2A41"/>
          </a:solidFill>
          <a:ln/>
          <a:effectLst>
            <a:outerShdw sx="100000" sy="100000" kx="0" ky="0" algn="bl" rotWithShape="0" blurRad="88900" dist="25400" dir="8100000">
              <a:srgbClr val="1B2A41">
                <a:alpha val="14000"/>
              </a:srgbClr>
            </a:outerShdw>
          </a:effectLst>
        </p:spPr>
      </p:sp>
      <p:sp>
        <p:nvSpPr>
          <p:cNvPr id="32" name="Text 30"/>
          <p:cNvSpPr/>
          <p:nvPr/>
        </p:nvSpPr>
        <p:spPr>
          <a:xfrm>
            <a:off x="713232" y="3200400"/>
            <a:ext cx="4572000" cy="274320"/>
          </a:xfrm>
          <a:prstGeom prst="rect">
            <a:avLst/>
          </a:prstGeom>
          <a:noFill/>
          <a:ln/>
        </p:spPr>
        <p:txBody>
          <a:bodyPr wrap="square" lIns="0" tIns="0" rIns="0" bIns="0" rtlCol="0" anchor="ctr"/>
          <a:lstStyle/>
          <a:p>
            <a:pPr indent="0" marL="0">
              <a:buNone/>
            </a:pPr>
            <a:r>
              <a:rPr lang="en-US" sz="1100" b="1" spc="100" kern="0" dirty="0">
                <a:solidFill>
                  <a:srgbClr val="F2B33D"/>
                </a:solidFill>
                <a:latin typeface="Hiragino Sans" pitchFamily="34" charset="0"/>
                <a:ea typeface="Hiragino Sans" pitchFamily="34" charset="-122"/>
                <a:cs typeface="Hiragino Sans" pitchFamily="34" charset="-120"/>
              </a:rPr>
              <a:t>軌道に乗ったら — 成長3施策</a:t>
            </a:r>
            <a:endParaRPr lang="en-US" sz="1100" dirty="0"/>
          </a:p>
        </p:txBody>
      </p:sp>
      <p:sp>
        <p:nvSpPr>
          <p:cNvPr id="33" name="Shape 31"/>
          <p:cNvSpPr/>
          <p:nvPr/>
        </p:nvSpPr>
        <p:spPr>
          <a:xfrm>
            <a:off x="713232" y="3584448"/>
            <a:ext cx="329184" cy="329184"/>
          </a:xfrm>
          <a:prstGeom prst="ellipse">
            <a:avLst/>
          </a:prstGeom>
          <a:solidFill>
            <a:srgbClr val="D98E04"/>
          </a:solidFill>
          <a:ln/>
        </p:spPr>
      </p:sp>
      <p:sp>
        <p:nvSpPr>
          <p:cNvPr id="34" name="Text 32"/>
          <p:cNvSpPr/>
          <p:nvPr/>
        </p:nvSpPr>
        <p:spPr>
          <a:xfrm>
            <a:off x="713232" y="35707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5</a:t>
            </a:r>
            <a:endParaRPr lang="en-US" sz="1200" dirty="0"/>
          </a:p>
        </p:txBody>
      </p:sp>
      <p:sp>
        <p:nvSpPr>
          <p:cNvPr id="35" name="Text 33"/>
          <p:cNvSpPr/>
          <p:nvPr/>
        </p:nvSpPr>
        <p:spPr>
          <a:xfrm>
            <a:off x="1152144" y="3529584"/>
            <a:ext cx="2148840" cy="822960"/>
          </a:xfrm>
          <a:prstGeom prst="rect">
            <a:avLst/>
          </a:prstGeom>
          <a:noFill/>
          <a:ln/>
        </p:spPr>
        <p:txBody>
          <a:bodyPr wrap="square" lIns="0" tIns="0" rIns="0" bIns="0" rtlCol="0" anchor="ctr"/>
          <a:lstStyle/>
          <a:p>
            <a:pPr indent="0" marL="0">
              <a:spcAft>
                <a:spcPts val="200"/>
              </a:spcAft>
              <a:buNone/>
            </a:pPr>
            <a:r>
              <a:rPr lang="en-US" sz="1250" b="1" dirty="0">
                <a:solidFill>
                  <a:srgbClr val="FFFFFF"/>
                </a:solidFill>
                <a:latin typeface="Hiragino Sans" pitchFamily="34" charset="0"/>
                <a:ea typeface="Hiragino Sans" pitchFamily="34" charset="-122"/>
                <a:cs typeface="Hiragino Sans" pitchFamily="34" charset="-120"/>
              </a:rPr>
              <a:t>外注化</a:t>
            </a:r>
            <a:endParaRPr lang="en-US" sz="1250" dirty="0"/>
          </a:p>
          <a:p>
            <a:pPr indent="0" marL="0">
              <a:buNone/>
            </a:pPr>
            <a:r>
              <a:rPr lang="en-US" sz="950" dirty="0">
                <a:solidFill>
                  <a:srgbClr val="C9D4E3"/>
                </a:solidFill>
                <a:latin typeface="Hiragino Sans" pitchFamily="34" charset="0"/>
                <a:ea typeface="Hiragino Sans" pitchFamily="34" charset="-122"/>
                <a:cs typeface="Hiragino Sans" pitchFamily="34" charset="-120"/>
              </a:rPr>
              <a:t>WAM NETで月51時間を創出</a:t>
            </a:r>
            <a:endParaRPr lang="en-US" sz="1250" dirty="0"/>
          </a:p>
        </p:txBody>
      </p:sp>
      <p:sp>
        <p:nvSpPr>
          <p:cNvPr id="36" name="Shape 34"/>
          <p:cNvSpPr/>
          <p:nvPr/>
        </p:nvSpPr>
        <p:spPr>
          <a:xfrm>
            <a:off x="3410712" y="3584448"/>
            <a:ext cx="329184" cy="329184"/>
          </a:xfrm>
          <a:prstGeom prst="ellipse">
            <a:avLst/>
          </a:prstGeom>
          <a:solidFill>
            <a:srgbClr val="D98E04"/>
          </a:solidFill>
          <a:ln/>
        </p:spPr>
      </p:sp>
      <p:sp>
        <p:nvSpPr>
          <p:cNvPr id="37" name="Text 35"/>
          <p:cNvSpPr/>
          <p:nvPr/>
        </p:nvSpPr>
        <p:spPr>
          <a:xfrm>
            <a:off x="3410712" y="35707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6</a:t>
            </a:r>
            <a:endParaRPr lang="en-US" sz="1200" dirty="0"/>
          </a:p>
        </p:txBody>
      </p:sp>
      <p:sp>
        <p:nvSpPr>
          <p:cNvPr id="38" name="Text 36"/>
          <p:cNvSpPr/>
          <p:nvPr/>
        </p:nvSpPr>
        <p:spPr>
          <a:xfrm>
            <a:off x="3849624" y="3529584"/>
            <a:ext cx="2148840" cy="822960"/>
          </a:xfrm>
          <a:prstGeom prst="rect">
            <a:avLst/>
          </a:prstGeom>
          <a:noFill/>
          <a:ln/>
        </p:spPr>
        <p:txBody>
          <a:bodyPr wrap="square" lIns="0" tIns="0" rIns="0" bIns="0" rtlCol="0" anchor="ctr"/>
          <a:lstStyle/>
          <a:p>
            <a:pPr indent="0" marL="0">
              <a:spcAft>
                <a:spcPts val="200"/>
              </a:spcAft>
              <a:buNone/>
            </a:pPr>
            <a:r>
              <a:rPr lang="en-US" sz="1250" b="1" dirty="0">
                <a:solidFill>
                  <a:srgbClr val="FFFFFF"/>
                </a:solidFill>
                <a:latin typeface="Hiragino Sans" pitchFamily="34" charset="0"/>
                <a:ea typeface="Hiragino Sans" pitchFamily="34" charset="-122"/>
                <a:cs typeface="Hiragino Sans" pitchFamily="34" charset="-120"/>
              </a:rPr>
              <a:t>融資</a:t>
            </a:r>
            <a:endParaRPr lang="en-US" sz="1250" dirty="0"/>
          </a:p>
          <a:p>
            <a:pPr indent="0" marL="0">
              <a:buNone/>
            </a:pPr>
            <a:r>
              <a:rPr lang="en-US" sz="950" dirty="0">
                <a:solidFill>
                  <a:srgbClr val="C9D4E3"/>
                </a:solidFill>
                <a:latin typeface="Hiragino Sans" pitchFamily="34" charset="0"/>
                <a:ea typeface="Hiragino Sans" pitchFamily="34" charset="-122"/>
                <a:cs typeface="Hiragino Sans" pitchFamily="34" charset="-120"/>
              </a:rPr>
              <a:t>売上100万実績→資金2〜3倍</a:t>
            </a:r>
            <a:endParaRPr lang="en-US" sz="1250" dirty="0"/>
          </a:p>
        </p:txBody>
      </p:sp>
      <p:sp>
        <p:nvSpPr>
          <p:cNvPr id="39" name="Shape 37"/>
          <p:cNvSpPr/>
          <p:nvPr/>
        </p:nvSpPr>
        <p:spPr>
          <a:xfrm>
            <a:off x="6108192" y="3584448"/>
            <a:ext cx="329184" cy="329184"/>
          </a:xfrm>
          <a:prstGeom prst="ellipse">
            <a:avLst/>
          </a:prstGeom>
          <a:solidFill>
            <a:srgbClr val="D98E04"/>
          </a:solidFill>
          <a:ln/>
        </p:spPr>
      </p:sp>
      <p:sp>
        <p:nvSpPr>
          <p:cNvPr id="40" name="Text 38"/>
          <p:cNvSpPr/>
          <p:nvPr/>
        </p:nvSpPr>
        <p:spPr>
          <a:xfrm>
            <a:off x="6108192" y="35707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7</a:t>
            </a:r>
            <a:endParaRPr lang="en-US" sz="1200" dirty="0"/>
          </a:p>
        </p:txBody>
      </p:sp>
      <p:sp>
        <p:nvSpPr>
          <p:cNvPr id="41" name="Text 39"/>
          <p:cNvSpPr/>
          <p:nvPr/>
        </p:nvSpPr>
        <p:spPr>
          <a:xfrm>
            <a:off x="6547104" y="3529584"/>
            <a:ext cx="2148840" cy="822960"/>
          </a:xfrm>
          <a:prstGeom prst="rect">
            <a:avLst/>
          </a:prstGeom>
          <a:noFill/>
          <a:ln/>
        </p:spPr>
        <p:txBody>
          <a:bodyPr wrap="square" lIns="0" tIns="0" rIns="0" bIns="0" rtlCol="0" anchor="ctr"/>
          <a:lstStyle/>
          <a:p>
            <a:pPr indent="0" marL="0">
              <a:spcAft>
                <a:spcPts val="200"/>
              </a:spcAft>
              <a:buNone/>
            </a:pPr>
            <a:r>
              <a:rPr lang="en-US" sz="1250" b="1" dirty="0">
                <a:solidFill>
                  <a:srgbClr val="FFFFFF"/>
                </a:solidFill>
                <a:latin typeface="Hiragino Sans" pitchFamily="34" charset="0"/>
                <a:ea typeface="Hiragino Sans" pitchFamily="34" charset="-122"/>
                <a:cs typeface="Hiragino Sans" pitchFamily="34" charset="-120"/>
              </a:rPr>
              <a:t>限定化・独占</a:t>
            </a:r>
            <a:endParaRPr lang="en-US" sz="1250" dirty="0"/>
          </a:p>
          <a:p>
            <a:pPr indent="0" marL="0">
              <a:buNone/>
            </a:pPr>
            <a:r>
              <a:rPr lang="en-US" sz="950" dirty="0">
                <a:solidFill>
                  <a:srgbClr val="C9D4E3"/>
                </a:solidFill>
                <a:latin typeface="Hiragino Sans" pitchFamily="34" charset="0"/>
                <a:ea typeface="Hiragino Sans" pitchFamily="34" charset="-122"/>
                <a:cs typeface="Hiragino Sans" pitchFamily="34" charset="-120"/>
              </a:rPr>
              <a:t>卸先制限で値崩れを封じる</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STEP 1 — リサーチ</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リサーチ基準はたった3つ</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07</a:t>
            </a:r>
            <a:endParaRPr lang="en-US" sz="900" dirty="0"/>
          </a:p>
        </p:txBody>
      </p:sp>
      <p:sp>
        <p:nvSpPr>
          <p:cNvPr id="7" name="Shape 5"/>
          <p:cNvSpPr/>
          <p:nvPr/>
        </p:nvSpPr>
        <p:spPr>
          <a:xfrm>
            <a:off x="457200" y="1371600"/>
            <a:ext cx="2587752" cy="2395728"/>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8" name="Shape 6"/>
          <p:cNvSpPr/>
          <p:nvPr/>
        </p:nvSpPr>
        <p:spPr>
          <a:xfrm>
            <a:off x="676656" y="1591056"/>
            <a:ext cx="420624" cy="420624"/>
          </a:xfrm>
          <a:prstGeom prst="ellipse">
            <a:avLst/>
          </a:prstGeom>
          <a:solidFill>
            <a:srgbClr val="1B2A41"/>
          </a:solidFill>
          <a:ln/>
        </p:spPr>
      </p:sp>
      <p:sp>
        <p:nvSpPr>
          <p:cNvPr id="9" name="Text 7"/>
          <p:cNvSpPr/>
          <p:nvPr/>
        </p:nvSpPr>
        <p:spPr>
          <a:xfrm>
            <a:off x="676656" y="15773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Hiragino Sans" pitchFamily="34" charset="0"/>
                <a:ea typeface="Hiragino Sans" pitchFamily="34" charset="-122"/>
                <a:cs typeface="Hiragino Sans" pitchFamily="34" charset="-120"/>
              </a:rPr>
              <a:t>1</a:t>
            </a:r>
            <a:endParaRPr lang="en-US" sz="1500" dirty="0"/>
          </a:p>
        </p:txBody>
      </p:sp>
      <p:sp>
        <p:nvSpPr>
          <p:cNvPr id="10" name="Text 8"/>
          <p:cNvSpPr/>
          <p:nvPr/>
        </p:nvSpPr>
        <p:spPr>
          <a:xfrm>
            <a:off x="676656" y="2139696"/>
            <a:ext cx="2194560" cy="685800"/>
          </a:xfrm>
          <a:prstGeom prst="rect">
            <a:avLst/>
          </a:prstGeom>
          <a:noFill/>
          <a:ln/>
        </p:spPr>
        <p:txBody>
          <a:bodyPr wrap="square" lIns="0" tIns="0" rIns="0" bIns="0" rtlCol="0" anchor="ctr"/>
          <a:lstStyle/>
          <a:p>
            <a:pPr indent="0" marL="0">
              <a:lnSpc>
                <a:spcPct val="110000"/>
              </a:lnSpc>
              <a:buNone/>
            </a:pPr>
            <a:r>
              <a:rPr lang="en-US" sz="1450" b="1" dirty="0">
                <a:solidFill>
                  <a:srgbClr val="1B2A41"/>
                </a:solidFill>
                <a:latin typeface="Hiragino Sans" pitchFamily="34" charset="0"/>
                <a:ea typeface="Hiragino Sans" pitchFamily="34" charset="-122"/>
                <a:cs typeface="Hiragino Sans" pitchFamily="34" charset="-120"/>
              </a:rPr>
              <a:t>Amazon本体が</a:t>
            </a:r>
            <a:endParaRPr lang="en-US" sz="1450" dirty="0"/>
          </a:p>
          <a:p>
            <a:pPr indent="0" marL="0">
              <a:lnSpc>
                <a:spcPct val="110000"/>
              </a:lnSpc>
              <a:buNone/>
            </a:pPr>
            <a:r>
              <a:rPr lang="en-US" sz="1450" b="1" dirty="0">
                <a:solidFill>
                  <a:srgbClr val="1B2A41"/>
                </a:solidFill>
                <a:latin typeface="Hiragino Sans" pitchFamily="34" charset="0"/>
                <a:ea typeface="Hiragino Sans" pitchFamily="34" charset="-122"/>
                <a:cs typeface="Hiragino Sans" pitchFamily="34" charset="-120"/>
              </a:rPr>
              <a:t>出品していない</a:t>
            </a:r>
            <a:endParaRPr lang="en-US" sz="1450" dirty="0"/>
          </a:p>
        </p:txBody>
      </p:sp>
      <p:sp>
        <p:nvSpPr>
          <p:cNvPr id="11" name="Text 9"/>
          <p:cNvSpPr/>
          <p:nvPr/>
        </p:nvSpPr>
        <p:spPr>
          <a:xfrm>
            <a:off x="676656" y="2907792"/>
            <a:ext cx="2194560" cy="777240"/>
          </a:xfrm>
          <a:prstGeom prst="rect">
            <a:avLst/>
          </a:prstGeom>
          <a:noFill/>
          <a:ln/>
        </p:spPr>
        <p:txBody>
          <a:bodyPr wrap="square" lIns="0" tIns="0" rIns="0" bIns="0" rtlCol="0" anchor="ctr"/>
          <a:lstStyle/>
          <a:p>
            <a:pPr indent="0" marL="0">
              <a:lnSpc>
                <a:spcPct val="115000"/>
              </a:lnSpc>
              <a:buNone/>
            </a:pPr>
            <a:r>
              <a:rPr lang="en-US" sz="1000" dirty="0">
                <a:solidFill>
                  <a:srgbClr val="6B7280"/>
                </a:solidFill>
                <a:latin typeface="Hiragino Sans" pitchFamily="34" charset="0"/>
                <a:ea typeface="Hiragino Sans" pitchFamily="34" charset="-122"/>
                <a:cs typeface="Hiragino Sans" pitchFamily="34" charset="-120"/>
              </a:rPr>
              <a:t>本体がいる商品はカートが取れず勝負にならない</a:t>
            </a:r>
            <a:endParaRPr lang="en-US" sz="1000" dirty="0"/>
          </a:p>
        </p:txBody>
      </p:sp>
      <p:sp>
        <p:nvSpPr>
          <p:cNvPr id="12" name="Shape 10"/>
          <p:cNvSpPr/>
          <p:nvPr/>
        </p:nvSpPr>
        <p:spPr>
          <a:xfrm>
            <a:off x="3264408" y="1371600"/>
            <a:ext cx="2587752" cy="2395728"/>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13" name="Shape 11"/>
          <p:cNvSpPr/>
          <p:nvPr/>
        </p:nvSpPr>
        <p:spPr>
          <a:xfrm>
            <a:off x="3483864" y="1591056"/>
            <a:ext cx="420624" cy="420624"/>
          </a:xfrm>
          <a:prstGeom prst="ellipse">
            <a:avLst/>
          </a:prstGeom>
          <a:solidFill>
            <a:srgbClr val="1B2A41"/>
          </a:solidFill>
          <a:ln/>
        </p:spPr>
      </p:sp>
      <p:sp>
        <p:nvSpPr>
          <p:cNvPr id="14" name="Text 12"/>
          <p:cNvSpPr/>
          <p:nvPr/>
        </p:nvSpPr>
        <p:spPr>
          <a:xfrm>
            <a:off x="3483864" y="15773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Hiragino Sans" pitchFamily="34" charset="0"/>
                <a:ea typeface="Hiragino Sans" pitchFamily="34" charset="-122"/>
                <a:cs typeface="Hiragino Sans" pitchFamily="34" charset="-120"/>
              </a:rPr>
              <a:t>2</a:t>
            </a:r>
            <a:endParaRPr lang="en-US" sz="1500" dirty="0"/>
          </a:p>
        </p:txBody>
      </p:sp>
      <p:sp>
        <p:nvSpPr>
          <p:cNvPr id="15" name="Text 13"/>
          <p:cNvSpPr/>
          <p:nvPr/>
        </p:nvSpPr>
        <p:spPr>
          <a:xfrm>
            <a:off x="3483864" y="2139696"/>
            <a:ext cx="2194560" cy="685800"/>
          </a:xfrm>
          <a:prstGeom prst="rect">
            <a:avLst/>
          </a:prstGeom>
          <a:noFill/>
          <a:ln/>
        </p:spPr>
        <p:txBody>
          <a:bodyPr wrap="square" lIns="0" tIns="0" rIns="0" bIns="0" rtlCol="0" anchor="ctr"/>
          <a:lstStyle/>
          <a:p>
            <a:pPr indent="0" marL="0">
              <a:lnSpc>
                <a:spcPct val="110000"/>
              </a:lnSpc>
              <a:buNone/>
            </a:pPr>
            <a:r>
              <a:rPr lang="en-US" sz="1450" b="1" dirty="0">
                <a:solidFill>
                  <a:srgbClr val="1B2A41"/>
                </a:solidFill>
                <a:latin typeface="Hiragino Sans" pitchFamily="34" charset="0"/>
                <a:ea typeface="Hiragino Sans" pitchFamily="34" charset="-122"/>
                <a:cs typeface="Hiragino Sans" pitchFamily="34" charset="-120"/>
              </a:rPr>
              <a:t>売れ筋ランキング</a:t>
            </a:r>
            <a:endParaRPr lang="en-US" sz="1450" dirty="0"/>
          </a:p>
          <a:p>
            <a:pPr indent="0" marL="0">
              <a:lnSpc>
                <a:spcPct val="110000"/>
              </a:lnSpc>
              <a:buNone/>
            </a:pPr>
            <a:r>
              <a:rPr lang="en-US" sz="1450" b="1" dirty="0">
                <a:solidFill>
                  <a:srgbClr val="1B2A41"/>
                </a:solidFill>
                <a:latin typeface="Hiragino Sans" pitchFamily="34" charset="0"/>
                <a:ea typeface="Hiragino Sans" pitchFamily="34" charset="-122"/>
                <a:cs typeface="Hiragino Sans" pitchFamily="34" charset="-120"/>
              </a:rPr>
              <a:t>5万位以内</a:t>
            </a:r>
            <a:endParaRPr lang="en-US" sz="1450" dirty="0"/>
          </a:p>
        </p:txBody>
      </p:sp>
      <p:sp>
        <p:nvSpPr>
          <p:cNvPr id="16" name="Text 14"/>
          <p:cNvSpPr/>
          <p:nvPr/>
        </p:nvSpPr>
        <p:spPr>
          <a:xfrm>
            <a:off x="3483864" y="2907792"/>
            <a:ext cx="2194560" cy="777240"/>
          </a:xfrm>
          <a:prstGeom prst="rect">
            <a:avLst/>
          </a:prstGeom>
          <a:noFill/>
          <a:ln/>
        </p:spPr>
        <p:txBody>
          <a:bodyPr wrap="square" lIns="0" tIns="0" rIns="0" bIns="0" rtlCol="0" anchor="ctr"/>
          <a:lstStyle/>
          <a:p>
            <a:pPr indent="0" marL="0">
              <a:lnSpc>
                <a:spcPct val="115000"/>
              </a:lnSpc>
              <a:buNone/>
            </a:pPr>
            <a:r>
              <a:rPr lang="en-US" sz="1000" dirty="0">
                <a:solidFill>
                  <a:srgbClr val="6B7280"/>
                </a:solidFill>
                <a:latin typeface="Hiragino Sans" pitchFamily="34" charset="0"/>
                <a:ea typeface="Hiragino Sans" pitchFamily="34" charset="-122"/>
                <a:cs typeface="Hiragino Sans" pitchFamily="34" charset="-120"/>
              </a:rPr>
              <a:t>「ちゃんと売れている商品」の足切りライン（1〜50,000位）</a:t>
            </a:r>
            <a:endParaRPr lang="en-US" sz="1000" dirty="0"/>
          </a:p>
        </p:txBody>
      </p:sp>
      <p:sp>
        <p:nvSpPr>
          <p:cNvPr id="17" name="Shape 15"/>
          <p:cNvSpPr/>
          <p:nvPr/>
        </p:nvSpPr>
        <p:spPr>
          <a:xfrm>
            <a:off x="6071616" y="1371600"/>
            <a:ext cx="2587752" cy="2395728"/>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18" name="Shape 16"/>
          <p:cNvSpPr/>
          <p:nvPr/>
        </p:nvSpPr>
        <p:spPr>
          <a:xfrm>
            <a:off x="6291072" y="1591056"/>
            <a:ext cx="420624" cy="420624"/>
          </a:xfrm>
          <a:prstGeom prst="ellipse">
            <a:avLst/>
          </a:prstGeom>
          <a:solidFill>
            <a:srgbClr val="1B2A41"/>
          </a:solidFill>
          <a:ln/>
        </p:spPr>
      </p:sp>
      <p:sp>
        <p:nvSpPr>
          <p:cNvPr id="19" name="Text 17"/>
          <p:cNvSpPr/>
          <p:nvPr/>
        </p:nvSpPr>
        <p:spPr>
          <a:xfrm>
            <a:off x="6291072" y="15773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Hiragino Sans" pitchFamily="34" charset="0"/>
                <a:ea typeface="Hiragino Sans" pitchFamily="34" charset="-122"/>
                <a:cs typeface="Hiragino Sans" pitchFamily="34" charset="-120"/>
              </a:rPr>
              <a:t>3</a:t>
            </a:r>
            <a:endParaRPr lang="en-US" sz="1500" dirty="0"/>
          </a:p>
        </p:txBody>
      </p:sp>
      <p:sp>
        <p:nvSpPr>
          <p:cNvPr id="20" name="Text 18"/>
          <p:cNvSpPr/>
          <p:nvPr/>
        </p:nvSpPr>
        <p:spPr>
          <a:xfrm>
            <a:off x="6291072" y="2139696"/>
            <a:ext cx="2194560" cy="685800"/>
          </a:xfrm>
          <a:prstGeom prst="rect">
            <a:avLst/>
          </a:prstGeom>
          <a:noFill/>
          <a:ln/>
        </p:spPr>
        <p:txBody>
          <a:bodyPr wrap="square" lIns="0" tIns="0" rIns="0" bIns="0" rtlCol="0" anchor="ctr"/>
          <a:lstStyle/>
          <a:p>
            <a:pPr indent="0" marL="0">
              <a:lnSpc>
                <a:spcPct val="110000"/>
              </a:lnSpc>
              <a:buNone/>
            </a:pPr>
            <a:r>
              <a:rPr lang="en-US" sz="1450" b="1" dirty="0">
                <a:solidFill>
                  <a:srgbClr val="1B2A41"/>
                </a:solidFill>
                <a:latin typeface="Hiragino Sans" pitchFamily="34" charset="0"/>
                <a:ea typeface="Hiragino Sans" pitchFamily="34" charset="-122"/>
                <a:cs typeface="Hiragino Sans" pitchFamily="34" charset="-120"/>
              </a:rPr>
              <a:t>FBAライバルセラー</a:t>
            </a:r>
            <a:endParaRPr lang="en-US" sz="1450" dirty="0"/>
          </a:p>
          <a:p>
            <a:pPr indent="0" marL="0">
              <a:lnSpc>
                <a:spcPct val="110000"/>
              </a:lnSpc>
              <a:buNone/>
            </a:pPr>
            <a:r>
              <a:rPr lang="en-US" sz="1450" b="1" dirty="0">
                <a:solidFill>
                  <a:srgbClr val="1B2A41"/>
                </a:solidFill>
                <a:latin typeface="Hiragino Sans" pitchFamily="34" charset="0"/>
                <a:ea typeface="Hiragino Sans" pitchFamily="34" charset="-122"/>
                <a:cs typeface="Hiragino Sans" pitchFamily="34" charset="-120"/>
              </a:rPr>
              <a:t>2人以上</a:t>
            </a:r>
            <a:endParaRPr lang="en-US" sz="1450" dirty="0"/>
          </a:p>
        </p:txBody>
      </p:sp>
      <p:sp>
        <p:nvSpPr>
          <p:cNvPr id="21" name="Text 19"/>
          <p:cNvSpPr/>
          <p:nvPr/>
        </p:nvSpPr>
        <p:spPr>
          <a:xfrm>
            <a:off x="6291072" y="2907792"/>
            <a:ext cx="2194560" cy="777240"/>
          </a:xfrm>
          <a:prstGeom prst="rect">
            <a:avLst/>
          </a:prstGeom>
          <a:noFill/>
          <a:ln/>
        </p:spPr>
        <p:txBody>
          <a:bodyPr wrap="square" lIns="0" tIns="0" rIns="0" bIns="0" rtlCol="0" anchor="ctr"/>
          <a:lstStyle/>
          <a:p>
            <a:pPr indent="0" marL="0">
              <a:lnSpc>
                <a:spcPct val="115000"/>
              </a:lnSpc>
              <a:buNone/>
            </a:pPr>
            <a:r>
              <a:rPr lang="en-US" sz="1000" dirty="0">
                <a:solidFill>
                  <a:srgbClr val="6B7280"/>
                </a:solidFill>
                <a:latin typeface="Hiragino Sans" pitchFamily="34" charset="0"/>
                <a:ea typeface="Hiragino Sans" pitchFamily="34" charset="-122"/>
                <a:cs typeface="Hiragino Sans" pitchFamily="34" charset="-120"/>
              </a:rPr>
              <a:t>1人だけ＝OEM・直販で卸不可。複数いる＝「卸す意思のあるメーカー」の証拠。上限は問わない</a:t>
            </a:r>
            <a:endParaRPr lang="en-US" sz="1000" dirty="0"/>
          </a:p>
        </p:txBody>
      </p:sp>
      <p:sp>
        <p:nvSpPr>
          <p:cNvPr id="22" name="Shape 20"/>
          <p:cNvSpPr/>
          <p:nvPr/>
        </p:nvSpPr>
        <p:spPr>
          <a:xfrm>
            <a:off x="457200" y="4005072"/>
            <a:ext cx="8229600" cy="502920"/>
          </a:xfrm>
          <a:prstGeom prst="rect">
            <a:avLst/>
          </a:prstGeom>
          <a:solidFill>
            <a:srgbClr val="FFFFFF"/>
          </a:solidFill>
          <a:ln w="15875">
            <a:solidFill>
              <a:srgbClr val="D98E04"/>
            </a:solidFill>
            <a:prstDash val="solid"/>
          </a:ln>
        </p:spPr>
      </p:sp>
      <p:sp>
        <p:nvSpPr>
          <p:cNvPr id="23" name="Text 21"/>
          <p:cNvSpPr/>
          <p:nvPr/>
        </p:nvSpPr>
        <p:spPr>
          <a:xfrm>
            <a:off x="685800" y="4005072"/>
            <a:ext cx="7863840" cy="502920"/>
          </a:xfrm>
          <a:prstGeom prst="rect">
            <a:avLst/>
          </a:prstGeom>
          <a:noFill/>
          <a:ln/>
        </p:spPr>
        <p:txBody>
          <a:bodyPr wrap="square" lIns="0" tIns="0" rIns="0" bIns="0" rtlCol="0" anchor="ctr"/>
          <a:lstStyle/>
          <a:p>
            <a:pPr indent="0" marL="0">
              <a:buNone/>
            </a:pPr>
            <a:r>
              <a:rPr lang="en-US" sz="1150" b="1" dirty="0">
                <a:solidFill>
                  <a:srgbClr val="1B2A41"/>
                </a:solidFill>
                <a:latin typeface="Hiragino Sans" pitchFamily="34" charset="0"/>
                <a:ea typeface="Hiragino Sans" pitchFamily="34" charset="-122"/>
                <a:cs typeface="Hiragino Sans" pitchFamily="34" charset="-120"/>
              </a:rPr>
              <a:t>狙うのは中小メーカー。</a:t>
            </a:r>
            <a:pPr indent="0" marL="0">
              <a:buNone/>
            </a:pPr>
            <a:r>
              <a:rPr lang="en-US" sz="1150" dirty="0">
                <a:solidFill>
                  <a:srgbClr val="23303F"/>
                </a:solidFill>
                <a:latin typeface="Hiragino Sans" pitchFamily="34" charset="0"/>
                <a:ea typeface="Hiragino Sans" pitchFamily="34" charset="-122"/>
                <a:cs typeface="Hiragino Sans" pitchFamily="34" charset="-120"/>
              </a:rPr>
              <a:t> 大手は代理店制度があるため個人には卸さない＝最初から対象外でよい</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STEP 1 — リサーチ</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実務はKeepaひとつ — 製品ファインダーの手順</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08</a:t>
            </a:r>
            <a:endParaRPr lang="en-US" sz="900" dirty="0"/>
          </a:p>
        </p:txBody>
      </p:sp>
      <p:sp>
        <p:nvSpPr>
          <p:cNvPr id="7" name="Shape 5"/>
          <p:cNvSpPr/>
          <p:nvPr/>
        </p:nvSpPr>
        <p:spPr>
          <a:xfrm>
            <a:off x="457200" y="1325880"/>
            <a:ext cx="5029200" cy="324612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8" name="Text 6"/>
          <p:cNvSpPr/>
          <p:nvPr/>
        </p:nvSpPr>
        <p:spPr>
          <a:xfrm>
            <a:off x="713232" y="1499616"/>
            <a:ext cx="4480560" cy="292608"/>
          </a:xfrm>
          <a:prstGeom prst="rect">
            <a:avLst/>
          </a:prstGeom>
          <a:noFill/>
          <a:ln/>
        </p:spPr>
        <p:txBody>
          <a:bodyPr wrap="square" lIns="0" tIns="0" rIns="0" bIns="0" rtlCol="0" anchor="ctr"/>
          <a:lstStyle/>
          <a:p>
            <a:pPr indent="0" marL="0">
              <a:buNone/>
            </a:pPr>
            <a:r>
              <a:rPr lang="en-US" sz="1300" b="1" dirty="0">
                <a:solidFill>
                  <a:srgbClr val="1B2A41"/>
                </a:solidFill>
                <a:latin typeface="Hiragino Sans" pitchFamily="34" charset="0"/>
                <a:ea typeface="Hiragino Sans" pitchFamily="34" charset="-122"/>
                <a:cs typeface="Hiragino Sans" pitchFamily="34" charset="-120"/>
              </a:rPr>
              <a:t>製品ファインダーでの絞り込み</a:t>
            </a:r>
            <a:endParaRPr lang="en-US" sz="1300" dirty="0"/>
          </a:p>
        </p:txBody>
      </p:sp>
      <p:sp>
        <p:nvSpPr>
          <p:cNvPr id="9" name="Shape 7"/>
          <p:cNvSpPr/>
          <p:nvPr/>
        </p:nvSpPr>
        <p:spPr>
          <a:xfrm>
            <a:off x="713232" y="1920240"/>
            <a:ext cx="310896" cy="310896"/>
          </a:xfrm>
          <a:prstGeom prst="ellipse">
            <a:avLst/>
          </a:prstGeom>
          <a:solidFill>
            <a:srgbClr val="D98E04"/>
          </a:solidFill>
          <a:ln/>
        </p:spPr>
      </p:sp>
      <p:sp>
        <p:nvSpPr>
          <p:cNvPr id="10" name="Text 8"/>
          <p:cNvSpPr/>
          <p:nvPr/>
        </p:nvSpPr>
        <p:spPr>
          <a:xfrm>
            <a:off x="713232" y="19065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1</a:t>
            </a:r>
            <a:endParaRPr lang="en-US" sz="1200" dirty="0"/>
          </a:p>
        </p:txBody>
      </p:sp>
      <p:sp>
        <p:nvSpPr>
          <p:cNvPr id="11" name="Text 9"/>
          <p:cNvSpPr/>
          <p:nvPr/>
        </p:nvSpPr>
        <p:spPr>
          <a:xfrm>
            <a:off x="1152144" y="1920240"/>
            <a:ext cx="4160520" cy="310896"/>
          </a:xfrm>
          <a:prstGeom prst="rect">
            <a:avLst/>
          </a:prstGeom>
          <a:noFill/>
          <a:ln/>
        </p:spPr>
        <p:txBody>
          <a:bodyPr wrap="square" lIns="0" tIns="0" rIns="0" bIns="0" rtlCol="0" anchor="ctr"/>
          <a:lstStyle/>
          <a:p>
            <a:pPr indent="0" marL="0">
              <a:buNone/>
            </a:pPr>
            <a:r>
              <a:rPr lang="en-US" sz="1100" dirty="0">
                <a:solidFill>
                  <a:srgbClr val="23303F"/>
                </a:solidFill>
                <a:latin typeface="Hiragino Sans" pitchFamily="34" charset="0"/>
                <a:ea typeface="Hiragino Sans" pitchFamily="34" charset="-122"/>
                <a:cs typeface="Hiragino Sans" pitchFamily="34" charset="-120"/>
              </a:rPr>
              <a:t>ランキング 1〜50,000位 を指定</a:t>
            </a:r>
            <a:endParaRPr lang="en-US" sz="1100" dirty="0"/>
          </a:p>
        </p:txBody>
      </p:sp>
      <p:sp>
        <p:nvSpPr>
          <p:cNvPr id="12" name="Shape 10"/>
          <p:cNvSpPr/>
          <p:nvPr/>
        </p:nvSpPr>
        <p:spPr>
          <a:xfrm>
            <a:off x="713232" y="2432304"/>
            <a:ext cx="310896" cy="310896"/>
          </a:xfrm>
          <a:prstGeom prst="ellipse">
            <a:avLst/>
          </a:prstGeom>
          <a:solidFill>
            <a:srgbClr val="D98E04"/>
          </a:solidFill>
          <a:ln/>
        </p:spPr>
      </p:sp>
      <p:sp>
        <p:nvSpPr>
          <p:cNvPr id="13" name="Text 11"/>
          <p:cNvSpPr/>
          <p:nvPr/>
        </p:nvSpPr>
        <p:spPr>
          <a:xfrm>
            <a:off x="713232" y="241858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2</a:t>
            </a:r>
            <a:endParaRPr lang="en-US" sz="1200" dirty="0"/>
          </a:p>
        </p:txBody>
      </p:sp>
      <p:sp>
        <p:nvSpPr>
          <p:cNvPr id="14" name="Text 12"/>
          <p:cNvSpPr/>
          <p:nvPr/>
        </p:nvSpPr>
        <p:spPr>
          <a:xfrm>
            <a:off x="1152144" y="2432304"/>
            <a:ext cx="4160520" cy="310896"/>
          </a:xfrm>
          <a:prstGeom prst="rect">
            <a:avLst/>
          </a:prstGeom>
          <a:noFill/>
          <a:ln/>
        </p:spPr>
        <p:txBody>
          <a:bodyPr wrap="square" lIns="0" tIns="0" rIns="0" bIns="0" rtlCol="0" anchor="ctr"/>
          <a:lstStyle/>
          <a:p>
            <a:pPr indent="0" marL="0">
              <a:buNone/>
            </a:pPr>
            <a:r>
              <a:rPr lang="en-US" sz="1100" dirty="0">
                <a:solidFill>
                  <a:srgbClr val="23303F"/>
                </a:solidFill>
                <a:latin typeface="Hiragino Sans" pitchFamily="34" charset="0"/>
                <a:ea typeface="Hiragino Sans" pitchFamily="34" charset="-122"/>
                <a:cs typeface="Hiragino Sans" pitchFamily="34" charset="-120"/>
              </a:rPr>
              <a:t>「Amazon本体の在庫なし」を条件に追加</a:t>
            </a:r>
            <a:endParaRPr lang="en-US" sz="1100" dirty="0"/>
          </a:p>
        </p:txBody>
      </p:sp>
      <p:sp>
        <p:nvSpPr>
          <p:cNvPr id="15" name="Shape 13"/>
          <p:cNvSpPr/>
          <p:nvPr/>
        </p:nvSpPr>
        <p:spPr>
          <a:xfrm>
            <a:off x="713232" y="2944368"/>
            <a:ext cx="310896" cy="310896"/>
          </a:xfrm>
          <a:prstGeom prst="ellipse">
            <a:avLst/>
          </a:prstGeom>
          <a:solidFill>
            <a:srgbClr val="D98E04"/>
          </a:solidFill>
          <a:ln/>
        </p:spPr>
      </p:sp>
      <p:sp>
        <p:nvSpPr>
          <p:cNvPr id="16" name="Text 14"/>
          <p:cNvSpPr/>
          <p:nvPr/>
        </p:nvSpPr>
        <p:spPr>
          <a:xfrm>
            <a:off x="713232" y="29306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3</a:t>
            </a:r>
            <a:endParaRPr lang="en-US" sz="1200" dirty="0"/>
          </a:p>
        </p:txBody>
      </p:sp>
      <p:sp>
        <p:nvSpPr>
          <p:cNvPr id="17" name="Text 15"/>
          <p:cNvSpPr/>
          <p:nvPr/>
        </p:nvSpPr>
        <p:spPr>
          <a:xfrm>
            <a:off x="1152144" y="2944368"/>
            <a:ext cx="4160520" cy="310896"/>
          </a:xfrm>
          <a:prstGeom prst="rect">
            <a:avLst/>
          </a:prstGeom>
          <a:noFill/>
          <a:ln/>
        </p:spPr>
        <p:txBody>
          <a:bodyPr wrap="square" lIns="0" tIns="0" rIns="0" bIns="0" rtlCol="0" anchor="ctr"/>
          <a:lstStyle/>
          <a:p>
            <a:pPr indent="0" marL="0">
              <a:buNone/>
            </a:pPr>
            <a:r>
              <a:rPr lang="en-US" sz="1100" dirty="0">
                <a:solidFill>
                  <a:srgbClr val="23303F"/>
                </a:solidFill>
                <a:latin typeface="Hiragino Sans" pitchFamily="34" charset="0"/>
                <a:ea typeface="Hiragino Sans" pitchFamily="34" charset="-122"/>
                <a:cs typeface="Hiragino Sans" pitchFamily="34" charset="-120"/>
              </a:rPr>
              <a:t>FBAセラー数 2以上 を指定</a:t>
            </a:r>
            <a:endParaRPr lang="en-US" sz="1100" dirty="0"/>
          </a:p>
        </p:txBody>
      </p:sp>
      <p:sp>
        <p:nvSpPr>
          <p:cNvPr id="18" name="Shape 16"/>
          <p:cNvSpPr/>
          <p:nvPr/>
        </p:nvSpPr>
        <p:spPr>
          <a:xfrm>
            <a:off x="713232" y="3456432"/>
            <a:ext cx="310896" cy="310896"/>
          </a:xfrm>
          <a:prstGeom prst="ellipse">
            <a:avLst/>
          </a:prstGeom>
          <a:solidFill>
            <a:srgbClr val="D98E04"/>
          </a:solidFill>
          <a:ln/>
        </p:spPr>
      </p:sp>
      <p:sp>
        <p:nvSpPr>
          <p:cNvPr id="19" name="Text 17"/>
          <p:cNvSpPr/>
          <p:nvPr/>
        </p:nvSpPr>
        <p:spPr>
          <a:xfrm>
            <a:off x="713232" y="344271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4</a:t>
            </a:r>
            <a:endParaRPr lang="en-US" sz="1200" dirty="0"/>
          </a:p>
        </p:txBody>
      </p:sp>
      <p:sp>
        <p:nvSpPr>
          <p:cNvPr id="20" name="Text 18"/>
          <p:cNvSpPr/>
          <p:nvPr/>
        </p:nvSpPr>
        <p:spPr>
          <a:xfrm>
            <a:off x="1152144" y="3456432"/>
            <a:ext cx="4160520" cy="310896"/>
          </a:xfrm>
          <a:prstGeom prst="rect">
            <a:avLst/>
          </a:prstGeom>
          <a:noFill/>
          <a:ln/>
        </p:spPr>
        <p:txBody>
          <a:bodyPr wrap="square" lIns="0" tIns="0" rIns="0" bIns="0" rtlCol="0" anchor="ctr"/>
          <a:lstStyle/>
          <a:p>
            <a:pPr indent="0" marL="0">
              <a:buNone/>
            </a:pPr>
            <a:r>
              <a:rPr lang="en-US" sz="1100" dirty="0">
                <a:solidFill>
                  <a:srgbClr val="23303F"/>
                </a:solidFill>
                <a:latin typeface="Hiragino Sans" pitchFamily="34" charset="0"/>
                <a:ea typeface="Hiragino Sans" pitchFamily="34" charset="-122"/>
                <a:cs typeface="Hiragino Sans" pitchFamily="34" charset="-120"/>
              </a:rPr>
              <a:t>酒類（免許必要）など扱えないサブカテゴリを除外</a:t>
            </a:r>
            <a:endParaRPr lang="en-US" sz="1100" dirty="0"/>
          </a:p>
        </p:txBody>
      </p:sp>
      <p:sp>
        <p:nvSpPr>
          <p:cNvPr id="21" name="Shape 19"/>
          <p:cNvSpPr/>
          <p:nvPr/>
        </p:nvSpPr>
        <p:spPr>
          <a:xfrm>
            <a:off x="713232" y="3968496"/>
            <a:ext cx="310896" cy="310896"/>
          </a:xfrm>
          <a:prstGeom prst="ellipse">
            <a:avLst/>
          </a:prstGeom>
          <a:solidFill>
            <a:srgbClr val="D98E04"/>
          </a:solidFill>
          <a:ln/>
        </p:spPr>
      </p:sp>
      <p:sp>
        <p:nvSpPr>
          <p:cNvPr id="22" name="Text 20"/>
          <p:cNvSpPr/>
          <p:nvPr/>
        </p:nvSpPr>
        <p:spPr>
          <a:xfrm>
            <a:off x="713232" y="39547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5</a:t>
            </a:r>
            <a:endParaRPr lang="en-US" sz="1200" dirty="0"/>
          </a:p>
        </p:txBody>
      </p:sp>
      <p:sp>
        <p:nvSpPr>
          <p:cNvPr id="23" name="Text 21"/>
          <p:cNvSpPr/>
          <p:nvPr/>
        </p:nvSpPr>
        <p:spPr>
          <a:xfrm>
            <a:off x="1152144" y="3968496"/>
            <a:ext cx="4160520" cy="310896"/>
          </a:xfrm>
          <a:prstGeom prst="rect">
            <a:avLst/>
          </a:prstGeom>
          <a:noFill/>
          <a:ln/>
        </p:spPr>
        <p:txBody>
          <a:bodyPr wrap="square" lIns="0" tIns="0" rIns="0" bIns="0" rtlCol="0" anchor="ctr"/>
          <a:lstStyle/>
          <a:p>
            <a:pPr indent="0" marL="0">
              <a:buNone/>
            </a:pPr>
            <a:r>
              <a:rPr lang="en-US" sz="1100" dirty="0">
                <a:solidFill>
                  <a:srgbClr val="23303F"/>
                </a:solidFill>
                <a:latin typeface="Hiragino Sans" pitchFamily="34" charset="0"/>
                <a:ea typeface="Hiragino Sans" pitchFamily="34" charset="-122"/>
                <a:cs typeface="Hiragino Sans" pitchFamily="34" charset="-120"/>
              </a:rPr>
              <a:t>ヒット商品のメーカー名を控えて問い合わせリスト化</a:t>
            </a:r>
            <a:endParaRPr lang="en-US" sz="1100" dirty="0"/>
          </a:p>
        </p:txBody>
      </p:sp>
      <p:sp>
        <p:nvSpPr>
          <p:cNvPr id="24" name="Shape 22"/>
          <p:cNvSpPr/>
          <p:nvPr/>
        </p:nvSpPr>
        <p:spPr>
          <a:xfrm>
            <a:off x="5760720" y="1325880"/>
            <a:ext cx="2926080" cy="1078992"/>
          </a:xfrm>
          <a:prstGeom prst="rect">
            <a:avLst/>
          </a:prstGeom>
          <a:solidFill>
            <a:srgbClr val="1B2A41"/>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25" name="Text 23"/>
          <p:cNvSpPr/>
          <p:nvPr/>
        </p:nvSpPr>
        <p:spPr>
          <a:xfrm>
            <a:off x="5989320" y="1517904"/>
            <a:ext cx="2468880" cy="731520"/>
          </a:xfrm>
          <a:prstGeom prst="rect">
            <a:avLst/>
          </a:prstGeom>
          <a:noFill/>
          <a:ln/>
        </p:spPr>
        <p:txBody>
          <a:bodyPr wrap="square" lIns="0" tIns="0" rIns="0" bIns="0" rtlCol="0" anchor="ctr"/>
          <a:lstStyle/>
          <a:p>
            <a:pPr indent="0" marL="0">
              <a:spcAft>
                <a:spcPts val="300"/>
              </a:spcAft>
              <a:buNone/>
            </a:pPr>
            <a:r>
              <a:rPr lang="en-US" sz="1350" b="1" dirty="0">
                <a:solidFill>
                  <a:srgbClr val="FFFFFF"/>
                </a:solidFill>
                <a:latin typeface="Hiragino Sans" pitchFamily="34" charset="0"/>
                <a:ea typeface="Hiragino Sans" pitchFamily="34" charset="-122"/>
                <a:cs typeface="Hiragino Sans" pitchFamily="34" charset="-120"/>
              </a:rPr>
              <a:t>ツールは Keepa のみ</a:t>
            </a:r>
            <a:endParaRPr lang="en-US" sz="1350" dirty="0"/>
          </a:p>
          <a:p>
            <a:pPr indent="0" marL="0">
              <a:buNone/>
            </a:pPr>
            <a:r>
              <a:rPr lang="en-US" sz="1100" dirty="0">
                <a:solidFill>
                  <a:srgbClr val="F2B33D"/>
                </a:solidFill>
                <a:latin typeface="Hiragino Sans" pitchFamily="34" charset="0"/>
                <a:ea typeface="Hiragino Sans" pitchFamily="34" charset="-122"/>
                <a:cs typeface="Hiragino Sans" pitchFamily="34" charset="-120"/>
              </a:rPr>
              <a:t>月額 29ユーロ（約5,000円）</a:t>
            </a:r>
            <a:endParaRPr lang="en-US" sz="1350" dirty="0"/>
          </a:p>
        </p:txBody>
      </p:sp>
      <p:sp>
        <p:nvSpPr>
          <p:cNvPr id="26" name="Shape 24"/>
          <p:cNvSpPr/>
          <p:nvPr/>
        </p:nvSpPr>
        <p:spPr>
          <a:xfrm>
            <a:off x="5760720" y="2606040"/>
            <a:ext cx="2926080" cy="196596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27" name="Text 25"/>
          <p:cNvSpPr/>
          <p:nvPr/>
        </p:nvSpPr>
        <p:spPr>
          <a:xfrm>
            <a:off x="5989320" y="2761488"/>
            <a:ext cx="2468880" cy="274320"/>
          </a:xfrm>
          <a:prstGeom prst="rect">
            <a:avLst/>
          </a:prstGeom>
          <a:noFill/>
          <a:ln/>
        </p:spPr>
        <p:txBody>
          <a:bodyPr wrap="square" lIns="0" tIns="0" rIns="0" bIns="0" rtlCol="0" anchor="ctr"/>
          <a:lstStyle/>
          <a:p>
            <a:pPr indent="0" marL="0">
              <a:buNone/>
            </a:pPr>
            <a:r>
              <a:rPr lang="en-US" sz="1200" b="1" dirty="0">
                <a:solidFill>
                  <a:srgbClr val="1B2A41"/>
                </a:solidFill>
                <a:latin typeface="Hiragino Sans" pitchFamily="34" charset="0"/>
                <a:ea typeface="Hiragino Sans" pitchFamily="34" charset="-122"/>
                <a:cs typeface="Hiragino Sans" pitchFamily="34" charset="-120"/>
              </a:rPr>
              <a:t>売れやすさの3要素</a:t>
            </a:r>
            <a:endParaRPr lang="en-US" sz="1200" dirty="0"/>
          </a:p>
        </p:txBody>
      </p:sp>
      <p:sp>
        <p:nvSpPr>
          <p:cNvPr id="28" name="Text 26"/>
          <p:cNvSpPr/>
          <p:nvPr/>
        </p:nvSpPr>
        <p:spPr>
          <a:xfrm>
            <a:off x="5989320" y="3090672"/>
            <a:ext cx="2468880" cy="1371600"/>
          </a:xfrm>
          <a:prstGeom prst="rect">
            <a:avLst/>
          </a:prstGeom>
          <a:noFill/>
          <a:ln/>
        </p:spPr>
        <p:txBody>
          <a:bodyPr wrap="square" lIns="0" tIns="0" rIns="0" bIns="0" rtlCol="0" anchor="ctr"/>
          <a:lstStyle/>
          <a:p>
            <a:pPr indent="0" marL="0">
              <a:spcAft>
                <a:spcPts val="300"/>
              </a:spcAft>
              <a:buNone/>
            </a:pPr>
            <a:r>
              <a:rPr lang="en-US" sz="1100" dirty="0">
                <a:solidFill>
                  <a:srgbClr val="23303F"/>
                </a:solidFill>
                <a:latin typeface="Hiragino Sans" pitchFamily="34" charset="0"/>
                <a:ea typeface="Hiragino Sans" pitchFamily="34" charset="-122"/>
                <a:cs typeface="Hiragino Sans" pitchFamily="34" charset="-120"/>
              </a:rPr>
              <a:t>① 回転数（需要）</a:t>
            </a:r>
            <a:endParaRPr lang="en-US" sz="1100" dirty="0"/>
          </a:p>
          <a:p>
            <a:pPr indent="0" marL="0">
              <a:spcAft>
                <a:spcPts val="300"/>
              </a:spcAft>
              <a:buNone/>
            </a:pPr>
            <a:r>
              <a:rPr lang="en-US" sz="1100" dirty="0">
                <a:solidFill>
                  <a:srgbClr val="23303F"/>
                </a:solidFill>
                <a:latin typeface="Hiragino Sans" pitchFamily="34" charset="0"/>
                <a:ea typeface="Hiragino Sans" pitchFamily="34" charset="-122"/>
                <a:cs typeface="Hiragino Sans" pitchFamily="34" charset="-120"/>
              </a:rPr>
              <a:t>② 出品者数（供給）</a:t>
            </a:r>
            <a:endParaRPr lang="en-US" sz="1100" dirty="0"/>
          </a:p>
          <a:p>
            <a:pPr indent="0" marL="0">
              <a:spcAft>
                <a:spcPts val="500"/>
              </a:spcAft>
              <a:buNone/>
            </a:pPr>
            <a:r>
              <a:rPr lang="en-US" sz="1100" b="1" dirty="0">
                <a:solidFill>
                  <a:srgbClr val="D98E04"/>
                </a:solidFill>
                <a:latin typeface="Hiragino Sans" pitchFamily="34" charset="0"/>
                <a:ea typeface="Hiragino Sans" pitchFamily="34" charset="-122"/>
                <a:cs typeface="Hiragino Sans" pitchFamily="34" charset="-120"/>
              </a:rPr>
              <a:t>③ カート獲得（選択）</a:t>
            </a:r>
            <a:endParaRPr lang="en-US" sz="1100" dirty="0"/>
          </a:p>
          <a:p>
            <a:pPr indent="0" marL="0">
              <a:buNone/>
            </a:pPr>
            <a:r>
              <a:rPr lang="en-US" sz="950" dirty="0">
                <a:solidFill>
                  <a:srgbClr val="6B7280"/>
                </a:solidFill>
                <a:latin typeface="Hiragino Sans" pitchFamily="34" charset="0"/>
                <a:ea typeface="Hiragino Sans" pitchFamily="34" charset="-122"/>
                <a:cs typeface="Hiragino Sans" pitchFamily="34" charset="-120"/>
              </a:rPr>
              <a:t>KPIはカート獲得。出品者数の上限は気にしない。</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STEP 2 — 問い合わせ</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最大の武器は「会社概要資料」</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09</a:t>
            </a:r>
            <a:endParaRPr lang="en-US" sz="900" dirty="0"/>
          </a:p>
        </p:txBody>
      </p:sp>
      <p:sp>
        <p:nvSpPr>
          <p:cNvPr id="7" name="Shape 5"/>
          <p:cNvSpPr/>
          <p:nvPr/>
        </p:nvSpPr>
        <p:spPr>
          <a:xfrm>
            <a:off x="548640" y="1371600"/>
            <a:ext cx="2834640" cy="320040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8" name="Shape 6"/>
          <p:cNvSpPr/>
          <p:nvPr/>
        </p:nvSpPr>
        <p:spPr>
          <a:xfrm>
            <a:off x="548640" y="1371600"/>
            <a:ext cx="2834640" cy="457200"/>
          </a:xfrm>
          <a:prstGeom prst="rect">
            <a:avLst/>
          </a:prstGeom>
          <a:solidFill>
            <a:srgbClr val="1B2A41"/>
          </a:solidFill>
          <a:ln/>
        </p:spPr>
      </p:sp>
      <p:sp>
        <p:nvSpPr>
          <p:cNvPr id="9" name="Text 7"/>
          <p:cNvSpPr/>
          <p:nvPr/>
        </p:nvSpPr>
        <p:spPr>
          <a:xfrm>
            <a:off x="548640" y="1371600"/>
            <a:ext cx="283464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会社概要</a:t>
            </a:r>
            <a:endParaRPr lang="en-US" sz="1200" dirty="0"/>
          </a:p>
        </p:txBody>
      </p:sp>
      <p:sp>
        <p:nvSpPr>
          <p:cNvPr id="10" name="Shape 8"/>
          <p:cNvSpPr/>
          <p:nvPr/>
        </p:nvSpPr>
        <p:spPr>
          <a:xfrm>
            <a:off x="804672" y="2029968"/>
            <a:ext cx="658368" cy="658368"/>
          </a:xfrm>
          <a:prstGeom prst="ellipse">
            <a:avLst/>
          </a:prstGeom>
          <a:solidFill>
            <a:srgbClr val="F2B33D"/>
          </a:solidFill>
          <a:ln/>
        </p:spPr>
      </p:sp>
      <p:sp>
        <p:nvSpPr>
          <p:cNvPr id="11" name="Text 9"/>
          <p:cNvSpPr/>
          <p:nvPr/>
        </p:nvSpPr>
        <p:spPr>
          <a:xfrm>
            <a:off x="804672" y="2029968"/>
            <a:ext cx="658368" cy="658368"/>
          </a:xfrm>
          <a:prstGeom prst="rect">
            <a:avLst/>
          </a:prstGeom>
          <a:noFill/>
          <a:ln/>
        </p:spPr>
        <p:txBody>
          <a:bodyPr wrap="square" lIns="0" tIns="0" rIns="0" bIns="0" rtlCol="0" anchor="ctr"/>
          <a:lstStyle/>
          <a:p>
            <a:pPr algn="ctr" indent="0" marL="0">
              <a:buNone/>
            </a:pPr>
            <a:r>
              <a:rPr lang="en-US" sz="850" b="1" dirty="0">
                <a:solidFill>
                  <a:srgbClr val="1B2A41"/>
                </a:solidFill>
                <a:latin typeface="Hiragino Sans" pitchFamily="34" charset="0"/>
                <a:ea typeface="Hiragino Sans" pitchFamily="34" charset="-122"/>
                <a:cs typeface="Hiragino Sans" pitchFamily="34" charset="-120"/>
              </a:rPr>
              <a:t>顔写真</a:t>
            </a:r>
            <a:endParaRPr lang="en-US" sz="850" dirty="0"/>
          </a:p>
        </p:txBody>
      </p:sp>
      <p:sp>
        <p:nvSpPr>
          <p:cNvPr id="12" name="Shape 10"/>
          <p:cNvSpPr/>
          <p:nvPr/>
        </p:nvSpPr>
        <p:spPr>
          <a:xfrm>
            <a:off x="1627632" y="2157984"/>
            <a:ext cx="1554480" cy="0"/>
          </a:xfrm>
          <a:prstGeom prst="line">
            <a:avLst/>
          </a:prstGeom>
          <a:noFill/>
          <a:ln w="25400">
            <a:solidFill>
              <a:srgbClr val="E3DDD2"/>
            </a:solidFill>
            <a:prstDash val="solid"/>
          </a:ln>
        </p:spPr>
      </p:sp>
      <p:sp>
        <p:nvSpPr>
          <p:cNvPr id="13" name="Shape 11"/>
          <p:cNvSpPr/>
          <p:nvPr/>
        </p:nvSpPr>
        <p:spPr>
          <a:xfrm>
            <a:off x="1627632" y="2395728"/>
            <a:ext cx="1554480" cy="0"/>
          </a:xfrm>
          <a:prstGeom prst="line">
            <a:avLst/>
          </a:prstGeom>
          <a:noFill/>
          <a:ln w="25400">
            <a:solidFill>
              <a:srgbClr val="E3DDD2"/>
            </a:solidFill>
            <a:prstDash val="solid"/>
          </a:ln>
        </p:spPr>
      </p:sp>
      <p:sp>
        <p:nvSpPr>
          <p:cNvPr id="14" name="Shape 12"/>
          <p:cNvSpPr/>
          <p:nvPr/>
        </p:nvSpPr>
        <p:spPr>
          <a:xfrm>
            <a:off x="1627632" y="2633472"/>
            <a:ext cx="1554480" cy="0"/>
          </a:xfrm>
          <a:prstGeom prst="line">
            <a:avLst/>
          </a:prstGeom>
          <a:noFill/>
          <a:ln w="25400">
            <a:solidFill>
              <a:srgbClr val="E3DDD2"/>
            </a:solidFill>
            <a:prstDash val="solid"/>
          </a:ln>
        </p:spPr>
      </p:sp>
      <p:sp>
        <p:nvSpPr>
          <p:cNvPr id="15" name="Text 13"/>
          <p:cNvSpPr/>
          <p:nvPr/>
        </p:nvSpPr>
        <p:spPr>
          <a:xfrm>
            <a:off x="804672" y="2926080"/>
            <a:ext cx="2377440" cy="274320"/>
          </a:xfrm>
          <a:prstGeom prst="rect">
            <a:avLst/>
          </a:prstGeom>
          <a:noFill/>
          <a:ln/>
        </p:spPr>
        <p:txBody>
          <a:bodyPr wrap="square" lIns="0" tIns="0" rIns="0" bIns="0" rtlCol="0" anchor="ctr"/>
          <a:lstStyle/>
          <a:p>
            <a:pPr indent="0" marL="0">
              <a:buNone/>
            </a:pPr>
            <a:r>
              <a:rPr lang="en-US" sz="900" dirty="0">
                <a:solidFill>
                  <a:srgbClr val="6B7280"/>
                </a:solidFill>
                <a:latin typeface="Hiragino Sans" pitchFamily="34" charset="0"/>
                <a:ea typeface="Hiragino Sans" pitchFamily="34" charset="-122"/>
                <a:cs typeface="Hiragino Sans" pitchFamily="34" charset="-120"/>
              </a:rPr>
              <a:t>事業内容（Amazon販売の体制・実績）</a:t>
            </a:r>
            <a:endParaRPr lang="en-US" sz="900" dirty="0"/>
          </a:p>
        </p:txBody>
      </p:sp>
      <p:sp>
        <p:nvSpPr>
          <p:cNvPr id="16" name="Shape 14"/>
          <p:cNvSpPr/>
          <p:nvPr/>
        </p:nvSpPr>
        <p:spPr>
          <a:xfrm>
            <a:off x="804672" y="3246120"/>
            <a:ext cx="2331720" cy="0"/>
          </a:xfrm>
          <a:prstGeom prst="line">
            <a:avLst/>
          </a:prstGeom>
          <a:noFill/>
          <a:ln w="25400">
            <a:solidFill>
              <a:srgbClr val="E3DDD2"/>
            </a:solidFill>
            <a:prstDash val="solid"/>
          </a:ln>
        </p:spPr>
      </p:sp>
      <p:sp>
        <p:nvSpPr>
          <p:cNvPr id="17" name="Shape 15"/>
          <p:cNvSpPr/>
          <p:nvPr/>
        </p:nvSpPr>
        <p:spPr>
          <a:xfrm>
            <a:off x="804672" y="3483864"/>
            <a:ext cx="2331720" cy="0"/>
          </a:xfrm>
          <a:prstGeom prst="line">
            <a:avLst/>
          </a:prstGeom>
          <a:noFill/>
          <a:ln w="25400">
            <a:solidFill>
              <a:srgbClr val="E3DDD2"/>
            </a:solidFill>
            <a:prstDash val="solid"/>
          </a:ln>
        </p:spPr>
      </p:sp>
      <p:sp>
        <p:nvSpPr>
          <p:cNvPr id="18" name="Shape 16"/>
          <p:cNvSpPr/>
          <p:nvPr/>
        </p:nvSpPr>
        <p:spPr>
          <a:xfrm>
            <a:off x="804672" y="3721608"/>
            <a:ext cx="2331720" cy="0"/>
          </a:xfrm>
          <a:prstGeom prst="line">
            <a:avLst/>
          </a:prstGeom>
          <a:noFill/>
          <a:ln w="25400">
            <a:solidFill>
              <a:srgbClr val="E3DDD2"/>
            </a:solidFill>
            <a:prstDash val="solid"/>
          </a:ln>
        </p:spPr>
      </p:sp>
      <p:sp>
        <p:nvSpPr>
          <p:cNvPr id="19" name="Shape 17"/>
          <p:cNvSpPr/>
          <p:nvPr/>
        </p:nvSpPr>
        <p:spPr>
          <a:xfrm>
            <a:off x="804672" y="3959352"/>
            <a:ext cx="2331720" cy="0"/>
          </a:xfrm>
          <a:prstGeom prst="line">
            <a:avLst/>
          </a:prstGeom>
          <a:noFill/>
          <a:ln w="25400">
            <a:solidFill>
              <a:srgbClr val="E3DDD2"/>
            </a:solidFill>
            <a:prstDash val="solid"/>
          </a:ln>
        </p:spPr>
      </p:sp>
      <p:sp>
        <p:nvSpPr>
          <p:cNvPr id="20" name="Text 18"/>
          <p:cNvSpPr/>
          <p:nvPr/>
        </p:nvSpPr>
        <p:spPr>
          <a:xfrm>
            <a:off x="548640" y="4224528"/>
            <a:ext cx="2834640" cy="237744"/>
          </a:xfrm>
          <a:prstGeom prst="rect">
            <a:avLst/>
          </a:prstGeom>
          <a:noFill/>
          <a:ln/>
        </p:spPr>
        <p:txBody>
          <a:bodyPr wrap="square" lIns="0" tIns="0" rIns="0" bIns="0" rtlCol="0" anchor="ctr"/>
          <a:lstStyle/>
          <a:p>
            <a:pPr algn="ctr" indent="0" marL="0">
              <a:buNone/>
            </a:pPr>
            <a:r>
              <a:rPr lang="en-US" sz="900" i="1" dirty="0">
                <a:solidFill>
                  <a:srgbClr val="6B7280"/>
                </a:solidFill>
                <a:latin typeface="Hiragino Sans" pitchFamily="34" charset="0"/>
                <a:ea typeface="Hiragino Sans" pitchFamily="34" charset="-122"/>
                <a:cs typeface="Hiragino Sans" pitchFamily="34" charset="-120"/>
              </a:rPr>
              <a:t>A4 1〜2枚 または Webページ</a:t>
            </a:r>
            <a:endParaRPr lang="en-US" sz="900" dirty="0"/>
          </a:p>
        </p:txBody>
      </p:sp>
      <p:sp>
        <p:nvSpPr>
          <p:cNvPr id="21" name="Text 19"/>
          <p:cNvSpPr/>
          <p:nvPr/>
        </p:nvSpPr>
        <p:spPr>
          <a:xfrm>
            <a:off x="3840480" y="1417320"/>
            <a:ext cx="4846320" cy="731520"/>
          </a:xfrm>
          <a:prstGeom prst="rect">
            <a:avLst/>
          </a:prstGeom>
          <a:noFill/>
          <a:ln/>
        </p:spPr>
        <p:txBody>
          <a:bodyPr wrap="square" lIns="0" tIns="0" rIns="0" bIns="0" rtlCol="0" anchor="ctr"/>
          <a:lstStyle/>
          <a:p>
            <a:pPr indent="0" marL="0">
              <a:spcAft>
                <a:spcPts val="200"/>
              </a:spcAft>
              <a:buNone/>
            </a:pPr>
            <a:r>
              <a:rPr lang="en-US" sz="1250" b="1" dirty="0">
                <a:solidFill>
                  <a:srgbClr val="1B2A41"/>
                </a:solidFill>
                <a:latin typeface="Hiragino Sans" pitchFamily="34" charset="0"/>
                <a:ea typeface="Hiragino Sans" pitchFamily="34" charset="-122"/>
                <a:cs typeface="Hiragino Sans" pitchFamily="34" charset="-120"/>
              </a:rPr>
              <a:t>顔写真つきの基本情報</a:t>
            </a:r>
            <a:endParaRPr lang="en-US" sz="1250" dirty="0"/>
          </a:p>
          <a:p>
            <a:pPr indent="0" marL="0">
              <a:buNone/>
            </a:pPr>
            <a:r>
              <a:rPr lang="en-US" sz="1050" dirty="0">
                <a:solidFill>
                  <a:srgbClr val="6B7280"/>
                </a:solidFill>
                <a:latin typeface="Hiragino Sans" pitchFamily="34" charset="0"/>
                <a:ea typeface="Hiragino Sans" pitchFamily="34" charset="-122"/>
                <a:cs typeface="Hiragino Sans" pitchFamily="34" charset="-120"/>
              </a:rPr>
              <a:t>顔が見える相手は、それだけで上位数%に入る</a:t>
            </a:r>
            <a:endParaRPr lang="en-US" sz="1250" dirty="0"/>
          </a:p>
        </p:txBody>
      </p:sp>
      <p:sp>
        <p:nvSpPr>
          <p:cNvPr id="22" name="Text 20"/>
          <p:cNvSpPr/>
          <p:nvPr/>
        </p:nvSpPr>
        <p:spPr>
          <a:xfrm>
            <a:off x="3840480" y="2258568"/>
            <a:ext cx="4846320" cy="731520"/>
          </a:xfrm>
          <a:prstGeom prst="rect">
            <a:avLst/>
          </a:prstGeom>
          <a:noFill/>
          <a:ln/>
        </p:spPr>
        <p:txBody>
          <a:bodyPr wrap="square" lIns="0" tIns="0" rIns="0" bIns="0" rtlCol="0" anchor="ctr"/>
          <a:lstStyle/>
          <a:p>
            <a:pPr indent="0" marL="0">
              <a:spcAft>
                <a:spcPts val="200"/>
              </a:spcAft>
              <a:buNone/>
            </a:pPr>
            <a:r>
              <a:rPr lang="en-US" sz="1250" b="1" dirty="0">
                <a:solidFill>
                  <a:srgbClr val="1B2A41"/>
                </a:solidFill>
                <a:latin typeface="Hiragino Sans" pitchFamily="34" charset="0"/>
                <a:ea typeface="Hiragino Sans" pitchFamily="34" charset="-122"/>
                <a:cs typeface="Hiragino Sans" pitchFamily="34" charset="-120"/>
              </a:rPr>
              <a:t>取引を希望する理由・事業への思い</a:t>
            </a:r>
            <a:endParaRPr lang="en-US" sz="1250" dirty="0"/>
          </a:p>
          <a:p>
            <a:pPr indent="0" marL="0">
              <a:buNone/>
            </a:pPr>
            <a:r>
              <a:rPr lang="en-US" sz="1050" dirty="0">
                <a:solidFill>
                  <a:srgbClr val="6B7280"/>
                </a:solidFill>
                <a:latin typeface="Hiragino Sans" pitchFamily="34" charset="0"/>
                <a:ea typeface="Hiragino Sans" pitchFamily="34" charset="-122"/>
                <a:cs typeface="Hiragino Sans" pitchFamily="34" charset="-120"/>
              </a:rPr>
              <a:t>「なぜ御社なのか」が書いてあるメールは捨てられない</a:t>
            </a:r>
            <a:endParaRPr lang="en-US" sz="1250" dirty="0"/>
          </a:p>
        </p:txBody>
      </p:sp>
      <p:sp>
        <p:nvSpPr>
          <p:cNvPr id="23" name="Text 21"/>
          <p:cNvSpPr/>
          <p:nvPr/>
        </p:nvSpPr>
        <p:spPr>
          <a:xfrm>
            <a:off x="3840480" y="3099816"/>
            <a:ext cx="4846320" cy="731520"/>
          </a:xfrm>
          <a:prstGeom prst="rect">
            <a:avLst/>
          </a:prstGeom>
          <a:noFill/>
          <a:ln/>
        </p:spPr>
        <p:txBody>
          <a:bodyPr wrap="square" lIns="0" tIns="0" rIns="0" bIns="0" rtlCol="0" anchor="ctr"/>
          <a:lstStyle/>
          <a:p>
            <a:pPr indent="0" marL="0">
              <a:spcAft>
                <a:spcPts val="200"/>
              </a:spcAft>
              <a:buNone/>
            </a:pPr>
            <a:r>
              <a:rPr lang="en-US" sz="1250" b="1" dirty="0">
                <a:solidFill>
                  <a:srgbClr val="1B2A41"/>
                </a:solidFill>
                <a:latin typeface="Hiragino Sans" pitchFamily="34" charset="0"/>
                <a:ea typeface="Hiragino Sans" pitchFamily="34" charset="-122"/>
                <a:cs typeface="Hiragino Sans" pitchFamily="34" charset="-120"/>
              </a:rPr>
              <a:t>事業内容</a:t>
            </a:r>
            <a:endParaRPr lang="en-US" sz="1250" dirty="0"/>
          </a:p>
          <a:p>
            <a:pPr indent="0" marL="0">
              <a:buNone/>
            </a:pPr>
            <a:r>
              <a:rPr lang="en-US" sz="1050" dirty="0">
                <a:solidFill>
                  <a:srgbClr val="6B7280"/>
                </a:solidFill>
                <a:latin typeface="Hiragino Sans" pitchFamily="34" charset="0"/>
                <a:ea typeface="Hiragino Sans" pitchFamily="34" charset="-122"/>
                <a:cs typeface="Hiragino Sans" pitchFamily="34" charset="-120"/>
              </a:rPr>
              <a:t>Amazon販売の体制と実績。実体が分かる安心感</a:t>
            </a:r>
            <a:endParaRPr lang="en-US" sz="1250" dirty="0"/>
          </a:p>
        </p:txBody>
      </p:sp>
      <p:sp>
        <p:nvSpPr>
          <p:cNvPr id="24" name="Shape 22"/>
          <p:cNvSpPr/>
          <p:nvPr/>
        </p:nvSpPr>
        <p:spPr>
          <a:xfrm>
            <a:off x="3840480" y="3950208"/>
            <a:ext cx="4846320" cy="621792"/>
          </a:xfrm>
          <a:prstGeom prst="rect">
            <a:avLst/>
          </a:prstGeom>
          <a:solidFill>
            <a:srgbClr val="FFFFFF"/>
          </a:solidFill>
          <a:ln w="15875">
            <a:solidFill>
              <a:srgbClr val="D98E04"/>
            </a:solidFill>
            <a:prstDash val="solid"/>
          </a:ln>
        </p:spPr>
      </p:sp>
      <p:sp>
        <p:nvSpPr>
          <p:cNvPr id="25" name="Text 23"/>
          <p:cNvSpPr/>
          <p:nvPr/>
        </p:nvSpPr>
        <p:spPr>
          <a:xfrm>
            <a:off x="4041648" y="3950208"/>
            <a:ext cx="4480560" cy="621792"/>
          </a:xfrm>
          <a:prstGeom prst="rect">
            <a:avLst/>
          </a:prstGeom>
          <a:noFill/>
          <a:ln/>
        </p:spPr>
        <p:txBody>
          <a:bodyPr wrap="square" lIns="0" tIns="0" rIns="0" bIns="0" rtlCol="0" anchor="ctr"/>
          <a:lstStyle/>
          <a:p>
            <a:pPr indent="0" marL="0">
              <a:buNone/>
            </a:pPr>
            <a:r>
              <a:rPr lang="en-US" sz="1050" dirty="0">
                <a:solidFill>
                  <a:srgbClr val="23303F"/>
                </a:solidFill>
                <a:latin typeface="Hiragino Sans" pitchFamily="34" charset="0"/>
                <a:ea typeface="Hiragino Sans" pitchFamily="34" charset="-122"/>
                <a:cs typeface="Hiragino Sans" pitchFamily="34" charset="-120"/>
              </a:rPr>
              <a:t>肩書き・法人格は不要（実践者の9割以上が個人）。</a:t>
            </a:r>
            <a:endParaRPr lang="en-US" sz="1050" dirty="0"/>
          </a:p>
          <a:p>
            <a:pPr indent="0" marL="0">
              <a:buNone/>
            </a:pPr>
            <a:r>
              <a:rPr lang="en-US" sz="1050" dirty="0">
                <a:solidFill>
                  <a:srgbClr val="23303F"/>
                </a:solidFill>
                <a:latin typeface="Hiragino Sans" pitchFamily="34" charset="0"/>
                <a:ea typeface="Hiragino Sans" pitchFamily="34" charset="-122"/>
                <a:cs typeface="Hiragino Sans" pitchFamily="34" charset="-120"/>
              </a:rPr>
              <a:t>ホームページがあると概要URLで認知獲得でき、さらに有利。</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STEP 2 — 問い合わせ</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初回メールの型と、5つの心構え</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10</a:t>
            </a:r>
            <a:endParaRPr lang="en-US" sz="900" dirty="0"/>
          </a:p>
        </p:txBody>
      </p:sp>
      <p:sp>
        <p:nvSpPr>
          <p:cNvPr id="7" name="Shape 5"/>
          <p:cNvSpPr/>
          <p:nvPr/>
        </p:nvSpPr>
        <p:spPr>
          <a:xfrm>
            <a:off x="457200" y="1325880"/>
            <a:ext cx="3977640" cy="324612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8" name="Text 6"/>
          <p:cNvSpPr/>
          <p:nvPr/>
        </p:nvSpPr>
        <p:spPr>
          <a:xfrm>
            <a:off x="713232" y="1481328"/>
            <a:ext cx="3474720" cy="292608"/>
          </a:xfrm>
          <a:prstGeom prst="rect">
            <a:avLst/>
          </a:prstGeom>
          <a:noFill/>
          <a:ln/>
        </p:spPr>
        <p:txBody>
          <a:bodyPr wrap="square" lIns="0" tIns="0" rIns="0" bIns="0" rtlCol="0" anchor="ctr"/>
          <a:lstStyle/>
          <a:p>
            <a:pPr indent="0" marL="0">
              <a:buNone/>
            </a:pPr>
            <a:r>
              <a:rPr lang="en-US" sz="1300" b="1" dirty="0">
                <a:solidFill>
                  <a:srgbClr val="1B2A41"/>
                </a:solidFill>
                <a:latin typeface="Hiragino Sans" pitchFamily="34" charset="0"/>
                <a:ea typeface="Hiragino Sans" pitchFamily="34" charset="-122"/>
                <a:cs typeface="Hiragino Sans" pitchFamily="34" charset="-120"/>
              </a:rPr>
              <a:t>初回メールの4構成</a:t>
            </a:r>
            <a:endParaRPr lang="en-US" sz="1300" dirty="0"/>
          </a:p>
        </p:txBody>
      </p:sp>
      <p:sp>
        <p:nvSpPr>
          <p:cNvPr id="9" name="Shape 7"/>
          <p:cNvSpPr/>
          <p:nvPr/>
        </p:nvSpPr>
        <p:spPr>
          <a:xfrm>
            <a:off x="713232" y="1865376"/>
            <a:ext cx="3246120" cy="402336"/>
          </a:xfrm>
          <a:prstGeom prst="rect">
            <a:avLst/>
          </a:prstGeom>
          <a:solidFill>
            <a:srgbClr val="F7F4EE"/>
          </a:solidFill>
          <a:ln w="9525">
            <a:solidFill>
              <a:srgbClr val="E3DDD2"/>
            </a:solidFill>
            <a:prstDash val="solid"/>
          </a:ln>
        </p:spPr>
      </p:sp>
      <p:sp>
        <p:nvSpPr>
          <p:cNvPr id="10" name="Text 8"/>
          <p:cNvSpPr/>
          <p:nvPr/>
        </p:nvSpPr>
        <p:spPr>
          <a:xfrm>
            <a:off x="868680" y="1865376"/>
            <a:ext cx="3017520" cy="402336"/>
          </a:xfrm>
          <a:prstGeom prst="rect">
            <a:avLst/>
          </a:prstGeom>
          <a:noFill/>
          <a:ln/>
        </p:spPr>
        <p:txBody>
          <a:bodyPr wrap="square" lIns="0" tIns="0" rIns="0" bIns="0" rtlCol="0" anchor="ctr"/>
          <a:lstStyle/>
          <a:p>
            <a:pPr indent="0" marL="0">
              <a:buNone/>
            </a:pPr>
            <a:r>
              <a:rPr lang="en-US" sz="1100" dirty="0">
                <a:solidFill>
                  <a:srgbClr val="23303F"/>
                </a:solidFill>
                <a:latin typeface="Hiragino Sans" pitchFamily="34" charset="0"/>
                <a:ea typeface="Hiragino Sans" pitchFamily="34" charset="-122"/>
                <a:cs typeface="Hiragino Sans" pitchFamily="34" charset="-120"/>
              </a:rPr>
              <a:t>1. 書き出し（挨拶）</a:t>
            </a:r>
            <a:endParaRPr lang="en-US" sz="1100" dirty="0"/>
          </a:p>
        </p:txBody>
      </p:sp>
      <p:sp>
        <p:nvSpPr>
          <p:cNvPr id="11" name="Shape 9"/>
          <p:cNvSpPr/>
          <p:nvPr/>
        </p:nvSpPr>
        <p:spPr>
          <a:xfrm>
            <a:off x="713232" y="2377440"/>
            <a:ext cx="3246120" cy="402336"/>
          </a:xfrm>
          <a:prstGeom prst="rect">
            <a:avLst/>
          </a:prstGeom>
          <a:solidFill>
            <a:srgbClr val="F7F4EE"/>
          </a:solidFill>
          <a:ln w="9525">
            <a:solidFill>
              <a:srgbClr val="E3DDD2"/>
            </a:solidFill>
            <a:prstDash val="solid"/>
          </a:ln>
        </p:spPr>
      </p:sp>
      <p:sp>
        <p:nvSpPr>
          <p:cNvPr id="12" name="Text 10"/>
          <p:cNvSpPr/>
          <p:nvPr/>
        </p:nvSpPr>
        <p:spPr>
          <a:xfrm>
            <a:off x="868680" y="2377440"/>
            <a:ext cx="3017520" cy="402336"/>
          </a:xfrm>
          <a:prstGeom prst="rect">
            <a:avLst/>
          </a:prstGeom>
          <a:noFill/>
          <a:ln/>
        </p:spPr>
        <p:txBody>
          <a:bodyPr wrap="square" lIns="0" tIns="0" rIns="0" bIns="0" rtlCol="0" anchor="ctr"/>
          <a:lstStyle/>
          <a:p>
            <a:pPr indent="0" marL="0">
              <a:buNone/>
            </a:pPr>
            <a:r>
              <a:rPr lang="en-US" sz="1100" dirty="0">
                <a:solidFill>
                  <a:srgbClr val="23303F"/>
                </a:solidFill>
                <a:latin typeface="Hiragino Sans" pitchFamily="34" charset="0"/>
                <a:ea typeface="Hiragino Sans" pitchFamily="34" charset="-122"/>
                <a:cs typeface="Hiragino Sans" pitchFamily="34" charset="-120"/>
              </a:rPr>
              <a:t>2. 要件（取引したい旨）</a:t>
            </a:r>
            <a:endParaRPr lang="en-US" sz="1100" dirty="0"/>
          </a:p>
        </p:txBody>
      </p:sp>
      <p:sp>
        <p:nvSpPr>
          <p:cNvPr id="13" name="Shape 11"/>
          <p:cNvSpPr/>
          <p:nvPr/>
        </p:nvSpPr>
        <p:spPr>
          <a:xfrm>
            <a:off x="713232" y="2889504"/>
            <a:ext cx="3246120" cy="402336"/>
          </a:xfrm>
          <a:prstGeom prst="rect">
            <a:avLst/>
          </a:prstGeom>
          <a:solidFill>
            <a:srgbClr val="1B2A41"/>
          </a:solidFill>
          <a:ln w="9525">
            <a:solidFill>
              <a:srgbClr val="1B2A41"/>
            </a:solidFill>
            <a:prstDash val="solid"/>
          </a:ln>
        </p:spPr>
      </p:sp>
      <p:sp>
        <p:nvSpPr>
          <p:cNvPr id="14" name="Text 12"/>
          <p:cNvSpPr/>
          <p:nvPr/>
        </p:nvSpPr>
        <p:spPr>
          <a:xfrm>
            <a:off x="868680" y="2889504"/>
            <a:ext cx="3017520" cy="402336"/>
          </a:xfrm>
          <a:prstGeom prst="rect">
            <a:avLst/>
          </a:prstGeom>
          <a:noFill/>
          <a:ln/>
        </p:spPr>
        <p:txBody>
          <a:bodyPr wrap="square" lIns="0" tIns="0" rIns="0" bIns="0" rtlCol="0" anchor="ctr"/>
          <a:lstStyle/>
          <a:p>
            <a:pPr indent="0" marL="0">
              <a:buNone/>
            </a:pPr>
            <a:r>
              <a:rPr lang="en-US" sz="1100" b="1" dirty="0">
                <a:solidFill>
                  <a:srgbClr val="FFFFFF"/>
                </a:solidFill>
                <a:latin typeface="Hiragino Sans" pitchFamily="34" charset="0"/>
                <a:ea typeface="Hiragino Sans" pitchFamily="34" charset="-122"/>
                <a:cs typeface="Hiragino Sans" pitchFamily="34" charset="-120"/>
              </a:rPr>
              <a:t>3. 会社案内（概要URL）</a:t>
            </a:r>
            <a:endParaRPr lang="en-US" sz="1100" dirty="0"/>
          </a:p>
        </p:txBody>
      </p:sp>
      <p:sp>
        <p:nvSpPr>
          <p:cNvPr id="15" name="Shape 13"/>
          <p:cNvSpPr/>
          <p:nvPr/>
        </p:nvSpPr>
        <p:spPr>
          <a:xfrm>
            <a:off x="713232" y="3401568"/>
            <a:ext cx="3246120" cy="402336"/>
          </a:xfrm>
          <a:prstGeom prst="rect">
            <a:avLst/>
          </a:prstGeom>
          <a:solidFill>
            <a:srgbClr val="F7F4EE"/>
          </a:solidFill>
          <a:ln w="9525">
            <a:solidFill>
              <a:srgbClr val="E3DDD2"/>
            </a:solidFill>
            <a:prstDash val="solid"/>
          </a:ln>
        </p:spPr>
      </p:sp>
      <p:sp>
        <p:nvSpPr>
          <p:cNvPr id="16" name="Text 14"/>
          <p:cNvSpPr/>
          <p:nvPr/>
        </p:nvSpPr>
        <p:spPr>
          <a:xfrm>
            <a:off x="868680" y="3401568"/>
            <a:ext cx="3017520" cy="402336"/>
          </a:xfrm>
          <a:prstGeom prst="rect">
            <a:avLst/>
          </a:prstGeom>
          <a:noFill/>
          <a:ln/>
        </p:spPr>
        <p:txBody>
          <a:bodyPr wrap="square" lIns="0" tIns="0" rIns="0" bIns="0" rtlCol="0" anchor="ctr"/>
          <a:lstStyle/>
          <a:p>
            <a:pPr indent="0" marL="0">
              <a:buNone/>
            </a:pPr>
            <a:r>
              <a:rPr lang="en-US" sz="1100" dirty="0">
                <a:solidFill>
                  <a:srgbClr val="23303F"/>
                </a:solidFill>
                <a:latin typeface="Hiragino Sans" pitchFamily="34" charset="0"/>
                <a:ea typeface="Hiragino Sans" pitchFamily="34" charset="-122"/>
                <a:cs typeface="Hiragino Sans" pitchFamily="34" charset="-120"/>
              </a:rPr>
              <a:t>4. 終わりの一言</a:t>
            </a:r>
            <a:endParaRPr lang="en-US" sz="1100" dirty="0"/>
          </a:p>
        </p:txBody>
      </p:sp>
      <p:sp>
        <p:nvSpPr>
          <p:cNvPr id="17" name="Text 15"/>
          <p:cNvSpPr/>
          <p:nvPr/>
        </p:nvSpPr>
        <p:spPr>
          <a:xfrm>
            <a:off x="713232" y="4023360"/>
            <a:ext cx="3520440" cy="457200"/>
          </a:xfrm>
          <a:prstGeom prst="rect">
            <a:avLst/>
          </a:prstGeom>
          <a:noFill/>
          <a:ln/>
        </p:spPr>
        <p:txBody>
          <a:bodyPr wrap="square" lIns="0" tIns="0" rIns="0" bIns="0" rtlCol="0" anchor="ctr"/>
          <a:lstStyle/>
          <a:p>
            <a:pPr indent="0" marL="0">
              <a:buNone/>
            </a:pPr>
            <a:r>
              <a:rPr lang="en-US" sz="1000" i="1" dirty="0">
                <a:solidFill>
                  <a:srgbClr val="D98E04"/>
                </a:solidFill>
                <a:latin typeface="Hiragino Sans" pitchFamily="34" charset="0"/>
                <a:ea typeface="Hiragino Sans" pitchFamily="34" charset="-122"/>
                <a:cs typeface="Hiragino Sans" pitchFamily="34" charset="-120"/>
              </a:rPr>
              <a:t>テンプレ臭がした瞬間に捨てられる。必ず自分の言葉に書き直す。</a:t>
            </a:r>
            <a:endParaRPr lang="en-US" sz="1000" dirty="0"/>
          </a:p>
        </p:txBody>
      </p:sp>
      <p:sp>
        <p:nvSpPr>
          <p:cNvPr id="18" name="Shape 16"/>
          <p:cNvSpPr/>
          <p:nvPr/>
        </p:nvSpPr>
        <p:spPr>
          <a:xfrm>
            <a:off x="4709160" y="1325880"/>
            <a:ext cx="3977640" cy="324612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19" name="Text 17"/>
          <p:cNvSpPr/>
          <p:nvPr/>
        </p:nvSpPr>
        <p:spPr>
          <a:xfrm>
            <a:off x="4965192" y="1481328"/>
            <a:ext cx="3474720" cy="292608"/>
          </a:xfrm>
          <a:prstGeom prst="rect">
            <a:avLst/>
          </a:prstGeom>
          <a:noFill/>
          <a:ln/>
        </p:spPr>
        <p:txBody>
          <a:bodyPr wrap="square" lIns="0" tIns="0" rIns="0" bIns="0" rtlCol="0" anchor="ctr"/>
          <a:lstStyle/>
          <a:p>
            <a:pPr indent="0" marL="0">
              <a:buNone/>
            </a:pPr>
            <a:r>
              <a:rPr lang="en-US" sz="1300" b="1" dirty="0">
                <a:solidFill>
                  <a:srgbClr val="1B2A41"/>
                </a:solidFill>
                <a:latin typeface="Hiragino Sans" pitchFamily="34" charset="0"/>
                <a:ea typeface="Hiragino Sans" pitchFamily="34" charset="-122"/>
                <a:cs typeface="Hiragino Sans" pitchFamily="34" charset="-120"/>
              </a:rPr>
              <a:t>5つの心構え</a:t>
            </a:r>
            <a:endParaRPr lang="en-US" sz="1300" dirty="0"/>
          </a:p>
        </p:txBody>
      </p:sp>
      <p:sp>
        <p:nvSpPr>
          <p:cNvPr id="20" name="Shape 18"/>
          <p:cNvSpPr/>
          <p:nvPr/>
        </p:nvSpPr>
        <p:spPr>
          <a:xfrm>
            <a:off x="4965192" y="1883664"/>
            <a:ext cx="310896" cy="310896"/>
          </a:xfrm>
          <a:prstGeom prst="ellipse">
            <a:avLst/>
          </a:prstGeom>
          <a:solidFill>
            <a:srgbClr val="1B2A41"/>
          </a:solidFill>
          <a:ln/>
        </p:spPr>
      </p:sp>
      <p:sp>
        <p:nvSpPr>
          <p:cNvPr id="21" name="Text 19"/>
          <p:cNvSpPr/>
          <p:nvPr/>
        </p:nvSpPr>
        <p:spPr>
          <a:xfrm>
            <a:off x="4965192" y="186994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1</a:t>
            </a:r>
            <a:endParaRPr lang="en-US" sz="1200" dirty="0"/>
          </a:p>
        </p:txBody>
      </p:sp>
      <p:sp>
        <p:nvSpPr>
          <p:cNvPr id="22" name="Text 20"/>
          <p:cNvSpPr/>
          <p:nvPr/>
        </p:nvSpPr>
        <p:spPr>
          <a:xfrm>
            <a:off x="5404104" y="1883664"/>
            <a:ext cx="3108960" cy="310896"/>
          </a:xfrm>
          <a:prstGeom prst="rect">
            <a:avLst/>
          </a:prstGeom>
          <a:noFill/>
          <a:ln/>
        </p:spPr>
        <p:txBody>
          <a:bodyPr wrap="square" lIns="0" tIns="0" rIns="0" bIns="0" rtlCol="0" anchor="ctr"/>
          <a:lstStyle/>
          <a:p>
            <a:pPr indent="0" marL="0">
              <a:buNone/>
            </a:pPr>
            <a:r>
              <a:rPr lang="en-US" sz="1100" dirty="0">
                <a:solidFill>
                  <a:srgbClr val="23303F"/>
                </a:solidFill>
                <a:latin typeface="Hiragino Sans" pitchFamily="34" charset="0"/>
                <a:ea typeface="Hiragino Sans" pitchFamily="34" charset="-122"/>
                <a:cs typeface="Hiragino Sans" pitchFamily="34" charset="-120"/>
              </a:rPr>
              <a:t>会社概要を作り込む</a:t>
            </a:r>
            <a:endParaRPr lang="en-US" sz="1100" dirty="0"/>
          </a:p>
        </p:txBody>
      </p:sp>
      <p:sp>
        <p:nvSpPr>
          <p:cNvPr id="23" name="Shape 21"/>
          <p:cNvSpPr/>
          <p:nvPr/>
        </p:nvSpPr>
        <p:spPr>
          <a:xfrm>
            <a:off x="4965192" y="2359152"/>
            <a:ext cx="310896" cy="310896"/>
          </a:xfrm>
          <a:prstGeom prst="ellipse">
            <a:avLst/>
          </a:prstGeom>
          <a:solidFill>
            <a:srgbClr val="1B2A41"/>
          </a:solidFill>
          <a:ln/>
        </p:spPr>
      </p:sp>
      <p:sp>
        <p:nvSpPr>
          <p:cNvPr id="24" name="Text 22"/>
          <p:cNvSpPr/>
          <p:nvPr/>
        </p:nvSpPr>
        <p:spPr>
          <a:xfrm>
            <a:off x="4965192" y="23454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2</a:t>
            </a:r>
            <a:endParaRPr lang="en-US" sz="1200" dirty="0"/>
          </a:p>
        </p:txBody>
      </p:sp>
      <p:sp>
        <p:nvSpPr>
          <p:cNvPr id="25" name="Text 23"/>
          <p:cNvSpPr/>
          <p:nvPr/>
        </p:nvSpPr>
        <p:spPr>
          <a:xfrm>
            <a:off x="5404104" y="2359152"/>
            <a:ext cx="3108960" cy="310896"/>
          </a:xfrm>
          <a:prstGeom prst="rect">
            <a:avLst/>
          </a:prstGeom>
          <a:noFill/>
          <a:ln/>
        </p:spPr>
        <p:txBody>
          <a:bodyPr wrap="square" lIns="0" tIns="0" rIns="0" bIns="0" rtlCol="0" anchor="ctr"/>
          <a:lstStyle/>
          <a:p>
            <a:pPr indent="0" marL="0">
              <a:buNone/>
            </a:pPr>
            <a:r>
              <a:rPr lang="en-US" sz="1100" dirty="0">
                <a:solidFill>
                  <a:srgbClr val="23303F"/>
                </a:solidFill>
                <a:latin typeface="Hiragino Sans" pitchFamily="34" charset="0"/>
                <a:ea typeface="Hiragino Sans" pitchFamily="34" charset="-122"/>
                <a:cs typeface="Hiragino Sans" pitchFamily="34" charset="-120"/>
              </a:rPr>
              <a:t>丁寧に対応する</a:t>
            </a:r>
            <a:endParaRPr lang="en-US" sz="1100" dirty="0"/>
          </a:p>
        </p:txBody>
      </p:sp>
      <p:sp>
        <p:nvSpPr>
          <p:cNvPr id="26" name="Shape 24"/>
          <p:cNvSpPr/>
          <p:nvPr/>
        </p:nvSpPr>
        <p:spPr>
          <a:xfrm>
            <a:off x="4965192" y="2834640"/>
            <a:ext cx="310896" cy="310896"/>
          </a:xfrm>
          <a:prstGeom prst="ellipse">
            <a:avLst/>
          </a:prstGeom>
          <a:solidFill>
            <a:srgbClr val="D98E04"/>
          </a:solidFill>
          <a:ln/>
        </p:spPr>
      </p:sp>
      <p:sp>
        <p:nvSpPr>
          <p:cNvPr id="27" name="Text 25"/>
          <p:cNvSpPr/>
          <p:nvPr/>
        </p:nvSpPr>
        <p:spPr>
          <a:xfrm>
            <a:off x="4965192" y="28209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3</a:t>
            </a:r>
            <a:endParaRPr lang="en-US" sz="1200" dirty="0"/>
          </a:p>
        </p:txBody>
      </p:sp>
      <p:sp>
        <p:nvSpPr>
          <p:cNvPr id="28" name="Text 26"/>
          <p:cNvSpPr/>
          <p:nvPr/>
        </p:nvSpPr>
        <p:spPr>
          <a:xfrm>
            <a:off x="5404104" y="2834640"/>
            <a:ext cx="3108960" cy="310896"/>
          </a:xfrm>
          <a:prstGeom prst="rect">
            <a:avLst/>
          </a:prstGeom>
          <a:noFill/>
          <a:ln/>
        </p:spPr>
        <p:txBody>
          <a:bodyPr wrap="square" lIns="0" tIns="0" rIns="0" bIns="0" rtlCol="0" anchor="ctr"/>
          <a:lstStyle/>
          <a:p>
            <a:pPr indent="0" marL="0">
              <a:buNone/>
            </a:pPr>
            <a:r>
              <a:rPr lang="en-US" sz="1100" b="1" dirty="0">
                <a:solidFill>
                  <a:srgbClr val="23303F"/>
                </a:solidFill>
                <a:latin typeface="Hiragino Sans" pitchFamily="34" charset="0"/>
                <a:ea typeface="Hiragino Sans" pitchFamily="34" charset="-122"/>
                <a:cs typeface="Hiragino Sans" pitchFamily="34" charset="-120"/>
              </a:rPr>
              <a:t>FAX・電話も使う（メールだけにしない）</a:t>
            </a:r>
            <a:endParaRPr lang="en-US" sz="1100" dirty="0"/>
          </a:p>
        </p:txBody>
      </p:sp>
      <p:sp>
        <p:nvSpPr>
          <p:cNvPr id="29" name="Shape 27"/>
          <p:cNvSpPr/>
          <p:nvPr/>
        </p:nvSpPr>
        <p:spPr>
          <a:xfrm>
            <a:off x="4965192" y="3310128"/>
            <a:ext cx="310896" cy="310896"/>
          </a:xfrm>
          <a:prstGeom prst="ellipse">
            <a:avLst/>
          </a:prstGeom>
          <a:solidFill>
            <a:srgbClr val="D98E04"/>
          </a:solidFill>
          <a:ln/>
        </p:spPr>
      </p:sp>
      <p:sp>
        <p:nvSpPr>
          <p:cNvPr id="30" name="Text 28"/>
          <p:cNvSpPr/>
          <p:nvPr/>
        </p:nvSpPr>
        <p:spPr>
          <a:xfrm>
            <a:off x="4965192" y="329641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4</a:t>
            </a:r>
            <a:endParaRPr lang="en-US" sz="1200" dirty="0"/>
          </a:p>
        </p:txBody>
      </p:sp>
      <p:sp>
        <p:nvSpPr>
          <p:cNvPr id="31" name="Text 29"/>
          <p:cNvSpPr/>
          <p:nvPr/>
        </p:nvSpPr>
        <p:spPr>
          <a:xfrm>
            <a:off x="5404104" y="3310128"/>
            <a:ext cx="3108960" cy="310896"/>
          </a:xfrm>
          <a:prstGeom prst="rect">
            <a:avLst/>
          </a:prstGeom>
          <a:noFill/>
          <a:ln/>
        </p:spPr>
        <p:txBody>
          <a:bodyPr wrap="square" lIns="0" tIns="0" rIns="0" bIns="0" rtlCol="0" anchor="ctr"/>
          <a:lstStyle/>
          <a:p>
            <a:pPr indent="0" marL="0">
              <a:buNone/>
            </a:pPr>
            <a:r>
              <a:rPr lang="en-US" sz="1100" b="1" dirty="0">
                <a:solidFill>
                  <a:srgbClr val="23303F"/>
                </a:solidFill>
                <a:latin typeface="Hiragino Sans" pitchFamily="34" charset="0"/>
                <a:ea typeface="Hiragino Sans" pitchFamily="34" charset="-122"/>
                <a:cs typeface="Hiragino Sans" pitchFamily="34" charset="-120"/>
              </a:rPr>
              <a:t>断られたら理由を聞く</a:t>
            </a:r>
            <a:endParaRPr lang="en-US" sz="1100" dirty="0"/>
          </a:p>
        </p:txBody>
      </p:sp>
      <p:sp>
        <p:nvSpPr>
          <p:cNvPr id="32" name="Shape 30"/>
          <p:cNvSpPr/>
          <p:nvPr/>
        </p:nvSpPr>
        <p:spPr>
          <a:xfrm>
            <a:off x="4965192" y="3785616"/>
            <a:ext cx="310896" cy="310896"/>
          </a:xfrm>
          <a:prstGeom prst="ellipse">
            <a:avLst/>
          </a:prstGeom>
          <a:solidFill>
            <a:srgbClr val="D98E04"/>
          </a:solidFill>
          <a:ln/>
        </p:spPr>
      </p:sp>
      <p:sp>
        <p:nvSpPr>
          <p:cNvPr id="33" name="Text 31"/>
          <p:cNvSpPr/>
          <p:nvPr/>
        </p:nvSpPr>
        <p:spPr>
          <a:xfrm>
            <a:off x="4965192" y="37719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5</a:t>
            </a:r>
            <a:endParaRPr lang="en-US" sz="1200" dirty="0"/>
          </a:p>
        </p:txBody>
      </p:sp>
      <p:sp>
        <p:nvSpPr>
          <p:cNvPr id="34" name="Text 32"/>
          <p:cNvSpPr/>
          <p:nvPr/>
        </p:nvSpPr>
        <p:spPr>
          <a:xfrm>
            <a:off x="5404104" y="3785616"/>
            <a:ext cx="3108960" cy="310896"/>
          </a:xfrm>
          <a:prstGeom prst="rect">
            <a:avLst/>
          </a:prstGeom>
          <a:noFill/>
          <a:ln/>
        </p:spPr>
        <p:txBody>
          <a:bodyPr wrap="square" lIns="0" tIns="0" rIns="0" bIns="0" rtlCol="0" anchor="ctr"/>
          <a:lstStyle/>
          <a:p>
            <a:pPr indent="0" marL="0">
              <a:buNone/>
            </a:pPr>
            <a:r>
              <a:rPr lang="en-US" sz="1100" b="1" dirty="0">
                <a:solidFill>
                  <a:srgbClr val="23303F"/>
                </a:solidFill>
                <a:latin typeface="Hiragino Sans" pitchFamily="34" charset="0"/>
                <a:ea typeface="Hiragino Sans" pitchFamily="34" charset="-122"/>
                <a:cs typeface="Hiragino Sans" pitchFamily="34" charset="-120"/>
              </a:rPr>
              <a:t>利益が出ない見積なら条件を聞く</a:t>
            </a:r>
            <a:endParaRPr lang="en-US" sz="1100" dirty="0"/>
          </a:p>
        </p:txBody>
      </p:sp>
      <p:sp>
        <p:nvSpPr>
          <p:cNvPr id="35" name="Text 33"/>
          <p:cNvSpPr/>
          <p:nvPr/>
        </p:nvSpPr>
        <p:spPr>
          <a:xfrm>
            <a:off x="4965192" y="4224528"/>
            <a:ext cx="3566160" cy="274320"/>
          </a:xfrm>
          <a:prstGeom prst="rect">
            <a:avLst/>
          </a:prstGeom>
          <a:noFill/>
          <a:ln/>
        </p:spPr>
        <p:txBody>
          <a:bodyPr wrap="square" lIns="0" tIns="0" rIns="0" bIns="0" rtlCol="0" anchor="ctr"/>
          <a:lstStyle/>
          <a:p>
            <a:pPr indent="0" marL="0">
              <a:buNone/>
            </a:pPr>
            <a:r>
              <a:rPr lang="en-US" sz="1000" i="1" dirty="0">
                <a:solidFill>
                  <a:srgbClr val="6B7280"/>
                </a:solidFill>
                <a:latin typeface="Hiragino Sans" pitchFamily="34" charset="0"/>
                <a:ea typeface="Hiragino Sans" pitchFamily="34" charset="-122"/>
                <a:cs typeface="Hiragino Sans" pitchFamily="34" charset="-120"/>
              </a:rPr>
              <a:t>中小メーカーはFAXと電話の文化。一往復で終わらせない。</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STEP 3 — 仕入れ判断</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見積が来たら「経費35%」で即判定</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11</a:t>
            </a:r>
            <a:endParaRPr lang="en-US" sz="900" dirty="0"/>
          </a:p>
        </p:txBody>
      </p:sp>
      <p:sp>
        <p:nvSpPr>
          <p:cNvPr id="7" name="Shape 5"/>
          <p:cNvSpPr/>
          <p:nvPr/>
        </p:nvSpPr>
        <p:spPr>
          <a:xfrm>
            <a:off x="457200" y="1371600"/>
            <a:ext cx="8229600" cy="868680"/>
          </a:xfrm>
          <a:prstGeom prst="rect">
            <a:avLst/>
          </a:prstGeom>
          <a:solidFill>
            <a:srgbClr val="1B2A41"/>
          </a:solidFill>
          <a:ln/>
          <a:effectLst>
            <a:outerShdw sx="100000" sy="100000" kx="0" ky="0" algn="bl" rotWithShape="0" blurRad="88900" dist="25400" dir="8100000">
              <a:srgbClr val="1B2A41">
                <a:alpha val="14000"/>
              </a:srgbClr>
            </a:outerShdw>
          </a:effectLst>
        </p:spPr>
      </p:sp>
      <p:sp>
        <p:nvSpPr>
          <p:cNvPr id="8" name="Text 6"/>
          <p:cNvSpPr/>
          <p:nvPr/>
        </p:nvSpPr>
        <p:spPr>
          <a:xfrm>
            <a:off x="457200" y="1371600"/>
            <a:ext cx="5852160" cy="868680"/>
          </a:xfrm>
          <a:prstGeom prst="rect">
            <a:avLst/>
          </a:prstGeom>
          <a:noFill/>
          <a:ln/>
        </p:spPr>
        <p:txBody>
          <a:bodyPr wrap="square" lIns="0" tIns="0" rIns="0" bIns="0" rtlCol="0" anchor="ctr"/>
          <a:lstStyle/>
          <a:p>
            <a:pPr algn="ctr" indent="0" marL="0">
              <a:buNone/>
            </a:pPr>
            <a:r>
              <a:rPr lang="en-US" sz="2100" b="1" dirty="0">
                <a:solidFill>
                  <a:srgbClr val="FFFFFF"/>
                </a:solidFill>
                <a:latin typeface="Hiragino Sans" pitchFamily="34" charset="0"/>
                <a:ea typeface="Hiragino Sans" pitchFamily="34" charset="-122"/>
                <a:cs typeface="Hiragino Sans" pitchFamily="34" charset="-120"/>
              </a:rPr>
              <a:t>利益 ＝ 販売価格 × 0.65 − 仕入価格</a:t>
            </a:r>
            <a:endParaRPr lang="en-US" sz="2100" dirty="0"/>
          </a:p>
        </p:txBody>
      </p:sp>
      <p:sp>
        <p:nvSpPr>
          <p:cNvPr id="9" name="Shape 7"/>
          <p:cNvSpPr/>
          <p:nvPr/>
        </p:nvSpPr>
        <p:spPr>
          <a:xfrm>
            <a:off x="6309360" y="1371600"/>
            <a:ext cx="18288" cy="868680"/>
          </a:xfrm>
          <a:prstGeom prst="rect">
            <a:avLst/>
          </a:prstGeom>
          <a:solidFill>
            <a:srgbClr val="2B3F5C"/>
          </a:solidFill>
          <a:ln/>
        </p:spPr>
      </p:sp>
      <p:sp>
        <p:nvSpPr>
          <p:cNvPr id="10" name="Text 8"/>
          <p:cNvSpPr/>
          <p:nvPr/>
        </p:nvSpPr>
        <p:spPr>
          <a:xfrm>
            <a:off x="6446520" y="1371600"/>
            <a:ext cx="2148840" cy="868680"/>
          </a:xfrm>
          <a:prstGeom prst="rect">
            <a:avLst/>
          </a:prstGeom>
          <a:noFill/>
          <a:ln/>
        </p:spPr>
        <p:txBody>
          <a:bodyPr wrap="square" lIns="0" tIns="0" rIns="0" bIns="0" rtlCol="0" anchor="ctr"/>
          <a:lstStyle/>
          <a:p>
            <a:pPr indent="0" marL="0">
              <a:buNone/>
            </a:pPr>
            <a:r>
              <a:rPr lang="en-US" sz="1050" dirty="0">
                <a:solidFill>
                  <a:srgbClr val="C9D4E3"/>
                </a:solidFill>
                <a:latin typeface="Hiragino Sans" pitchFamily="34" charset="0"/>
                <a:ea typeface="Hiragino Sans" pitchFamily="34" charset="-122"/>
                <a:cs typeface="Hiragino Sans" pitchFamily="34" charset="-120"/>
              </a:rPr>
              <a:t>経費35% ＝ 販売手数料</a:t>
            </a:r>
            <a:endParaRPr lang="en-US" sz="1050" dirty="0"/>
          </a:p>
          <a:p>
            <a:pPr indent="0" marL="0">
              <a:buNone/>
            </a:pPr>
            <a:r>
              <a:rPr lang="en-US" sz="1050" dirty="0">
                <a:solidFill>
                  <a:srgbClr val="C9D4E3"/>
                </a:solidFill>
                <a:latin typeface="Hiragino Sans" pitchFamily="34" charset="0"/>
                <a:ea typeface="Hiragino Sans" pitchFamily="34" charset="-122"/>
                <a:cs typeface="Hiragino Sans" pitchFamily="34" charset="-120"/>
              </a:rPr>
              <a:t>＋FBA配送料＋納品送料</a:t>
            </a:r>
            <a:endParaRPr lang="en-US" sz="1050" dirty="0"/>
          </a:p>
        </p:txBody>
      </p:sp>
      <p:sp>
        <p:nvSpPr>
          <p:cNvPr id="11" name="Shape 9"/>
          <p:cNvSpPr/>
          <p:nvPr/>
        </p:nvSpPr>
        <p:spPr>
          <a:xfrm>
            <a:off x="457200" y="2514600"/>
            <a:ext cx="5120640" cy="205740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12" name="Text 10"/>
          <p:cNvSpPr/>
          <p:nvPr/>
        </p:nvSpPr>
        <p:spPr>
          <a:xfrm>
            <a:off x="713232" y="2670048"/>
            <a:ext cx="4572000" cy="274320"/>
          </a:xfrm>
          <a:prstGeom prst="rect">
            <a:avLst/>
          </a:prstGeom>
          <a:noFill/>
          <a:ln/>
        </p:spPr>
        <p:txBody>
          <a:bodyPr wrap="square" lIns="0" tIns="0" rIns="0" bIns="0" rtlCol="0" anchor="ctr"/>
          <a:lstStyle/>
          <a:p>
            <a:pPr indent="0" marL="0">
              <a:buNone/>
            </a:pPr>
            <a:r>
              <a:rPr lang="en-US" sz="1250" b="1" dirty="0">
                <a:solidFill>
                  <a:srgbClr val="1B2A41"/>
                </a:solidFill>
                <a:latin typeface="Hiragino Sans" pitchFamily="34" charset="0"/>
                <a:ea typeface="Hiragino Sans" pitchFamily="34" charset="-122"/>
                <a:cs typeface="Hiragino Sans" pitchFamily="34" charset="-120"/>
              </a:rPr>
              <a:t>セミナー実例（販売価格 1,980円）</a:t>
            </a:r>
            <a:endParaRPr lang="en-US" sz="1250" dirty="0"/>
          </a:p>
        </p:txBody>
      </p:sp>
      <p:sp>
        <p:nvSpPr>
          <p:cNvPr id="13" name="Text 11"/>
          <p:cNvSpPr/>
          <p:nvPr/>
        </p:nvSpPr>
        <p:spPr>
          <a:xfrm>
            <a:off x="713232" y="3017520"/>
            <a:ext cx="2194560" cy="256032"/>
          </a:xfrm>
          <a:prstGeom prst="rect">
            <a:avLst/>
          </a:prstGeom>
          <a:noFill/>
          <a:ln/>
        </p:spPr>
        <p:txBody>
          <a:bodyPr wrap="square" lIns="0" tIns="0" rIns="0" bIns="0" rtlCol="0" anchor="ctr"/>
          <a:lstStyle/>
          <a:p>
            <a:pPr indent="0" marL="0">
              <a:buNone/>
            </a:pPr>
            <a:r>
              <a:rPr lang="en-US" sz="1050" b="1" dirty="0">
                <a:solidFill>
                  <a:srgbClr val="1B2A41"/>
                </a:solidFill>
                <a:latin typeface="Hiragino Sans" pitchFamily="34" charset="0"/>
                <a:ea typeface="Hiragino Sans" pitchFamily="34" charset="-122"/>
                <a:cs typeface="Hiragino Sans" pitchFamily="34" charset="-120"/>
              </a:rPr>
              <a:t>販売価格</a:t>
            </a:r>
            <a:endParaRPr lang="en-US" sz="1050" dirty="0"/>
          </a:p>
        </p:txBody>
      </p:sp>
      <p:sp>
        <p:nvSpPr>
          <p:cNvPr id="14" name="Text 12"/>
          <p:cNvSpPr/>
          <p:nvPr/>
        </p:nvSpPr>
        <p:spPr>
          <a:xfrm>
            <a:off x="3108960" y="3017520"/>
            <a:ext cx="1280160" cy="256032"/>
          </a:xfrm>
          <a:prstGeom prst="rect">
            <a:avLst/>
          </a:prstGeom>
          <a:noFill/>
          <a:ln/>
        </p:spPr>
        <p:txBody>
          <a:bodyPr wrap="square" lIns="0" tIns="0" rIns="0" bIns="0" rtlCol="0" anchor="ctr"/>
          <a:lstStyle/>
          <a:p>
            <a:pPr algn="r" indent="0" marL="0">
              <a:buNone/>
            </a:pPr>
            <a:r>
              <a:rPr lang="en-US" sz="1050" b="1" dirty="0">
                <a:solidFill>
                  <a:srgbClr val="1B2A41"/>
                </a:solidFill>
                <a:latin typeface="Hiragino Sans" pitchFamily="34" charset="0"/>
                <a:ea typeface="Hiragino Sans" pitchFamily="34" charset="-122"/>
                <a:cs typeface="Hiragino Sans" pitchFamily="34" charset="-120"/>
              </a:rPr>
              <a:t>1,980円</a:t>
            </a:r>
            <a:endParaRPr lang="en-US" sz="1050" dirty="0"/>
          </a:p>
        </p:txBody>
      </p:sp>
      <p:sp>
        <p:nvSpPr>
          <p:cNvPr id="15" name="Text 13"/>
          <p:cNvSpPr/>
          <p:nvPr/>
        </p:nvSpPr>
        <p:spPr>
          <a:xfrm>
            <a:off x="713232" y="3291840"/>
            <a:ext cx="2194560" cy="256032"/>
          </a:xfrm>
          <a:prstGeom prst="rect">
            <a:avLst/>
          </a:prstGeom>
          <a:noFill/>
          <a:ln/>
        </p:spPr>
        <p:txBody>
          <a:bodyPr wrap="square" lIns="0" tIns="0" rIns="0" bIns="0" rtlCol="0" anchor="ctr"/>
          <a:lstStyle/>
          <a:p>
            <a:pPr indent="0" marL="0">
              <a:buNone/>
            </a:pPr>
            <a:r>
              <a:rPr lang="en-US" sz="1050" dirty="0">
                <a:solidFill>
                  <a:srgbClr val="6B7280"/>
                </a:solidFill>
                <a:latin typeface="Hiragino Sans" pitchFamily="34" charset="0"/>
                <a:ea typeface="Hiragino Sans" pitchFamily="34" charset="-122"/>
                <a:cs typeface="Hiragino Sans" pitchFamily="34" charset="-120"/>
              </a:rPr>
              <a:t>販売手数料</a:t>
            </a:r>
            <a:endParaRPr lang="en-US" sz="1050" dirty="0"/>
          </a:p>
        </p:txBody>
      </p:sp>
      <p:sp>
        <p:nvSpPr>
          <p:cNvPr id="16" name="Text 14"/>
          <p:cNvSpPr/>
          <p:nvPr/>
        </p:nvSpPr>
        <p:spPr>
          <a:xfrm>
            <a:off x="3108960" y="3291840"/>
            <a:ext cx="1280160" cy="256032"/>
          </a:xfrm>
          <a:prstGeom prst="rect">
            <a:avLst/>
          </a:prstGeom>
          <a:noFill/>
          <a:ln/>
        </p:spPr>
        <p:txBody>
          <a:bodyPr wrap="square" lIns="0" tIns="0" rIns="0" bIns="0" rtlCol="0" anchor="ctr"/>
          <a:lstStyle/>
          <a:p>
            <a:pPr algn="r" indent="0" marL="0">
              <a:buNone/>
            </a:pPr>
            <a:r>
              <a:rPr lang="en-US" sz="1050" dirty="0">
                <a:solidFill>
                  <a:srgbClr val="23303F"/>
                </a:solidFill>
                <a:latin typeface="Hiragino Sans" pitchFamily="34" charset="0"/>
                <a:ea typeface="Hiragino Sans" pitchFamily="34" charset="-122"/>
                <a:cs typeface="Hiragino Sans" pitchFamily="34" charset="-120"/>
              </a:rPr>
              <a:t>−218円</a:t>
            </a:r>
            <a:endParaRPr lang="en-US" sz="1050" dirty="0"/>
          </a:p>
        </p:txBody>
      </p:sp>
      <p:sp>
        <p:nvSpPr>
          <p:cNvPr id="17" name="Text 15"/>
          <p:cNvSpPr/>
          <p:nvPr/>
        </p:nvSpPr>
        <p:spPr>
          <a:xfrm>
            <a:off x="713232" y="3566160"/>
            <a:ext cx="2194560" cy="256032"/>
          </a:xfrm>
          <a:prstGeom prst="rect">
            <a:avLst/>
          </a:prstGeom>
          <a:noFill/>
          <a:ln/>
        </p:spPr>
        <p:txBody>
          <a:bodyPr wrap="square" lIns="0" tIns="0" rIns="0" bIns="0" rtlCol="0" anchor="ctr"/>
          <a:lstStyle/>
          <a:p>
            <a:pPr indent="0" marL="0">
              <a:buNone/>
            </a:pPr>
            <a:r>
              <a:rPr lang="en-US" sz="1050" dirty="0">
                <a:solidFill>
                  <a:srgbClr val="6B7280"/>
                </a:solidFill>
                <a:latin typeface="Hiragino Sans" pitchFamily="34" charset="0"/>
                <a:ea typeface="Hiragino Sans" pitchFamily="34" charset="-122"/>
                <a:cs typeface="Hiragino Sans" pitchFamily="34" charset="-120"/>
              </a:rPr>
              <a:t>FBA配送料</a:t>
            </a:r>
            <a:endParaRPr lang="en-US" sz="1050" dirty="0"/>
          </a:p>
        </p:txBody>
      </p:sp>
      <p:sp>
        <p:nvSpPr>
          <p:cNvPr id="18" name="Text 16"/>
          <p:cNvSpPr/>
          <p:nvPr/>
        </p:nvSpPr>
        <p:spPr>
          <a:xfrm>
            <a:off x="3108960" y="3566160"/>
            <a:ext cx="1280160" cy="256032"/>
          </a:xfrm>
          <a:prstGeom prst="rect">
            <a:avLst/>
          </a:prstGeom>
          <a:noFill/>
          <a:ln/>
        </p:spPr>
        <p:txBody>
          <a:bodyPr wrap="square" lIns="0" tIns="0" rIns="0" bIns="0" rtlCol="0" anchor="ctr"/>
          <a:lstStyle/>
          <a:p>
            <a:pPr algn="r" indent="0" marL="0">
              <a:buNone/>
            </a:pPr>
            <a:r>
              <a:rPr lang="en-US" sz="1050" dirty="0">
                <a:solidFill>
                  <a:srgbClr val="23303F"/>
                </a:solidFill>
                <a:latin typeface="Hiragino Sans" pitchFamily="34" charset="0"/>
                <a:ea typeface="Hiragino Sans" pitchFamily="34" charset="-122"/>
                <a:cs typeface="Hiragino Sans" pitchFamily="34" charset="-120"/>
              </a:rPr>
              <a:t>−434円</a:t>
            </a:r>
            <a:endParaRPr lang="en-US" sz="1050" dirty="0"/>
          </a:p>
        </p:txBody>
      </p:sp>
      <p:sp>
        <p:nvSpPr>
          <p:cNvPr id="19" name="Text 17"/>
          <p:cNvSpPr/>
          <p:nvPr/>
        </p:nvSpPr>
        <p:spPr>
          <a:xfrm>
            <a:off x="713232" y="3840480"/>
            <a:ext cx="2194560" cy="256032"/>
          </a:xfrm>
          <a:prstGeom prst="rect">
            <a:avLst/>
          </a:prstGeom>
          <a:noFill/>
          <a:ln/>
        </p:spPr>
        <p:txBody>
          <a:bodyPr wrap="square" lIns="0" tIns="0" rIns="0" bIns="0" rtlCol="0" anchor="ctr"/>
          <a:lstStyle/>
          <a:p>
            <a:pPr indent="0" marL="0">
              <a:buNone/>
            </a:pPr>
            <a:r>
              <a:rPr lang="en-US" sz="1050" dirty="0">
                <a:solidFill>
                  <a:srgbClr val="6B7280"/>
                </a:solidFill>
                <a:latin typeface="Hiragino Sans" pitchFamily="34" charset="0"/>
                <a:ea typeface="Hiragino Sans" pitchFamily="34" charset="-122"/>
                <a:cs typeface="Hiragino Sans" pitchFamily="34" charset="-120"/>
              </a:rPr>
              <a:t>納品送料</a:t>
            </a:r>
            <a:endParaRPr lang="en-US" sz="1050" dirty="0"/>
          </a:p>
        </p:txBody>
      </p:sp>
      <p:sp>
        <p:nvSpPr>
          <p:cNvPr id="20" name="Text 18"/>
          <p:cNvSpPr/>
          <p:nvPr/>
        </p:nvSpPr>
        <p:spPr>
          <a:xfrm>
            <a:off x="3108960" y="3840480"/>
            <a:ext cx="1280160" cy="256032"/>
          </a:xfrm>
          <a:prstGeom prst="rect">
            <a:avLst/>
          </a:prstGeom>
          <a:noFill/>
          <a:ln/>
        </p:spPr>
        <p:txBody>
          <a:bodyPr wrap="square" lIns="0" tIns="0" rIns="0" bIns="0" rtlCol="0" anchor="ctr"/>
          <a:lstStyle/>
          <a:p>
            <a:pPr algn="r" indent="0" marL="0">
              <a:buNone/>
            </a:pPr>
            <a:r>
              <a:rPr lang="en-US" sz="1050" dirty="0">
                <a:solidFill>
                  <a:srgbClr val="23303F"/>
                </a:solidFill>
                <a:latin typeface="Hiragino Sans" pitchFamily="34" charset="0"/>
                <a:ea typeface="Hiragino Sans" pitchFamily="34" charset="-122"/>
                <a:cs typeface="Hiragino Sans" pitchFamily="34" charset="-120"/>
              </a:rPr>
              <a:t>−30円</a:t>
            </a:r>
            <a:endParaRPr lang="en-US" sz="1050" dirty="0"/>
          </a:p>
        </p:txBody>
      </p:sp>
      <p:sp>
        <p:nvSpPr>
          <p:cNvPr id="21" name="Text 19"/>
          <p:cNvSpPr/>
          <p:nvPr/>
        </p:nvSpPr>
        <p:spPr>
          <a:xfrm>
            <a:off x="713232" y="4114800"/>
            <a:ext cx="2194560" cy="256032"/>
          </a:xfrm>
          <a:prstGeom prst="rect">
            <a:avLst/>
          </a:prstGeom>
          <a:noFill/>
          <a:ln/>
        </p:spPr>
        <p:txBody>
          <a:bodyPr wrap="square" lIns="0" tIns="0" rIns="0" bIns="0" rtlCol="0" anchor="ctr"/>
          <a:lstStyle/>
          <a:p>
            <a:pPr indent="0" marL="0">
              <a:buNone/>
            </a:pPr>
            <a:r>
              <a:rPr lang="en-US" sz="1050" dirty="0">
                <a:solidFill>
                  <a:srgbClr val="6B7280"/>
                </a:solidFill>
                <a:latin typeface="Hiragino Sans" pitchFamily="34" charset="0"/>
                <a:ea typeface="Hiragino Sans" pitchFamily="34" charset="-122"/>
                <a:cs typeface="Hiragino Sans" pitchFamily="34" charset="-120"/>
              </a:rPr>
              <a:t>仕入価格</a:t>
            </a:r>
            <a:endParaRPr lang="en-US" sz="1050" dirty="0"/>
          </a:p>
        </p:txBody>
      </p:sp>
      <p:sp>
        <p:nvSpPr>
          <p:cNvPr id="22" name="Text 20"/>
          <p:cNvSpPr/>
          <p:nvPr/>
        </p:nvSpPr>
        <p:spPr>
          <a:xfrm>
            <a:off x="3108960" y="4114800"/>
            <a:ext cx="1280160" cy="256032"/>
          </a:xfrm>
          <a:prstGeom prst="rect">
            <a:avLst/>
          </a:prstGeom>
          <a:noFill/>
          <a:ln/>
        </p:spPr>
        <p:txBody>
          <a:bodyPr wrap="square" lIns="0" tIns="0" rIns="0" bIns="0" rtlCol="0" anchor="ctr"/>
          <a:lstStyle/>
          <a:p>
            <a:pPr algn="r" indent="0" marL="0">
              <a:buNone/>
            </a:pPr>
            <a:r>
              <a:rPr lang="en-US" sz="1050" dirty="0">
                <a:solidFill>
                  <a:srgbClr val="23303F"/>
                </a:solidFill>
                <a:latin typeface="Hiragino Sans" pitchFamily="34" charset="0"/>
                <a:ea typeface="Hiragino Sans" pitchFamily="34" charset="-122"/>
                <a:cs typeface="Hiragino Sans" pitchFamily="34" charset="-120"/>
              </a:rPr>
              <a:t>−1,188円</a:t>
            </a:r>
            <a:endParaRPr lang="en-US" sz="1050" dirty="0"/>
          </a:p>
        </p:txBody>
      </p:sp>
      <p:sp>
        <p:nvSpPr>
          <p:cNvPr id="23" name="Shape 21"/>
          <p:cNvSpPr/>
          <p:nvPr/>
        </p:nvSpPr>
        <p:spPr>
          <a:xfrm>
            <a:off x="4462272" y="3035808"/>
            <a:ext cx="0" cy="1280160"/>
          </a:xfrm>
          <a:prstGeom prst="line">
            <a:avLst/>
          </a:prstGeom>
          <a:noFill/>
          <a:ln w="9525">
            <a:solidFill>
              <a:srgbClr val="E3DDD2"/>
            </a:solidFill>
            <a:prstDash val="solid"/>
          </a:ln>
        </p:spPr>
      </p:sp>
      <p:sp>
        <p:nvSpPr>
          <p:cNvPr id="24" name="Text 22"/>
          <p:cNvSpPr/>
          <p:nvPr/>
        </p:nvSpPr>
        <p:spPr>
          <a:xfrm>
            <a:off x="4572000" y="3200400"/>
            <a:ext cx="960120" cy="1005840"/>
          </a:xfrm>
          <a:prstGeom prst="rect">
            <a:avLst/>
          </a:prstGeom>
          <a:noFill/>
          <a:ln/>
        </p:spPr>
        <p:txBody>
          <a:bodyPr wrap="square" lIns="0" tIns="0" rIns="0" bIns="0" rtlCol="0" anchor="ctr"/>
          <a:lstStyle/>
          <a:p>
            <a:pPr algn="l" indent="0" marL="0">
              <a:buNone/>
            </a:pPr>
            <a:r>
              <a:rPr lang="en-US" sz="1100" dirty="0">
                <a:solidFill>
                  <a:srgbClr val="6B7280"/>
                </a:solidFill>
                <a:latin typeface="Hiragino Sans" pitchFamily="34" charset="0"/>
                <a:ea typeface="Hiragino Sans" pitchFamily="34" charset="-122"/>
                <a:cs typeface="Hiragino Sans" pitchFamily="34" charset="-120"/>
              </a:rPr>
              <a:t>利益</a:t>
            </a:r>
            <a:endParaRPr lang="en-US" sz="1100" dirty="0"/>
          </a:p>
          <a:p>
            <a:pPr algn="l" indent="0" marL="0">
              <a:buNone/>
            </a:pPr>
            <a:r>
              <a:rPr lang="en-US" sz="2200" b="1" dirty="0">
                <a:solidFill>
                  <a:srgbClr val="D98E04"/>
                </a:solidFill>
                <a:latin typeface="Hiragino Sans" pitchFamily="34" charset="0"/>
                <a:ea typeface="Hiragino Sans" pitchFamily="34" charset="-122"/>
                <a:cs typeface="Hiragino Sans" pitchFamily="34" charset="-120"/>
              </a:rPr>
              <a:t>110円</a:t>
            </a:r>
            <a:endParaRPr lang="en-US" sz="1100" dirty="0"/>
          </a:p>
        </p:txBody>
      </p:sp>
      <p:sp>
        <p:nvSpPr>
          <p:cNvPr id="25" name="Shape 23"/>
          <p:cNvSpPr/>
          <p:nvPr/>
        </p:nvSpPr>
        <p:spPr>
          <a:xfrm>
            <a:off x="5852160" y="2514600"/>
            <a:ext cx="2834640" cy="205740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26" name="Text 24"/>
          <p:cNvSpPr/>
          <p:nvPr/>
        </p:nvSpPr>
        <p:spPr>
          <a:xfrm>
            <a:off x="6089904" y="2724912"/>
            <a:ext cx="2377440" cy="1691640"/>
          </a:xfrm>
          <a:prstGeom prst="rect">
            <a:avLst/>
          </a:prstGeom>
          <a:noFill/>
          <a:ln/>
        </p:spPr>
        <p:txBody>
          <a:bodyPr wrap="square" lIns="0" tIns="0" rIns="0" bIns="0" rtlCol="0" anchor="ctr"/>
          <a:lstStyle/>
          <a:p>
            <a:pPr indent="0" marL="0">
              <a:lnSpc>
                <a:spcPct val="118000"/>
              </a:lnSpc>
              <a:spcAft>
                <a:spcPts val="500"/>
              </a:spcAft>
              <a:buNone/>
            </a:pPr>
            <a:r>
              <a:rPr lang="en-US" sz="1300" b="1" dirty="0">
                <a:solidFill>
                  <a:srgbClr val="1B2A41"/>
                </a:solidFill>
                <a:latin typeface="Hiragino Sans" pitchFamily="34" charset="0"/>
                <a:ea typeface="Hiragino Sans" pitchFamily="34" charset="-122"/>
                <a:cs typeface="Hiragino Sans" pitchFamily="34" charset="-120"/>
              </a:rPr>
              <a:t>110円は小さくない</a:t>
            </a:r>
            <a:endParaRPr lang="en-US" sz="1300" dirty="0"/>
          </a:p>
          <a:p>
            <a:pPr indent="0" marL="0">
              <a:lnSpc>
                <a:spcPct val="118000"/>
              </a:lnSpc>
              <a:spcAft>
                <a:spcPts val="700"/>
              </a:spcAft>
              <a:buNone/>
            </a:pPr>
            <a:r>
              <a:rPr lang="en-US" sz="1100" dirty="0">
                <a:solidFill>
                  <a:srgbClr val="23303F"/>
                </a:solidFill>
                <a:latin typeface="Hiragino Sans" pitchFamily="34" charset="0"/>
                <a:ea typeface="Hiragino Sans" pitchFamily="34" charset="-122"/>
                <a:cs typeface="Hiragino Sans" pitchFamily="34" charset="-120"/>
              </a:rPr>
              <a:t>月280個売れれば 3万円/月。リピートで毎月続く。</a:t>
            </a:r>
            <a:endParaRPr lang="en-US" sz="1300" dirty="0"/>
          </a:p>
          <a:p>
            <a:pPr indent="0" marL="0">
              <a:lnSpc>
                <a:spcPct val="118000"/>
              </a:lnSpc>
              <a:buNone/>
            </a:pPr>
            <a:r>
              <a:rPr lang="en-US" sz="1000" dirty="0">
                <a:solidFill>
                  <a:srgbClr val="6B7280"/>
                </a:solidFill>
                <a:latin typeface="Hiragino Sans" pitchFamily="34" charset="0"/>
                <a:ea typeface="Hiragino Sans" pitchFamily="34" charset="-122"/>
                <a:cs typeface="Hiragino Sans" pitchFamily="34" charset="-120"/>
              </a:rPr>
              <a:t>この概算で足切りし、有望なものだけ正確な計算へ。判断速度を落とさない。</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STEP 3 — 仕入れ判断</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「月に何個売れるか」を必ず数字で確認する</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12</a:t>
            </a:r>
            <a:endParaRPr lang="en-US" sz="900" dirty="0"/>
          </a:p>
        </p:txBody>
      </p:sp>
      <p:sp>
        <p:nvSpPr>
          <p:cNvPr id="7" name="Shape 5"/>
          <p:cNvSpPr/>
          <p:nvPr/>
        </p:nvSpPr>
        <p:spPr>
          <a:xfrm>
            <a:off x="457200" y="1371600"/>
            <a:ext cx="3977640" cy="210312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8" name="Shape 6"/>
          <p:cNvSpPr/>
          <p:nvPr/>
        </p:nvSpPr>
        <p:spPr>
          <a:xfrm>
            <a:off x="457200" y="1371600"/>
            <a:ext cx="3977640" cy="512064"/>
          </a:xfrm>
          <a:prstGeom prst="rect">
            <a:avLst/>
          </a:prstGeom>
          <a:solidFill>
            <a:srgbClr val="1B2A41"/>
          </a:solidFill>
          <a:ln/>
        </p:spPr>
      </p:sp>
      <p:sp>
        <p:nvSpPr>
          <p:cNvPr id="9" name="Text 7"/>
          <p:cNvSpPr/>
          <p:nvPr/>
        </p:nvSpPr>
        <p:spPr>
          <a:xfrm>
            <a:off x="676656" y="1371600"/>
            <a:ext cx="3566160" cy="512064"/>
          </a:xfrm>
          <a:prstGeom prst="rect">
            <a:avLst/>
          </a:prstGeom>
          <a:noFill/>
          <a:ln/>
        </p:spPr>
        <p:txBody>
          <a:bodyPr wrap="square" lIns="0" tIns="0" rIns="0" bIns="0" rtlCol="0" anchor="ctr"/>
          <a:lstStyle/>
          <a:p>
            <a:pPr indent="0" marL="0">
              <a:buNone/>
            </a:pPr>
            <a:r>
              <a:rPr lang="en-US" sz="1350" b="1" dirty="0">
                <a:solidFill>
                  <a:srgbClr val="FFFFFF"/>
                </a:solidFill>
                <a:latin typeface="Hiragino Sans" pitchFamily="34" charset="0"/>
                <a:ea typeface="Hiragino Sans" pitchFamily="34" charset="-122"/>
                <a:cs typeface="Hiragino Sans" pitchFamily="34" charset="-120"/>
              </a:rPr>
              <a:t>方法① キーゾン</a:t>
            </a:r>
            <a:endParaRPr lang="en-US" sz="1350" dirty="0"/>
          </a:p>
        </p:txBody>
      </p:sp>
      <p:sp>
        <p:nvSpPr>
          <p:cNvPr id="10" name="Text 8"/>
          <p:cNvSpPr/>
          <p:nvPr/>
        </p:nvSpPr>
        <p:spPr>
          <a:xfrm>
            <a:off x="676656" y="2029968"/>
            <a:ext cx="3566160" cy="1325880"/>
          </a:xfrm>
          <a:prstGeom prst="rect">
            <a:avLst/>
          </a:prstGeom>
          <a:noFill/>
          <a:ln/>
        </p:spPr>
        <p:txBody>
          <a:bodyPr wrap="square" lIns="0" tIns="0" rIns="0" bIns="0" rtlCol="0" anchor="ctr"/>
          <a:lstStyle/>
          <a:p>
            <a:pPr indent="0" marL="0">
              <a:lnSpc>
                <a:spcPct val="120000"/>
              </a:lnSpc>
              <a:spcAft>
                <a:spcPts val="500"/>
              </a:spcAft>
              <a:buNone/>
            </a:pPr>
            <a:r>
              <a:rPr lang="en-US" sz="1150" b="1" dirty="0">
                <a:solidFill>
                  <a:srgbClr val="D98E04"/>
                </a:solidFill>
                <a:latin typeface="Hiragino Sans" pitchFamily="34" charset="0"/>
                <a:ea typeface="Hiragino Sans" pitchFamily="34" charset="-122"/>
                <a:cs typeface="Hiragino Sans" pitchFamily="34" charset="-120"/>
              </a:rPr>
              <a:t>Keepa連携のChrome拡張（無料）</a:t>
            </a:r>
            <a:endParaRPr lang="en-US" sz="1150" dirty="0"/>
          </a:p>
          <a:p>
            <a:pPr indent="0" marL="0">
              <a:lnSpc>
                <a:spcPct val="120000"/>
              </a:lnSpc>
              <a:buNone/>
            </a:pPr>
            <a:r>
              <a:rPr lang="en-US" sz="1050" dirty="0">
                <a:solidFill>
                  <a:srgbClr val="23303F"/>
                </a:solidFill>
                <a:latin typeface="Hiragino Sans" pitchFamily="34" charset="0"/>
                <a:ea typeface="Hiragino Sans" pitchFamily="34" charset="-122"/>
                <a:cs typeface="Hiragino Sans" pitchFamily="34" charset="-120"/>
              </a:rPr>
              <a:t>商品ページ上に月間販売数を直接表示。最速・最easy。日常リサーチはこちらが基本</a:t>
            </a:r>
            <a:endParaRPr lang="en-US" sz="1150" dirty="0"/>
          </a:p>
        </p:txBody>
      </p:sp>
      <p:sp>
        <p:nvSpPr>
          <p:cNvPr id="11" name="Shape 9"/>
          <p:cNvSpPr/>
          <p:nvPr/>
        </p:nvSpPr>
        <p:spPr>
          <a:xfrm>
            <a:off x="4709160" y="1371600"/>
            <a:ext cx="3977640" cy="210312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12" name="Shape 10"/>
          <p:cNvSpPr/>
          <p:nvPr/>
        </p:nvSpPr>
        <p:spPr>
          <a:xfrm>
            <a:off x="4709160" y="1371600"/>
            <a:ext cx="3977640" cy="512064"/>
          </a:xfrm>
          <a:prstGeom prst="rect">
            <a:avLst/>
          </a:prstGeom>
          <a:solidFill>
            <a:srgbClr val="2B3F5C"/>
          </a:solidFill>
          <a:ln/>
        </p:spPr>
      </p:sp>
      <p:sp>
        <p:nvSpPr>
          <p:cNvPr id="13" name="Text 11"/>
          <p:cNvSpPr/>
          <p:nvPr/>
        </p:nvSpPr>
        <p:spPr>
          <a:xfrm>
            <a:off x="4928616" y="1371600"/>
            <a:ext cx="3566160" cy="512064"/>
          </a:xfrm>
          <a:prstGeom prst="rect">
            <a:avLst/>
          </a:prstGeom>
          <a:noFill/>
          <a:ln/>
        </p:spPr>
        <p:txBody>
          <a:bodyPr wrap="square" lIns="0" tIns="0" rIns="0" bIns="0" rtlCol="0" anchor="ctr"/>
          <a:lstStyle/>
          <a:p>
            <a:pPr indent="0" marL="0">
              <a:buNone/>
            </a:pPr>
            <a:r>
              <a:rPr lang="en-US" sz="1350" b="1" dirty="0">
                <a:solidFill>
                  <a:srgbClr val="FFFFFF"/>
                </a:solidFill>
                <a:latin typeface="Hiragino Sans" pitchFamily="34" charset="0"/>
                <a:ea typeface="Hiragino Sans" pitchFamily="34" charset="-122"/>
                <a:cs typeface="Hiragino Sans" pitchFamily="34" charset="-120"/>
              </a:rPr>
              <a:t>方法② 定点観測</a:t>
            </a:r>
            <a:endParaRPr lang="en-US" sz="1350" dirty="0"/>
          </a:p>
        </p:txBody>
      </p:sp>
      <p:sp>
        <p:nvSpPr>
          <p:cNvPr id="14" name="Text 12"/>
          <p:cNvSpPr/>
          <p:nvPr/>
        </p:nvSpPr>
        <p:spPr>
          <a:xfrm>
            <a:off x="4928616" y="2029968"/>
            <a:ext cx="3566160" cy="1325880"/>
          </a:xfrm>
          <a:prstGeom prst="rect">
            <a:avLst/>
          </a:prstGeom>
          <a:noFill/>
          <a:ln/>
        </p:spPr>
        <p:txBody>
          <a:bodyPr wrap="square" lIns="0" tIns="0" rIns="0" bIns="0" rtlCol="0" anchor="ctr"/>
          <a:lstStyle/>
          <a:p>
            <a:pPr indent="0" marL="0">
              <a:lnSpc>
                <a:spcPct val="120000"/>
              </a:lnSpc>
              <a:spcAft>
                <a:spcPts val="500"/>
              </a:spcAft>
              <a:buNone/>
            </a:pPr>
            <a:r>
              <a:rPr lang="en-US" sz="1150" b="1" dirty="0">
                <a:solidFill>
                  <a:srgbClr val="D98E04"/>
                </a:solidFill>
                <a:latin typeface="Hiragino Sans" pitchFamily="34" charset="0"/>
                <a:ea typeface="Hiragino Sans" pitchFamily="34" charset="-122"/>
                <a:cs typeface="Hiragino Sans" pitchFamily="34" charset="-120"/>
              </a:rPr>
              <a:t>ライバル在庫の推移を記録</a:t>
            </a:r>
            <a:endParaRPr lang="en-US" sz="1150" dirty="0"/>
          </a:p>
          <a:p>
            <a:pPr indent="0" marL="0">
              <a:lnSpc>
                <a:spcPct val="120000"/>
              </a:lnSpc>
              <a:buNone/>
            </a:pPr>
            <a:r>
              <a:rPr lang="en-US" sz="1050" dirty="0">
                <a:solidFill>
                  <a:srgbClr val="23303F"/>
                </a:solidFill>
                <a:latin typeface="Hiragino Sans" pitchFamily="34" charset="0"/>
                <a:ea typeface="Hiragino Sans" pitchFamily="34" charset="-122"/>
                <a:cs typeface="Hiragino Sans" pitchFamily="34" charset="-120"/>
              </a:rPr>
              <a:t>ライバルセラーの在庫数を3〜5日間記録し、減り方から販売ペースを推定。ツールが使えない商品の保険</a:t>
            </a:r>
            <a:endParaRPr lang="en-US" sz="1150" dirty="0"/>
          </a:p>
        </p:txBody>
      </p:sp>
      <p:sp>
        <p:nvSpPr>
          <p:cNvPr id="15" name="Shape 13"/>
          <p:cNvSpPr/>
          <p:nvPr/>
        </p:nvSpPr>
        <p:spPr>
          <a:xfrm>
            <a:off x="457200" y="3703320"/>
            <a:ext cx="8229600" cy="822960"/>
          </a:xfrm>
          <a:prstGeom prst="rect">
            <a:avLst/>
          </a:prstGeom>
          <a:solidFill>
            <a:srgbClr val="FFFFFF"/>
          </a:solidFill>
          <a:ln w="15875">
            <a:solidFill>
              <a:srgbClr val="D98E04"/>
            </a:solidFill>
            <a:prstDash val="solid"/>
          </a:ln>
        </p:spPr>
      </p:sp>
      <p:sp>
        <p:nvSpPr>
          <p:cNvPr id="16" name="Text 14"/>
          <p:cNvSpPr/>
          <p:nvPr/>
        </p:nvSpPr>
        <p:spPr>
          <a:xfrm>
            <a:off x="731520" y="3703320"/>
            <a:ext cx="7772400" cy="822960"/>
          </a:xfrm>
          <a:prstGeom prst="rect">
            <a:avLst/>
          </a:prstGeom>
          <a:noFill/>
          <a:ln/>
        </p:spPr>
        <p:txBody>
          <a:bodyPr wrap="square" lIns="0" tIns="0" rIns="0" bIns="0" rtlCol="0" anchor="ctr"/>
          <a:lstStyle/>
          <a:p>
            <a:pPr indent="0" marL="0">
              <a:spcAft>
                <a:spcPts val="300"/>
              </a:spcAft>
              <a:buNone/>
            </a:pPr>
            <a:r>
              <a:rPr lang="en-US" sz="1400" b="1" dirty="0">
                <a:solidFill>
                  <a:srgbClr val="1B2A41"/>
                </a:solidFill>
                <a:latin typeface="Hiragino Sans" pitchFamily="34" charset="0"/>
                <a:ea typeface="Hiragino Sans" pitchFamily="34" charset="-122"/>
                <a:cs typeface="Hiragino Sans" pitchFamily="34" charset="-120"/>
              </a:rPr>
              <a:t>自分が売れる見込み数 ≒ 市場の月販数 ÷（FBAセラー数＋1）</a:t>
            </a:r>
            <a:endParaRPr lang="en-US" sz="1400" dirty="0"/>
          </a:p>
          <a:p>
            <a:pPr indent="0" marL="0">
              <a:buNone/>
            </a:pPr>
            <a:r>
              <a:rPr lang="en-US" sz="1000" dirty="0">
                <a:solidFill>
                  <a:srgbClr val="6B7280"/>
                </a:solidFill>
                <a:latin typeface="Hiragino Sans" pitchFamily="34" charset="0"/>
                <a:ea typeface="Hiragino Sans" pitchFamily="34" charset="-122"/>
                <a:cs typeface="Hiragino Sans" pitchFamily="34" charset="-120"/>
              </a:rPr>
              <a:t>感覚で仕入れない。ここを省くと在庫を抱える。</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STEP 3 — 仕入れ判断</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鉄則：必ず小さく始める</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13</a:t>
            </a:r>
            <a:endParaRPr lang="en-US" sz="900" dirty="0"/>
          </a:p>
        </p:txBody>
      </p:sp>
      <p:sp>
        <p:nvSpPr>
          <p:cNvPr id="7" name="Shape 5"/>
          <p:cNvSpPr/>
          <p:nvPr/>
        </p:nvSpPr>
        <p:spPr>
          <a:xfrm>
            <a:off x="457200" y="1371600"/>
            <a:ext cx="3017520" cy="3154680"/>
          </a:xfrm>
          <a:prstGeom prst="rect">
            <a:avLst/>
          </a:prstGeom>
          <a:solidFill>
            <a:srgbClr val="1B2A41"/>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8" name="Text 6"/>
          <p:cNvSpPr/>
          <p:nvPr/>
        </p:nvSpPr>
        <p:spPr>
          <a:xfrm>
            <a:off x="713232" y="1627632"/>
            <a:ext cx="2468880" cy="274320"/>
          </a:xfrm>
          <a:prstGeom prst="rect">
            <a:avLst/>
          </a:prstGeom>
          <a:noFill/>
          <a:ln/>
        </p:spPr>
        <p:txBody>
          <a:bodyPr wrap="square" lIns="0" tIns="0" rIns="0" bIns="0" rtlCol="0" anchor="ctr"/>
          <a:lstStyle/>
          <a:p>
            <a:pPr indent="0" marL="0">
              <a:buNone/>
            </a:pPr>
            <a:r>
              <a:rPr lang="en-US" sz="1200" b="1" dirty="0">
                <a:solidFill>
                  <a:srgbClr val="F2B33D"/>
                </a:solidFill>
                <a:latin typeface="Hiragino Sans" pitchFamily="34" charset="0"/>
                <a:ea typeface="Hiragino Sans" pitchFamily="34" charset="-122"/>
                <a:cs typeface="Hiragino Sans" pitchFamily="34" charset="-120"/>
              </a:rPr>
              <a:t>初回発注</a:t>
            </a:r>
            <a:endParaRPr lang="en-US" sz="1200" dirty="0"/>
          </a:p>
        </p:txBody>
      </p:sp>
      <p:sp>
        <p:nvSpPr>
          <p:cNvPr id="9" name="Text 7"/>
          <p:cNvSpPr/>
          <p:nvPr/>
        </p:nvSpPr>
        <p:spPr>
          <a:xfrm>
            <a:off x="713232" y="1920240"/>
            <a:ext cx="2468880" cy="1463040"/>
          </a:xfrm>
          <a:prstGeom prst="rect">
            <a:avLst/>
          </a:prstGeom>
          <a:noFill/>
          <a:ln/>
        </p:spPr>
        <p:txBody>
          <a:bodyPr wrap="square" lIns="0" tIns="0" rIns="0" bIns="0" rtlCol="0" anchor="ctr"/>
          <a:lstStyle/>
          <a:p>
            <a:pPr indent="0" marL="0">
              <a:buNone/>
            </a:pPr>
            <a:r>
              <a:rPr lang="en-US" sz="5400" b="1" dirty="0">
                <a:solidFill>
                  <a:srgbClr val="FFFFFF"/>
                </a:solidFill>
                <a:latin typeface="Hiragino Sans" pitchFamily="34" charset="0"/>
                <a:ea typeface="Hiragino Sans" pitchFamily="34" charset="-122"/>
                <a:cs typeface="Hiragino Sans" pitchFamily="34" charset="-120"/>
              </a:rPr>
              <a:t>5個</a:t>
            </a:r>
            <a:endParaRPr lang="en-US" sz="5400" dirty="0"/>
          </a:p>
          <a:p>
            <a:pPr indent="0" marL="0">
              <a:buNone/>
            </a:pPr>
            <a:r>
              <a:rPr lang="en-US" sz="1200" dirty="0">
                <a:solidFill>
                  <a:srgbClr val="C9D4E3"/>
                </a:solidFill>
                <a:latin typeface="Hiragino Sans" pitchFamily="34" charset="0"/>
                <a:ea typeface="Hiragino Sans" pitchFamily="34" charset="-122"/>
                <a:cs typeface="Hiragino Sans" pitchFamily="34" charset="-120"/>
              </a:rPr>
              <a:t>程度の最小ロットから</a:t>
            </a:r>
            <a:endParaRPr lang="en-US" sz="5400" dirty="0"/>
          </a:p>
        </p:txBody>
      </p:sp>
      <p:sp>
        <p:nvSpPr>
          <p:cNvPr id="10" name="Text 8"/>
          <p:cNvSpPr/>
          <p:nvPr/>
        </p:nvSpPr>
        <p:spPr>
          <a:xfrm>
            <a:off x="713232" y="3520440"/>
            <a:ext cx="2514600" cy="868680"/>
          </a:xfrm>
          <a:prstGeom prst="rect">
            <a:avLst/>
          </a:prstGeom>
          <a:noFill/>
          <a:ln/>
        </p:spPr>
        <p:txBody>
          <a:bodyPr wrap="square" lIns="0" tIns="0" rIns="0" bIns="0" rtlCol="0" anchor="ctr"/>
          <a:lstStyle/>
          <a:p>
            <a:pPr indent="0" marL="0">
              <a:lnSpc>
                <a:spcPct val="125000"/>
              </a:lnSpc>
              <a:buNone/>
            </a:pPr>
            <a:r>
              <a:rPr lang="en-US" sz="1050" dirty="0">
                <a:solidFill>
                  <a:srgbClr val="C9D4E3"/>
                </a:solidFill>
                <a:latin typeface="Hiragino Sans" pitchFamily="34" charset="0"/>
                <a:ea typeface="Hiragino Sans" pitchFamily="34" charset="-122"/>
                <a:cs typeface="Hiragino Sans" pitchFamily="34" charset="-120"/>
              </a:rPr>
              <a:t>目的は利益ではなくテスト。売れ行き・商品状態・納期の正確さを確認する。</a:t>
            </a:r>
            <a:endParaRPr lang="en-US" sz="1050" dirty="0"/>
          </a:p>
        </p:txBody>
      </p:sp>
      <p:sp>
        <p:nvSpPr>
          <p:cNvPr id="11" name="Shape 9"/>
          <p:cNvSpPr/>
          <p:nvPr/>
        </p:nvSpPr>
        <p:spPr>
          <a:xfrm>
            <a:off x="3749040" y="1371600"/>
            <a:ext cx="4937760" cy="173736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12" name="Text 10"/>
          <p:cNvSpPr/>
          <p:nvPr/>
        </p:nvSpPr>
        <p:spPr>
          <a:xfrm>
            <a:off x="3986784" y="1517904"/>
            <a:ext cx="4389120" cy="274320"/>
          </a:xfrm>
          <a:prstGeom prst="rect">
            <a:avLst/>
          </a:prstGeom>
          <a:noFill/>
          <a:ln/>
        </p:spPr>
        <p:txBody>
          <a:bodyPr wrap="square" lIns="0" tIns="0" rIns="0" bIns="0" rtlCol="0" anchor="ctr"/>
          <a:lstStyle/>
          <a:p>
            <a:pPr indent="0" marL="0">
              <a:buNone/>
            </a:pPr>
            <a:r>
              <a:rPr lang="en-US" sz="1300" b="1" dirty="0">
                <a:solidFill>
                  <a:srgbClr val="1B2A41"/>
                </a:solidFill>
                <a:latin typeface="Hiragino Sans" pitchFamily="34" charset="0"/>
                <a:ea typeface="Hiragino Sans" pitchFamily="34" charset="-122"/>
                <a:cs typeface="Hiragino Sans" pitchFamily="34" charset="-120"/>
              </a:rPr>
              <a:t>リピート発注の目安</a:t>
            </a:r>
            <a:endParaRPr lang="en-US" sz="1300" dirty="0"/>
          </a:p>
        </p:txBody>
      </p:sp>
      <p:sp>
        <p:nvSpPr>
          <p:cNvPr id="13" name="Text 11"/>
          <p:cNvSpPr/>
          <p:nvPr/>
        </p:nvSpPr>
        <p:spPr>
          <a:xfrm>
            <a:off x="3986784" y="1901952"/>
            <a:ext cx="4389120" cy="365760"/>
          </a:xfrm>
          <a:prstGeom prst="rect">
            <a:avLst/>
          </a:prstGeom>
          <a:noFill/>
          <a:ln/>
        </p:spPr>
        <p:txBody>
          <a:bodyPr wrap="square" lIns="0" tIns="0" rIns="0" bIns="0" rtlCol="0" anchor="ctr"/>
          <a:lstStyle/>
          <a:p>
            <a:pPr indent="0" marL="0">
              <a:buNone/>
            </a:pPr>
            <a:r>
              <a:rPr lang="en-US" sz="1200" b="1" dirty="0">
                <a:solidFill>
                  <a:srgbClr val="2B3F5C"/>
                </a:solidFill>
                <a:latin typeface="Hiragino Sans" pitchFamily="34" charset="0"/>
                <a:ea typeface="Hiragino Sans" pitchFamily="34" charset="-122"/>
                <a:cs typeface="Hiragino Sans" pitchFamily="34" charset="-120"/>
              </a:rPr>
              <a:t>現金前払い：</a:t>
            </a:r>
            <a:pPr indent="0" marL="0">
              <a:buNone/>
            </a:pPr>
            <a:r>
              <a:rPr lang="en-US" sz="1200" dirty="0">
                <a:solidFill>
                  <a:srgbClr val="23303F"/>
                </a:solidFill>
                <a:latin typeface="Hiragino Sans" pitchFamily="34" charset="0"/>
                <a:ea typeface="Hiragino Sans" pitchFamily="34" charset="-122"/>
                <a:cs typeface="Hiragino Sans" pitchFamily="34" charset="-120"/>
              </a:rPr>
              <a:t> 月販数の </a:t>
            </a:r>
            <a:pPr indent="0" marL="0">
              <a:buNone/>
            </a:pPr>
            <a:r>
              <a:rPr lang="en-US" sz="1400" b="1" dirty="0">
                <a:solidFill>
                  <a:srgbClr val="D98E04"/>
                </a:solidFill>
                <a:latin typeface="Hiragino Sans" pitchFamily="34" charset="0"/>
                <a:ea typeface="Hiragino Sans" pitchFamily="34" charset="-122"/>
                <a:cs typeface="Hiragino Sans" pitchFamily="34" charset="-120"/>
              </a:rPr>
              <a:t>1.5ヶ月分</a:t>
            </a:r>
            <a:endParaRPr lang="en-US" sz="1200" dirty="0"/>
          </a:p>
        </p:txBody>
      </p:sp>
      <p:sp>
        <p:nvSpPr>
          <p:cNvPr id="14" name="Text 12"/>
          <p:cNvSpPr/>
          <p:nvPr/>
        </p:nvSpPr>
        <p:spPr>
          <a:xfrm>
            <a:off x="3986784" y="2304288"/>
            <a:ext cx="4389120" cy="365760"/>
          </a:xfrm>
          <a:prstGeom prst="rect">
            <a:avLst/>
          </a:prstGeom>
          <a:noFill/>
          <a:ln/>
        </p:spPr>
        <p:txBody>
          <a:bodyPr wrap="square" lIns="0" tIns="0" rIns="0" bIns="0" rtlCol="0" anchor="ctr"/>
          <a:lstStyle/>
          <a:p>
            <a:pPr indent="0" marL="0">
              <a:buNone/>
            </a:pPr>
            <a:r>
              <a:rPr lang="en-US" sz="1200" b="1" dirty="0">
                <a:solidFill>
                  <a:srgbClr val="2B3F5C"/>
                </a:solidFill>
                <a:latin typeface="Hiragino Sans" pitchFamily="34" charset="0"/>
                <a:ea typeface="Hiragino Sans" pitchFamily="34" charset="-122"/>
                <a:cs typeface="Hiragino Sans" pitchFamily="34" charset="-120"/>
              </a:rPr>
              <a:t>掛け払い（後払い）：</a:t>
            </a:r>
            <a:pPr indent="0" marL="0">
              <a:buNone/>
            </a:pPr>
            <a:r>
              <a:rPr lang="en-US" sz="1200" dirty="0">
                <a:solidFill>
                  <a:srgbClr val="23303F"/>
                </a:solidFill>
                <a:latin typeface="Hiragino Sans" pitchFamily="34" charset="0"/>
                <a:ea typeface="Hiragino Sans" pitchFamily="34" charset="-122"/>
                <a:cs typeface="Hiragino Sans" pitchFamily="34" charset="-120"/>
              </a:rPr>
              <a:t> 月販数の </a:t>
            </a:r>
            <a:pPr indent="0" marL="0">
              <a:buNone/>
            </a:pPr>
            <a:r>
              <a:rPr lang="en-US" sz="1400" b="1" dirty="0">
                <a:solidFill>
                  <a:srgbClr val="D98E04"/>
                </a:solidFill>
                <a:latin typeface="Hiragino Sans" pitchFamily="34" charset="0"/>
                <a:ea typeface="Hiragino Sans" pitchFamily="34" charset="-122"/>
                <a:cs typeface="Hiragino Sans" pitchFamily="34" charset="-120"/>
              </a:rPr>
              <a:t>2〜3ヶ月分</a:t>
            </a:r>
            <a:endParaRPr lang="en-US" sz="1200" dirty="0"/>
          </a:p>
        </p:txBody>
      </p:sp>
      <p:sp>
        <p:nvSpPr>
          <p:cNvPr id="15" name="Text 13"/>
          <p:cNvSpPr/>
          <p:nvPr/>
        </p:nvSpPr>
        <p:spPr>
          <a:xfrm>
            <a:off x="3986784" y="2724912"/>
            <a:ext cx="4389120" cy="274320"/>
          </a:xfrm>
          <a:prstGeom prst="rect">
            <a:avLst/>
          </a:prstGeom>
          <a:noFill/>
          <a:ln/>
        </p:spPr>
        <p:txBody>
          <a:bodyPr wrap="square" lIns="0" tIns="0" rIns="0" bIns="0" rtlCol="0" anchor="ctr"/>
          <a:lstStyle/>
          <a:p>
            <a:pPr indent="0" marL="0">
              <a:buNone/>
            </a:pPr>
            <a:r>
              <a:rPr lang="en-US" sz="1000" dirty="0">
                <a:solidFill>
                  <a:srgbClr val="6B7280"/>
                </a:solidFill>
                <a:latin typeface="Hiragino Sans" pitchFamily="34" charset="0"/>
                <a:ea typeface="Hiragino Sans" pitchFamily="34" charset="-122"/>
                <a:cs typeface="Hiragino Sans" pitchFamily="34" charset="-120"/>
              </a:rPr>
              <a:t>売れる確証を得てから積み増す。この順番で不良在庫をほぼ回避できる。</a:t>
            </a:r>
            <a:endParaRPr lang="en-US" sz="1000" dirty="0"/>
          </a:p>
        </p:txBody>
      </p:sp>
      <p:sp>
        <p:nvSpPr>
          <p:cNvPr id="16" name="Shape 14"/>
          <p:cNvSpPr/>
          <p:nvPr/>
        </p:nvSpPr>
        <p:spPr>
          <a:xfrm>
            <a:off x="3749040" y="3337560"/>
            <a:ext cx="4937760" cy="1188720"/>
          </a:xfrm>
          <a:prstGeom prst="rect">
            <a:avLst/>
          </a:prstGeom>
          <a:solidFill>
            <a:srgbClr val="FBEEDC"/>
          </a:solidFill>
          <a:ln w="15875">
            <a:solidFill>
              <a:srgbClr val="D98E04"/>
            </a:solidFill>
            <a:prstDash val="solid"/>
          </a:ln>
        </p:spPr>
      </p:sp>
      <p:sp>
        <p:nvSpPr>
          <p:cNvPr id="17" name="Text 15"/>
          <p:cNvSpPr/>
          <p:nvPr/>
        </p:nvSpPr>
        <p:spPr>
          <a:xfrm>
            <a:off x="3986784" y="3493008"/>
            <a:ext cx="4480560" cy="914400"/>
          </a:xfrm>
          <a:prstGeom prst="rect">
            <a:avLst/>
          </a:prstGeom>
          <a:noFill/>
          <a:ln/>
        </p:spPr>
        <p:txBody>
          <a:bodyPr wrap="square" lIns="0" tIns="0" rIns="0" bIns="0" rtlCol="0" anchor="ctr"/>
          <a:lstStyle/>
          <a:p>
            <a:pPr indent="0" marL="0">
              <a:lnSpc>
                <a:spcPct val="118000"/>
              </a:lnSpc>
              <a:spcAft>
                <a:spcPts val="300"/>
              </a:spcAft>
              <a:buNone/>
            </a:pPr>
            <a:r>
              <a:rPr lang="en-US" sz="1250" b="1" dirty="0">
                <a:solidFill>
                  <a:srgbClr val="A85B00"/>
                </a:solidFill>
                <a:latin typeface="Hiragino Sans" pitchFamily="34" charset="0"/>
                <a:ea typeface="Hiragino Sans" pitchFamily="34" charset="-122"/>
                <a:cs typeface="Hiragino Sans" pitchFamily="34" charset="-120"/>
              </a:rPr>
              <a:t>危険信号</a:t>
            </a:r>
            <a:endParaRPr lang="en-US" sz="1250" dirty="0"/>
          </a:p>
          <a:p>
            <a:pPr indent="0" marL="0">
              <a:lnSpc>
                <a:spcPct val="118000"/>
              </a:lnSpc>
              <a:buNone/>
            </a:pPr>
            <a:r>
              <a:rPr lang="en-US" sz="1050" dirty="0">
                <a:solidFill>
                  <a:srgbClr val="23303F"/>
                </a:solidFill>
                <a:latin typeface="Hiragino Sans" pitchFamily="34" charset="0"/>
                <a:ea typeface="Hiragino Sans" pitchFamily="34" charset="-122"/>
                <a:cs typeface="Hiragino Sans" pitchFamily="34" charset="-120"/>
              </a:rPr>
              <a:t>「初回から大ロット」「高額な最低発注額」の見積は無理に受けない。売れてからリピートで回収する設計にする。</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STEP 4 — 管理</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必要資金は「月販の1.2〜1.5倍」で決まる</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14</a:t>
            </a:r>
            <a:endParaRPr lang="en-US" sz="900" dirty="0"/>
          </a:p>
        </p:txBody>
      </p:sp>
      <p:sp>
        <p:nvSpPr>
          <p:cNvPr id="7" name="Shape 5"/>
          <p:cNvSpPr/>
          <p:nvPr/>
        </p:nvSpPr>
        <p:spPr>
          <a:xfrm>
            <a:off x="457200" y="1371600"/>
            <a:ext cx="3657600" cy="315468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8" name="Text 6"/>
          <p:cNvSpPr/>
          <p:nvPr/>
        </p:nvSpPr>
        <p:spPr>
          <a:xfrm>
            <a:off x="713232" y="1554480"/>
            <a:ext cx="3200400" cy="292608"/>
          </a:xfrm>
          <a:prstGeom prst="rect">
            <a:avLst/>
          </a:prstGeom>
          <a:noFill/>
          <a:ln/>
        </p:spPr>
        <p:txBody>
          <a:bodyPr wrap="square" lIns="0" tIns="0" rIns="0" bIns="0" rtlCol="0" anchor="ctr"/>
          <a:lstStyle/>
          <a:p>
            <a:pPr indent="0" marL="0">
              <a:buNone/>
            </a:pPr>
            <a:r>
              <a:rPr lang="en-US" sz="1300" b="1" dirty="0">
                <a:solidFill>
                  <a:srgbClr val="1B2A41"/>
                </a:solidFill>
                <a:latin typeface="Hiragino Sans" pitchFamily="34" charset="0"/>
                <a:ea typeface="Hiragino Sans" pitchFamily="34" charset="-122"/>
                <a:cs typeface="Hiragino Sans" pitchFamily="34" charset="-120"/>
              </a:rPr>
              <a:t>なぜ1ヶ月ぴったりではダメか</a:t>
            </a:r>
            <a:endParaRPr lang="en-US" sz="1300" dirty="0"/>
          </a:p>
        </p:txBody>
      </p:sp>
      <p:sp>
        <p:nvSpPr>
          <p:cNvPr id="9" name="Text 7"/>
          <p:cNvSpPr/>
          <p:nvPr/>
        </p:nvSpPr>
        <p:spPr>
          <a:xfrm>
            <a:off x="713232" y="1938528"/>
            <a:ext cx="3154680" cy="1188720"/>
          </a:xfrm>
          <a:prstGeom prst="rect">
            <a:avLst/>
          </a:prstGeom>
          <a:noFill/>
          <a:ln/>
        </p:spPr>
        <p:txBody>
          <a:bodyPr wrap="square" lIns="0" tIns="0" rIns="0" bIns="0" rtlCol="0" anchor="ctr"/>
          <a:lstStyle/>
          <a:p>
            <a:pPr indent="0" marL="0">
              <a:lnSpc>
                <a:spcPct val="120000"/>
              </a:lnSpc>
              <a:spcAft>
                <a:spcPts val="400"/>
              </a:spcAft>
              <a:buNone/>
            </a:pPr>
            <a:r>
              <a:rPr lang="en-US" sz="1100" dirty="0">
                <a:solidFill>
                  <a:srgbClr val="23303F"/>
                </a:solidFill>
                <a:latin typeface="Hiragino Sans" pitchFamily="34" charset="0"/>
                <a:ea typeface="Hiragino Sans" pitchFamily="34" charset="-122"/>
                <a:cs typeface="Hiragino Sans" pitchFamily="34" charset="-120"/>
              </a:rPr>
              <a:t>売れ残り → 資金が寝る</a:t>
            </a:r>
            <a:endParaRPr lang="en-US" sz="1100" dirty="0"/>
          </a:p>
          <a:p>
            <a:pPr indent="0" marL="0">
              <a:lnSpc>
                <a:spcPct val="120000"/>
              </a:lnSpc>
              <a:spcAft>
                <a:spcPts val="800"/>
              </a:spcAft>
              <a:buNone/>
            </a:pPr>
            <a:r>
              <a:rPr lang="en-US" sz="1100" dirty="0">
                <a:solidFill>
                  <a:srgbClr val="23303F"/>
                </a:solidFill>
                <a:latin typeface="Hiragino Sans" pitchFamily="34" charset="0"/>
                <a:ea typeface="Hiragino Sans" pitchFamily="34" charset="-122"/>
                <a:cs typeface="Hiragino Sans" pitchFamily="34" charset="-120"/>
              </a:rPr>
              <a:t>欠品 → 売上ゼロ＋検索順位低下＋カート喪失</a:t>
            </a:r>
            <a:endParaRPr lang="en-US" sz="1100" dirty="0"/>
          </a:p>
          <a:p>
            <a:pPr indent="0" marL="0">
              <a:lnSpc>
                <a:spcPct val="120000"/>
              </a:lnSpc>
              <a:buNone/>
            </a:pPr>
            <a:r>
              <a:rPr lang="en-US" sz="1300" b="1" dirty="0">
                <a:solidFill>
                  <a:srgbClr val="D98E04"/>
                </a:solidFill>
                <a:latin typeface="Hiragino Sans" pitchFamily="34" charset="0"/>
                <a:ea typeface="Hiragino Sans" pitchFamily="34" charset="-122"/>
                <a:cs typeface="Hiragino Sans" pitchFamily="34" charset="-120"/>
              </a:rPr>
              <a:t>その均衡点が 1.2〜1.5倍。</a:t>
            </a:r>
            <a:endParaRPr lang="en-US" sz="1100" dirty="0"/>
          </a:p>
        </p:txBody>
      </p:sp>
      <p:sp>
        <p:nvSpPr>
          <p:cNvPr id="10" name="Text 8"/>
          <p:cNvSpPr/>
          <p:nvPr/>
        </p:nvSpPr>
        <p:spPr>
          <a:xfrm>
            <a:off x="713232" y="3127248"/>
            <a:ext cx="3200400" cy="274320"/>
          </a:xfrm>
          <a:prstGeom prst="rect">
            <a:avLst/>
          </a:prstGeom>
          <a:noFill/>
          <a:ln/>
        </p:spPr>
        <p:txBody>
          <a:bodyPr wrap="square" lIns="0" tIns="0" rIns="0" bIns="0" rtlCol="0" anchor="ctr"/>
          <a:lstStyle/>
          <a:p>
            <a:pPr indent="0" marL="0">
              <a:buNone/>
            </a:pPr>
            <a:r>
              <a:rPr lang="en-US" sz="1150" b="1" dirty="0">
                <a:solidFill>
                  <a:srgbClr val="1B2A41"/>
                </a:solidFill>
                <a:latin typeface="Hiragino Sans" pitchFamily="34" charset="0"/>
                <a:ea typeface="Hiragino Sans" pitchFamily="34" charset="-122"/>
                <a:cs typeface="Hiragino Sans" pitchFamily="34" charset="-120"/>
              </a:rPr>
              <a:t>管理の3原則</a:t>
            </a:r>
            <a:endParaRPr lang="en-US" sz="1150" dirty="0"/>
          </a:p>
        </p:txBody>
      </p:sp>
      <p:sp>
        <p:nvSpPr>
          <p:cNvPr id="11" name="Text 9"/>
          <p:cNvSpPr/>
          <p:nvPr/>
        </p:nvSpPr>
        <p:spPr>
          <a:xfrm>
            <a:off x="713232" y="3419856"/>
            <a:ext cx="3200400" cy="1005840"/>
          </a:xfrm>
          <a:prstGeom prst="rect">
            <a:avLst/>
          </a:prstGeom>
          <a:noFill/>
          <a:ln/>
        </p:spPr>
        <p:txBody>
          <a:bodyPr wrap="square" lIns="0" tIns="0" rIns="0" bIns="0" rtlCol="0" anchor="ctr"/>
          <a:lstStyle/>
          <a:p>
            <a:pPr marL="152400" indent="-152400">
              <a:spcAft>
                <a:spcPts val="400"/>
              </a:spcAft>
              <a:buSzPct val="100000"/>
              <a:buChar char="•"/>
            </a:pPr>
            <a:r>
              <a:rPr lang="en-US" sz="1000" dirty="0">
                <a:solidFill>
                  <a:srgbClr val="23303F"/>
                </a:solidFill>
                <a:latin typeface="Hiragino Sans" pitchFamily="34" charset="0"/>
                <a:ea typeface="Hiragino Sans" pitchFamily="34" charset="-122"/>
                <a:cs typeface="Hiragino Sans" pitchFamily="34" charset="-120"/>
              </a:rPr>
              <a:t>資金は1.5倍がちょうど良い</a:t>
            </a:r>
            <a:endParaRPr lang="en-US" sz="1000" dirty="0"/>
          </a:p>
          <a:p>
            <a:pPr marL="152400" indent="-152400">
              <a:spcAft>
                <a:spcPts val="400"/>
              </a:spcAft>
              <a:buSzPct val="100000"/>
              <a:buChar char="•"/>
            </a:pPr>
            <a:r>
              <a:rPr lang="en-US" sz="1000" dirty="0">
                <a:solidFill>
                  <a:srgbClr val="23303F"/>
                </a:solidFill>
                <a:latin typeface="Hiragino Sans" pitchFamily="34" charset="0"/>
                <a:ea typeface="Hiragino Sans" pitchFamily="34" charset="-122"/>
                <a:cs typeface="Hiragino Sans" pitchFamily="34" charset="-120"/>
              </a:rPr>
              <a:t>情報の9割は間違っている（自分の数字で判断）</a:t>
            </a:r>
            <a:endParaRPr lang="en-US" sz="1000" dirty="0"/>
          </a:p>
          <a:p>
            <a:pPr marL="152400" indent="-152400">
              <a:spcAft>
                <a:spcPts val="400"/>
              </a:spcAft>
              <a:buSzPct val="100000"/>
              <a:buChar char="•"/>
            </a:pPr>
            <a:r>
              <a:rPr lang="en-US" sz="1000" dirty="0">
                <a:solidFill>
                  <a:srgbClr val="23303F"/>
                </a:solidFill>
                <a:latin typeface="Hiragino Sans" pitchFamily="34" charset="0"/>
                <a:ea typeface="Hiragino Sans" pitchFamily="34" charset="-122"/>
                <a:cs typeface="Hiragino Sans" pitchFamily="34" charset="-120"/>
              </a:rPr>
              <a:t>目標達成したいなら在庫金額を知る</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434840" y="1371600"/>
          <a:ext cx="4251960" cy="914400"/>
        </p:xfrm>
        <a:graphic>
          <a:graphicData uri="http://schemas.openxmlformats.org/drawingml/2006/table">
            <a:tbl>
              <a:tblPr/>
              <a:tblGrid>
                <a:gridCol w="1417320"/>
                <a:gridCol w="1417320"/>
                <a:gridCol w="1417320"/>
              </a:tblGrid>
              <a:tr h="475488">
                <a:tc>
                  <a:txBody>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目標月利</a:t>
                      </a:r>
                      <a:endParaRPr lang="en-US" sz="12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必須在庫</a:t>
                      </a:r>
                      <a:endParaRPr lang="en-US" sz="12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1B2A41"/>
                    </a:solidFill>
                  </a:tcPr>
                </a:tc>
                <a:tc>
                  <a:txBody>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目標在庫</a:t>
                      </a:r>
                      <a:endParaRPr lang="en-US" sz="12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D98E04"/>
                    </a:solidFill>
                  </a:tcPr>
                </a:tc>
              </a:tr>
              <a:tr h="475488">
                <a:tc>
                  <a:txBody>
                    <a:bodyPr/>
                    <a:lstStyle/>
                    <a:p>
                      <a:pPr algn="ctr" indent="0" marL="0">
                        <a:buNone/>
                      </a:pPr>
                      <a:r>
                        <a:rPr lang="en-US" sz="1200" dirty="0">
                          <a:solidFill>
                            <a:srgbClr val="23303F"/>
                          </a:solidFill>
                          <a:latin typeface="Hiragino Sans" pitchFamily="34" charset="0"/>
                          <a:ea typeface="Hiragino Sans" pitchFamily="34" charset="-122"/>
                          <a:cs typeface="Hiragino Sans" pitchFamily="34" charset="-120"/>
                        </a:rPr>
                        <a:t>10万円</a:t>
                      </a:r>
                      <a:endParaRPr lang="en-US" sz="12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3303F"/>
                          </a:solidFill>
                          <a:latin typeface="Hiragino Sans" pitchFamily="34" charset="0"/>
                          <a:ea typeface="Hiragino Sans" pitchFamily="34" charset="-122"/>
                          <a:cs typeface="Hiragino Sans" pitchFamily="34" charset="-120"/>
                        </a:rPr>
                        <a:t>50万円</a:t>
                      </a:r>
                      <a:endParaRPr lang="en-US" sz="12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3303F"/>
                          </a:solidFill>
                          <a:latin typeface="Hiragino Sans" pitchFamily="34" charset="0"/>
                          <a:ea typeface="Hiragino Sans" pitchFamily="34" charset="-122"/>
                          <a:cs typeface="Hiragino Sans" pitchFamily="34" charset="-120"/>
                        </a:rPr>
                        <a:t>75万円</a:t>
                      </a:r>
                      <a:endParaRPr lang="en-US" sz="12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r>
              <a:tr h="475488">
                <a:tc>
                  <a:txBody>
                    <a:bodyPr/>
                    <a:lstStyle/>
                    <a:p>
                      <a:pPr algn="ctr" indent="0" marL="0">
                        <a:buNone/>
                      </a:pPr>
                      <a:r>
                        <a:rPr lang="en-US" sz="1200" dirty="0">
                          <a:solidFill>
                            <a:srgbClr val="23303F"/>
                          </a:solidFill>
                          <a:latin typeface="Hiragino Sans" pitchFamily="34" charset="0"/>
                          <a:ea typeface="Hiragino Sans" pitchFamily="34" charset="-122"/>
                          <a:cs typeface="Hiragino Sans" pitchFamily="34" charset="-120"/>
                        </a:rPr>
                        <a:t>50万円</a:t>
                      </a:r>
                      <a:endParaRPr lang="en-US" sz="12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3303F"/>
                          </a:solidFill>
                          <a:latin typeface="Hiragino Sans" pitchFamily="34" charset="0"/>
                          <a:ea typeface="Hiragino Sans" pitchFamily="34" charset="-122"/>
                          <a:cs typeface="Hiragino Sans" pitchFamily="34" charset="-120"/>
                        </a:rPr>
                        <a:t>250万円</a:t>
                      </a:r>
                      <a:endParaRPr lang="en-US" sz="12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3303F"/>
                          </a:solidFill>
                          <a:latin typeface="Hiragino Sans" pitchFamily="34" charset="0"/>
                          <a:ea typeface="Hiragino Sans" pitchFamily="34" charset="-122"/>
                          <a:cs typeface="Hiragino Sans" pitchFamily="34" charset="-120"/>
                        </a:rPr>
                        <a:t>375万円</a:t>
                      </a:r>
                      <a:endParaRPr lang="en-US" sz="12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r>
              <a:tr h="475488">
                <a:tc>
                  <a:txBody>
                    <a:bodyPr/>
                    <a:lstStyle/>
                    <a:p>
                      <a:pPr algn="ctr" indent="0" marL="0">
                        <a:buNone/>
                      </a:pPr>
                      <a:r>
                        <a:rPr lang="en-US" sz="1200" dirty="0">
                          <a:solidFill>
                            <a:srgbClr val="23303F"/>
                          </a:solidFill>
                          <a:latin typeface="Hiragino Sans" pitchFamily="34" charset="0"/>
                          <a:ea typeface="Hiragino Sans" pitchFamily="34" charset="-122"/>
                          <a:cs typeface="Hiragino Sans" pitchFamily="34" charset="-120"/>
                        </a:rPr>
                        <a:t>100万円</a:t>
                      </a:r>
                      <a:endParaRPr lang="en-US" sz="12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3303F"/>
                          </a:solidFill>
                          <a:latin typeface="Hiragino Sans" pitchFamily="34" charset="0"/>
                          <a:ea typeface="Hiragino Sans" pitchFamily="34" charset="-122"/>
                          <a:cs typeface="Hiragino Sans" pitchFamily="34" charset="-120"/>
                        </a:rPr>
                        <a:t>500万円</a:t>
                      </a:r>
                      <a:endParaRPr lang="en-US" sz="12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3303F"/>
                          </a:solidFill>
                          <a:latin typeface="Hiragino Sans" pitchFamily="34" charset="0"/>
                          <a:ea typeface="Hiragino Sans" pitchFamily="34" charset="-122"/>
                          <a:cs typeface="Hiragino Sans" pitchFamily="34" charset="-120"/>
                        </a:rPr>
                        <a:t>750万円</a:t>
                      </a:r>
                      <a:endParaRPr lang="en-US" sz="12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r>
            </a:tbl>
          </a:graphicData>
        </a:graphic>
      </p:graphicFrame>
      <p:sp>
        <p:nvSpPr>
          <p:cNvPr id="13" name="Shape 10"/>
          <p:cNvSpPr/>
          <p:nvPr/>
        </p:nvSpPr>
        <p:spPr>
          <a:xfrm>
            <a:off x="4434840" y="3566160"/>
            <a:ext cx="4251960" cy="960120"/>
          </a:xfrm>
          <a:prstGeom prst="rect">
            <a:avLst/>
          </a:prstGeom>
          <a:solidFill>
            <a:srgbClr val="1B2A41"/>
          </a:solidFill>
          <a:ln/>
        </p:spPr>
      </p:sp>
      <p:sp>
        <p:nvSpPr>
          <p:cNvPr id="14" name="Text 11"/>
          <p:cNvSpPr/>
          <p:nvPr/>
        </p:nvSpPr>
        <p:spPr>
          <a:xfrm>
            <a:off x="4617720" y="3566160"/>
            <a:ext cx="3886200" cy="960120"/>
          </a:xfrm>
          <a:prstGeom prst="rect">
            <a:avLst/>
          </a:prstGeom>
          <a:noFill/>
          <a:ln/>
        </p:spPr>
        <p:txBody>
          <a:bodyPr wrap="square" lIns="0" tIns="0" rIns="0" bIns="0" rtlCol="0" anchor="ctr"/>
          <a:lstStyle/>
          <a:p>
            <a:pPr indent="0" marL="0">
              <a:lnSpc>
                <a:spcPct val="120000"/>
              </a:lnSpc>
              <a:buNone/>
            </a:pPr>
            <a:r>
              <a:rPr lang="en-US" sz="1350" b="1" dirty="0">
                <a:solidFill>
                  <a:srgbClr val="FFFFFF"/>
                </a:solidFill>
                <a:latin typeface="Hiragino Sans" pitchFamily="34" charset="0"/>
                <a:ea typeface="Hiragino Sans" pitchFamily="34" charset="-122"/>
                <a:cs typeface="Hiragino Sans" pitchFamily="34" charset="-120"/>
              </a:rPr>
              <a:t>「いくら稼ぎたいか」は</a:t>
            </a:r>
            <a:endParaRPr lang="en-US" sz="1350" dirty="0"/>
          </a:p>
          <a:p>
            <a:pPr indent="0" marL="0">
              <a:lnSpc>
                <a:spcPct val="120000"/>
              </a:lnSpc>
              <a:buNone/>
            </a:pPr>
            <a:r>
              <a:rPr lang="en-US" sz="1350" b="1" dirty="0">
                <a:solidFill>
                  <a:srgbClr val="FFFFFF"/>
                </a:solidFill>
                <a:latin typeface="Hiragino Sans" pitchFamily="34" charset="0"/>
                <a:ea typeface="Hiragino Sans" pitchFamily="34" charset="-122"/>
                <a:cs typeface="Hiragino Sans" pitchFamily="34" charset="-120"/>
              </a:rPr>
              <a:t>「いくら在庫を持てるか」で決まる</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STEP 4 — 管理</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キャッシュサイクルと在庫表</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15</a:t>
            </a:r>
            <a:endParaRPr lang="en-US" sz="900" dirty="0"/>
          </a:p>
        </p:txBody>
      </p:sp>
      <p:sp>
        <p:nvSpPr>
          <p:cNvPr id="7" name="Shape 5"/>
          <p:cNvSpPr/>
          <p:nvPr/>
        </p:nvSpPr>
        <p:spPr>
          <a:xfrm>
            <a:off x="457200" y="1417320"/>
            <a:ext cx="1463040" cy="640080"/>
          </a:xfrm>
          <a:prstGeom prst="rect">
            <a:avLst/>
          </a:prstGeom>
          <a:solidFill>
            <a:srgbClr val="FFFFFF"/>
          </a:solidFill>
          <a:ln w="12700">
            <a:solidFill>
              <a:srgbClr val="E3DDD2"/>
            </a:solidFill>
            <a:prstDash val="solid"/>
          </a:ln>
          <a:effectLst>
            <a:outerShdw sx="100000" sy="100000" kx="0" ky="0" algn="bl" rotWithShape="0" blurRad="88900" dist="25400" dir="8100000">
              <a:srgbClr val="1B2A41">
                <a:alpha val="14000"/>
              </a:srgbClr>
            </a:outerShdw>
          </a:effectLst>
        </p:spPr>
      </p:sp>
      <p:sp>
        <p:nvSpPr>
          <p:cNvPr id="8" name="Text 6"/>
          <p:cNvSpPr/>
          <p:nvPr/>
        </p:nvSpPr>
        <p:spPr>
          <a:xfrm>
            <a:off x="457200" y="1417320"/>
            <a:ext cx="1463040" cy="640080"/>
          </a:xfrm>
          <a:prstGeom prst="rect">
            <a:avLst/>
          </a:prstGeom>
          <a:noFill/>
          <a:ln/>
        </p:spPr>
        <p:txBody>
          <a:bodyPr wrap="square" lIns="254" tIns="254" rIns="254" bIns="254" rtlCol="0" anchor="ctr"/>
          <a:lstStyle/>
          <a:p>
            <a:pPr algn="ctr" indent="0" marL="0">
              <a:buNone/>
            </a:pPr>
            <a:r>
              <a:rPr lang="en-US" sz="1100" dirty="0">
                <a:solidFill>
                  <a:srgbClr val="23303F"/>
                </a:solidFill>
                <a:latin typeface="Hiragino Sans" pitchFamily="34" charset="0"/>
                <a:ea typeface="Hiragino Sans" pitchFamily="34" charset="-122"/>
                <a:cs typeface="Hiragino Sans" pitchFamily="34" charset="-120"/>
              </a:rPr>
              <a:t>仕入れ</a:t>
            </a:r>
            <a:endParaRPr lang="en-US" sz="1100" dirty="0"/>
          </a:p>
        </p:txBody>
      </p:sp>
      <p:sp>
        <p:nvSpPr>
          <p:cNvPr id="9" name="Text 7"/>
          <p:cNvSpPr/>
          <p:nvPr/>
        </p:nvSpPr>
        <p:spPr>
          <a:xfrm>
            <a:off x="1920240" y="1417320"/>
            <a:ext cx="292608" cy="640080"/>
          </a:xfrm>
          <a:prstGeom prst="rect">
            <a:avLst/>
          </a:prstGeom>
          <a:noFill/>
          <a:ln/>
        </p:spPr>
        <p:txBody>
          <a:bodyPr wrap="square" lIns="0" tIns="0" rIns="0" bIns="0" rtlCol="0" anchor="ctr"/>
          <a:lstStyle/>
          <a:p>
            <a:pPr algn="ctr" indent="0" marL="0">
              <a:buNone/>
            </a:pPr>
            <a:r>
              <a:rPr lang="en-US" sz="1400" b="1" dirty="0">
                <a:solidFill>
                  <a:srgbClr val="D98E04"/>
                </a:solidFill>
                <a:latin typeface="Hiragino Sans" pitchFamily="34" charset="0"/>
                <a:ea typeface="Hiragino Sans" pitchFamily="34" charset="-122"/>
                <a:cs typeface="Hiragino Sans" pitchFamily="34" charset="-120"/>
              </a:rPr>
              <a:t>→</a:t>
            </a:r>
            <a:endParaRPr lang="en-US" sz="1400" dirty="0"/>
          </a:p>
        </p:txBody>
      </p:sp>
      <p:sp>
        <p:nvSpPr>
          <p:cNvPr id="10" name="Shape 8"/>
          <p:cNvSpPr/>
          <p:nvPr/>
        </p:nvSpPr>
        <p:spPr>
          <a:xfrm>
            <a:off x="2212848" y="1417320"/>
            <a:ext cx="1463040" cy="640080"/>
          </a:xfrm>
          <a:prstGeom prst="rect">
            <a:avLst/>
          </a:prstGeom>
          <a:solidFill>
            <a:srgbClr val="FFFFFF"/>
          </a:solidFill>
          <a:ln w="12700">
            <a:solidFill>
              <a:srgbClr val="E3DDD2"/>
            </a:solidFill>
            <a:prstDash val="solid"/>
          </a:ln>
          <a:effectLst>
            <a:outerShdw sx="100000" sy="100000" kx="0" ky="0" algn="bl" rotWithShape="0" blurRad="88900" dist="25400" dir="8100000">
              <a:srgbClr val="1B2A41">
                <a:alpha val="14000"/>
              </a:srgbClr>
            </a:outerShdw>
          </a:effectLst>
        </p:spPr>
      </p:sp>
      <p:sp>
        <p:nvSpPr>
          <p:cNvPr id="11" name="Text 9"/>
          <p:cNvSpPr/>
          <p:nvPr/>
        </p:nvSpPr>
        <p:spPr>
          <a:xfrm>
            <a:off x="2212848" y="1417320"/>
            <a:ext cx="1463040" cy="640080"/>
          </a:xfrm>
          <a:prstGeom prst="rect">
            <a:avLst/>
          </a:prstGeom>
          <a:noFill/>
          <a:ln/>
        </p:spPr>
        <p:txBody>
          <a:bodyPr wrap="square" lIns="254" tIns="254" rIns="254" bIns="254" rtlCol="0" anchor="ctr"/>
          <a:lstStyle/>
          <a:p>
            <a:pPr algn="ctr" indent="0" marL="0">
              <a:buNone/>
            </a:pPr>
            <a:r>
              <a:rPr lang="en-US" sz="1100" dirty="0">
                <a:solidFill>
                  <a:srgbClr val="23303F"/>
                </a:solidFill>
                <a:latin typeface="Hiragino Sans" pitchFamily="34" charset="0"/>
                <a:ea typeface="Hiragino Sans" pitchFamily="34" charset="-122"/>
                <a:cs typeface="Hiragino Sans" pitchFamily="34" charset="-120"/>
              </a:rPr>
              <a:t>FBA納品・販売</a:t>
            </a:r>
            <a:endParaRPr lang="en-US" sz="1100" dirty="0"/>
          </a:p>
        </p:txBody>
      </p:sp>
      <p:sp>
        <p:nvSpPr>
          <p:cNvPr id="12" name="Text 10"/>
          <p:cNvSpPr/>
          <p:nvPr/>
        </p:nvSpPr>
        <p:spPr>
          <a:xfrm>
            <a:off x="3675888" y="1417320"/>
            <a:ext cx="292608" cy="640080"/>
          </a:xfrm>
          <a:prstGeom prst="rect">
            <a:avLst/>
          </a:prstGeom>
          <a:noFill/>
          <a:ln/>
        </p:spPr>
        <p:txBody>
          <a:bodyPr wrap="square" lIns="0" tIns="0" rIns="0" bIns="0" rtlCol="0" anchor="ctr"/>
          <a:lstStyle/>
          <a:p>
            <a:pPr algn="ctr" indent="0" marL="0">
              <a:buNone/>
            </a:pPr>
            <a:r>
              <a:rPr lang="en-US" sz="1400" b="1" dirty="0">
                <a:solidFill>
                  <a:srgbClr val="D98E04"/>
                </a:solidFill>
                <a:latin typeface="Hiragino Sans" pitchFamily="34" charset="0"/>
                <a:ea typeface="Hiragino Sans" pitchFamily="34" charset="-122"/>
                <a:cs typeface="Hiragino Sans" pitchFamily="34" charset="-120"/>
              </a:rPr>
              <a:t>→</a:t>
            </a:r>
            <a:endParaRPr lang="en-US" sz="1400" dirty="0"/>
          </a:p>
        </p:txBody>
      </p:sp>
      <p:sp>
        <p:nvSpPr>
          <p:cNvPr id="13" name="Shape 11"/>
          <p:cNvSpPr/>
          <p:nvPr/>
        </p:nvSpPr>
        <p:spPr>
          <a:xfrm>
            <a:off x="3968496" y="1417320"/>
            <a:ext cx="1463040" cy="640080"/>
          </a:xfrm>
          <a:prstGeom prst="rect">
            <a:avLst/>
          </a:prstGeom>
          <a:solidFill>
            <a:srgbClr val="FFFFFF"/>
          </a:solidFill>
          <a:ln w="12700">
            <a:solidFill>
              <a:srgbClr val="E3DDD2"/>
            </a:solidFill>
            <a:prstDash val="solid"/>
          </a:ln>
          <a:effectLst>
            <a:outerShdw sx="100000" sy="100000" kx="0" ky="0" algn="bl" rotWithShape="0" blurRad="88900" dist="25400" dir="8100000">
              <a:srgbClr val="1B2A41">
                <a:alpha val="14000"/>
              </a:srgbClr>
            </a:outerShdw>
          </a:effectLst>
        </p:spPr>
      </p:sp>
      <p:sp>
        <p:nvSpPr>
          <p:cNvPr id="14" name="Text 12"/>
          <p:cNvSpPr/>
          <p:nvPr/>
        </p:nvSpPr>
        <p:spPr>
          <a:xfrm>
            <a:off x="3968496" y="1417320"/>
            <a:ext cx="1463040" cy="640080"/>
          </a:xfrm>
          <a:prstGeom prst="rect">
            <a:avLst/>
          </a:prstGeom>
          <a:noFill/>
          <a:ln/>
        </p:spPr>
        <p:txBody>
          <a:bodyPr wrap="square" lIns="254" tIns="254" rIns="254" bIns="254" rtlCol="0" anchor="ctr"/>
          <a:lstStyle/>
          <a:p>
            <a:pPr algn="ctr" indent="0" marL="0">
              <a:buNone/>
            </a:pPr>
            <a:r>
              <a:rPr lang="en-US" sz="1100" dirty="0">
                <a:solidFill>
                  <a:srgbClr val="23303F"/>
                </a:solidFill>
                <a:latin typeface="Hiragino Sans" pitchFamily="34" charset="0"/>
                <a:ea typeface="Hiragino Sans" pitchFamily="34" charset="-122"/>
                <a:cs typeface="Hiragino Sans" pitchFamily="34" charset="-120"/>
              </a:rPr>
              <a:t>売上</a:t>
            </a:r>
            <a:endParaRPr lang="en-US" sz="1100" dirty="0"/>
          </a:p>
        </p:txBody>
      </p:sp>
      <p:sp>
        <p:nvSpPr>
          <p:cNvPr id="15" name="Text 13"/>
          <p:cNvSpPr/>
          <p:nvPr/>
        </p:nvSpPr>
        <p:spPr>
          <a:xfrm>
            <a:off x="5431536" y="1417320"/>
            <a:ext cx="292608" cy="640080"/>
          </a:xfrm>
          <a:prstGeom prst="rect">
            <a:avLst/>
          </a:prstGeom>
          <a:noFill/>
          <a:ln/>
        </p:spPr>
        <p:txBody>
          <a:bodyPr wrap="square" lIns="0" tIns="0" rIns="0" bIns="0" rtlCol="0" anchor="ctr"/>
          <a:lstStyle/>
          <a:p>
            <a:pPr algn="ctr" indent="0" marL="0">
              <a:buNone/>
            </a:pPr>
            <a:r>
              <a:rPr lang="en-US" sz="1400" b="1" dirty="0">
                <a:solidFill>
                  <a:srgbClr val="D98E04"/>
                </a:solidFill>
                <a:latin typeface="Hiragino Sans" pitchFamily="34" charset="0"/>
                <a:ea typeface="Hiragino Sans" pitchFamily="34" charset="-122"/>
                <a:cs typeface="Hiragino Sans" pitchFamily="34" charset="-120"/>
              </a:rPr>
              <a:t>→</a:t>
            </a:r>
            <a:endParaRPr lang="en-US" sz="1400" dirty="0"/>
          </a:p>
        </p:txBody>
      </p:sp>
      <p:sp>
        <p:nvSpPr>
          <p:cNvPr id="16" name="Shape 14"/>
          <p:cNvSpPr/>
          <p:nvPr/>
        </p:nvSpPr>
        <p:spPr>
          <a:xfrm>
            <a:off x="5724144" y="1417320"/>
            <a:ext cx="1463040" cy="640080"/>
          </a:xfrm>
          <a:prstGeom prst="rect">
            <a:avLst/>
          </a:prstGeom>
          <a:solidFill>
            <a:srgbClr val="D98E04"/>
          </a:solidFill>
          <a:ln w="12700">
            <a:solidFill>
              <a:srgbClr val="D98E04"/>
            </a:solidFill>
            <a:prstDash val="solid"/>
          </a:ln>
          <a:effectLst>
            <a:outerShdw sx="100000" sy="100000" kx="0" ky="0" algn="bl" rotWithShape="0" blurRad="88900" dist="25400" dir="8100000">
              <a:srgbClr val="1B2A41">
                <a:alpha val="14000"/>
              </a:srgbClr>
            </a:outerShdw>
          </a:effectLst>
        </p:spPr>
      </p:sp>
      <p:sp>
        <p:nvSpPr>
          <p:cNvPr id="17" name="Text 15"/>
          <p:cNvSpPr/>
          <p:nvPr/>
        </p:nvSpPr>
        <p:spPr>
          <a:xfrm>
            <a:off x="5724144" y="1417320"/>
            <a:ext cx="1463040" cy="640080"/>
          </a:xfrm>
          <a:prstGeom prst="rect">
            <a:avLst/>
          </a:prstGeom>
          <a:noFill/>
          <a:ln/>
        </p:spPr>
        <p:txBody>
          <a:bodyPr wrap="square" lIns="254" tIns="254" rIns="254" bIns="254" rtlCol="0" anchor="ctr"/>
          <a:lstStyle/>
          <a:p>
            <a:pPr algn="ctr" indent="0" marL="0">
              <a:buNone/>
            </a:pPr>
            <a:r>
              <a:rPr lang="en-US" sz="1050" b="1" dirty="0">
                <a:solidFill>
                  <a:srgbClr val="FFFFFF"/>
                </a:solidFill>
                <a:latin typeface="Hiragino Sans" pitchFamily="34" charset="0"/>
                <a:ea typeface="Hiragino Sans" pitchFamily="34" charset="-122"/>
                <a:cs typeface="Hiragino Sans" pitchFamily="34" charset="-120"/>
              </a:rPr>
              <a:t>入金（2週間ごと）</a:t>
            </a:r>
            <a:endParaRPr lang="en-US" sz="1050" dirty="0"/>
          </a:p>
        </p:txBody>
      </p:sp>
      <p:sp>
        <p:nvSpPr>
          <p:cNvPr id="18" name="Text 16"/>
          <p:cNvSpPr/>
          <p:nvPr/>
        </p:nvSpPr>
        <p:spPr>
          <a:xfrm>
            <a:off x="7187184" y="1417320"/>
            <a:ext cx="292608" cy="640080"/>
          </a:xfrm>
          <a:prstGeom prst="rect">
            <a:avLst/>
          </a:prstGeom>
          <a:noFill/>
          <a:ln/>
        </p:spPr>
        <p:txBody>
          <a:bodyPr wrap="square" lIns="0" tIns="0" rIns="0" bIns="0" rtlCol="0" anchor="ctr"/>
          <a:lstStyle/>
          <a:p>
            <a:pPr algn="ctr" indent="0" marL="0">
              <a:buNone/>
            </a:pPr>
            <a:r>
              <a:rPr lang="en-US" sz="1400" b="1" dirty="0">
                <a:solidFill>
                  <a:srgbClr val="D98E04"/>
                </a:solidFill>
                <a:latin typeface="Hiragino Sans" pitchFamily="34" charset="0"/>
                <a:ea typeface="Hiragino Sans" pitchFamily="34" charset="-122"/>
                <a:cs typeface="Hiragino Sans" pitchFamily="34" charset="-120"/>
              </a:rPr>
              <a:t>→</a:t>
            </a:r>
            <a:endParaRPr lang="en-US" sz="1400" dirty="0"/>
          </a:p>
        </p:txBody>
      </p:sp>
      <p:sp>
        <p:nvSpPr>
          <p:cNvPr id="19" name="Shape 17"/>
          <p:cNvSpPr/>
          <p:nvPr/>
        </p:nvSpPr>
        <p:spPr>
          <a:xfrm>
            <a:off x="7479792" y="1417320"/>
            <a:ext cx="1463040" cy="640080"/>
          </a:xfrm>
          <a:prstGeom prst="rect">
            <a:avLst/>
          </a:prstGeom>
          <a:solidFill>
            <a:srgbClr val="FFFFFF"/>
          </a:solidFill>
          <a:ln w="12700">
            <a:solidFill>
              <a:srgbClr val="E3DDD2"/>
            </a:solidFill>
            <a:prstDash val="solid"/>
          </a:ln>
          <a:effectLst>
            <a:outerShdw sx="100000" sy="100000" kx="0" ky="0" algn="bl" rotWithShape="0" blurRad="88900" dist="25400" dir="8100000">
              <a:srgbClr val="1B2A41">
                <a:alpha val="14000"/>
              </a:srgbClr>
            </a:outerShdw>
          </a:effectLst>
        </p:spPr>
      </p:sp>
      <p:sp>
        <p:nvSpPr>
          <p:cNvPr id="20" name="Text 18"/>
          <p:cNvSpPr/>
          <p:nvPr/>
        </p:nvSpPr>
        <p:spPr>
          <a:xfrm>
            <a:off x="7479792" y="1417320"/>
            <a:ext cx="1463040" cy="640080"/>
          </a:xfrm>
          <a:prstGeom prst="rect">
            <a:avLst/>
          </a:prstGeom>
          <a:noFill/>
          <a:ln/>
        </p:spPr>
        <p:txBody>
          <a:bodyPr wrap="square" lIns="254" tIns="254" rIns="254" bIns="254" rtlCol="0" anchor="ctr"/>
          <a:lstStyle/>
          <a:p>
            <a:pPr algn="ctr" indent="0" marL="0">
              <a:buNone/>
            </a:pPr>
            <a:r>
              <a:rPr lang="en-US" sz="1100" dirty="0">
                <a:solidFill>
                  <a:srgbClr val="23303F"/>
                </a:solidFill>
                <a:latin typeface="Hiragino Sans" pitchFamily="34" charset="0"/>
                <a:ea typeface="Hiragino Sans" pitchFamily="34" charset="-122"/>
                <a:cs typeface="Hiragino Sans" pitchFamily="34" charset="-120"/>
              </a:rPr>
              <a:t>再仕入れ</a:t>
            </a:r>
            <a:endParaRPr lang="en-US" sz="1100" dirty="0"/>
          </a:p>
        </p:txBody>
      </p:sp>
      <p:sp>
        <p:nvSpPr>
          <p:cNvPr id="21" name="Text 19"/>
          <p:cNvSpPr/>
          <p:nvPr/>
        </p:nvSpPr>
        <p:spPr>
          <a:xfrm>
            <a:off x="457200" y="2194560"/>
            <a:ext cx="8229600" cy="274320"/>
          </a:xfrm>
          <a:prstGeom prst="rect">
            <a:avLst/>
          </a:prstGeom>
          <a:noFill/>
          <a:ln/>
        </p:spPr>
        <p:txBody>
          <a:bodyPr wrap="square" lIns="0" tIns="0" rIns="0" bIns="0" rtlCol="0" anchor="ctr"/>
          <a:lstStyle/>
          <a:p>
            <a:pPr indent="0" marL="0">
              <a:buNone/>
            </a:pPr>
            <a:r>
              <a:rPr lang="en-US" sz="1050" i="1" dirty="0">
                <a:solidFill>
                  <a:srgbClr val="6B7280"/>
                </a:solidFill>
                <a:latin typeface="Hiragino Sans" pitchFamily="34" charset="0"/>
                <a:ea typeface="Hiragino Sans" pitchFamily="34" charset="-122"/>
                <a:cs typeface="Hiragino Sans" pitchFamily="34" charset="-120"/>
              </a:rPr>
              <a:t>Amazonの入金は2週間サイクル（毎日1回の都度払い設定も可能）。このサイクルが回れば、あとは在庫表の管理だけ。</a:t>
            </a:r>
            <a:endParaRPr lang="en-US" sz="1050" dirty="0"/>
          </a:p>
        </p:txBody>
      </p:sp>
      <p:sp>
        <p:nvSpPr>
          <p:cNvPr id="22" name="Shape 20"/>
          <p:cNvSpPr/>
          <p:nvPr/>
        </p:nvSpPr>
        <p:spPr>
          <a:xfrm>
            <a:off x="457200" y="2697480"/>
            <a:ext cx="5486400" cy="182880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23" name="Text 21"/>
          <p:cNvSpPr/>
          <p:nvPr/>
        </p:nvSpPr>
        <p:spPr>
          <a:xfrm>
            <a:off x="713232" y="2852928"/>
            <a:ext cx="4937760" cy="274320"/>
          </a:xfrm>
          <a:prstGeom prst="rect">
            <a:avLst/>
          </a:prstGeom>
          <a:noFill/>
          <a:ln/>
        </p:spPr>
        <p:txBody>
          <a:bodyPr wrap="square" lIns="0" tIns="0" rIns="0" bIns="0" rtlCol="0" anchor="ctr"/>
          <a:lstStyle/>
          <a:p>
            <a:pPr indent="0" marL="0">
              <a:buNone/>
            </a:pPr>
            <a:r>
              <a:rPr lang="en-US" sz="1250" b="1" dirty="0">
                <a:solidFill>
                  <a:srgbClr val="1B2A41"/>
                </a:solidFill>
                <a:latin typeface="Hiragino Sans" pitchFamily="34" charset="0"/>
                <a:ea typeface="Hiragino Sans" pitchFamily="34" charset="-122"/>
                <a:cs typeface="Hiragino Sans" pitchFamily="34" charset="-120"/>
              </a:rPr>
              <a:t>在庫表（スプレッドシート）で持つ項目</a:t>
            </a:r>
            <a:endParaRPr lang="en-US" sz="1250" dirty="0"/>
          </a:p>
        </p:txBody>
      </p:sp>
      <p:sp>
        <p:nvSpPr>
          <p:cNvPr id="24" name="Shape 22"/>
          <p:cNvSpPr/>
          <p:nvPr/>
        </p:nvSpPr>
        <p:spPr>
          <a:xfrm>
            <a:off x="713232" y="3246120"/>
            <a:ext cx="1481328" cy="384048"/>
          </a:xfrm>
          <a:prstGeom prst="rect">
            <a:avLst/>
          </a:prstGeom>
          <a:solidFill>
            <a:srgbClr val="F7F4EE"/>
          </a:solidFill>
          <a:ln w="9525">
            <a:solidFill>
              <a:srgbClr val="E3DDD2"/>
            </a:solidFill>
            <a:prstDash val="solid"/>
          </a:ln>
        </p:spPr>
      </p:sp>
      <p:sp>
        <p:nvSpPr>
          <p:cNvPr id="25" name="Text 23"/>
          <p:cNvSpPr/>
          <p:nvPr/>
        </p:nvSpPr>
        <p:spPr>
          <a:xfrm>
            <a:off x="713232" y="3246120"/>
            <a:ext cx="1481328" cy="384048"/>
          </a:xfrm>
          <a:prstGeom prst="rect">
            <a:avLst/>
          </a:prstGeom>
          <a:noFill/>
          <a:ln/>
        </p:spPr>
        <p:txBody>
          <a:bodyPr wrap="square" lIns="0" tIns="0" rIns="0" bIns="0" rtlCol="0" anchor="ctr"/>
          <a:lstStyle/>
          <a:p>
            <a:pPr algn="ctr" indent="0" marL="0">
              <a:buNone/>
            </a:pPr>
            <a:r>
              <a:rPr lang="en-US" sz="1000" dirty="0">
                <a:solidFill>
                  <a:srgbClr val="23303F"/>
                </a:solidFill>
                <a:latin typeface="Hiragino Sans" pitchFamily="34" charset="0"/>
                <a:ea typeface="Hiragino Sans" pitchFamily="34" charset="-122"/>
                <a:cs typeface="Hiragino Sans" pitchFamily="34" charset="-120"/>
              </a:rPr>
              <a:t>商品名</a:t>
            </a:r>
            <a:endParaRPr lang="en-US" sz="1000" dirty="0"/>
          </a:p>
        </p:txBody>
      </p:sp>
      <p:sp>
        <p:nvSpPr>
          <p:cNvPr id="26" name="Shape 24"/>
          <p:cNvSpPr/>
          <p:nvPr/>
        </p:nvSpPr>
        <p:spPr>
          <a:xfrm>
            <a:off x="2340864" y="3246120"/>
            <a:ext cx="1481328" cy="384048"/>
          </a:xfrm>
          <a:prstGeom prst="rect">
            <a:avLst/>
          </a:prstGeom>
          <a:solidFill>
            <a:srgbClr val="F7F4EE"/>
          </a:solidFill>
          <a:ln w="9525">
            <a:solidFill>
              <a:srgbClr val="E3DDD2"/>
            </a:solidFill>
            <a:prstDash val="solid"/>
          </a:ln>
        </p:spPr>
      </p:sp>
      <p:sp>
        <p:nvSpPr>
          <p:cNvPr id="27" name="Text 25"/>
          <p:cNvSpPr/>
          <p:nvPr/>
        </p:nvSpPr>
        <p:spPr>
          <a:xfrm>
            <a:off x="2340864" y="3246120"/>
            <a:ext cx="1481328" cy="384048"/>
          </a:xfrm>
          <a:prstGeom prst="rect">
            <a:avLst/>
          </a:prstGeom>
          <a:noFill/>
          <a:ln/>
        </p:spPr>
        <p:txBody>
          <a:bodyPr wrap="square" lIns="0" tIns="0" rIns="0" bIns="0" rtlCol="0" anchor="ctr"/>
          <a:lstStyle/>
          <a:p>
            <a:pPr algn="ctr" indent="0" marL="0">
              <a:buNone/>
            </a:pPr>
            <a:r>
              <a:rPr lang="en-US" sz="1000" dirty="0">
                <a:solidFill>
                  <a:srgbClr val="23303F"/>
                </a:solidFill>
                <a:latin typeface="Hiragino Sans" pitchFamily="34" charset="0"/>
                <a:ea typeface="Hiragino Sans" pitchFamily="34" charset="-122"/>
                <a:cs typeface="Hiragino Sans" pitchFamily="34" charset="-120"/>
              </a:rPr>
              <a:t>仕入価格</a:t>
            </a:r>
            <a:endParaRPr lang="en-US" sz="1000" dirty="0"/>
          </a:p>
        </p:txBody>
      </p:sp>
      <p:sp>
        <p:nvSpPr>
          <p:cNvPr id="28" name="Shape 26"/>
          <p:cNvSpPr/>
          <p:nvPr/>
        </p:nvSpPr>
        <p:spPr>
          <a:xfrm>
            <a:off x="3968496" y="3246120"/>
            <a:ext cx="1481328" cy="384048"/>
          </a:xfrm>
          <a:prstGeom prst="rect">
            <a:avLst/>
          </a:prstGeom>
          <a:solidFill>
            <a:srgbClr val="F7F4EE"/>
          </a:solidFill>
          <a:ln w="9525">
            <a:solidFill>
              <a:srgbClr val="E3DDD2"/>
            </a:solidFill>
            <a:prstDash val="solid"/>
          </a:ln>
        </p:spPr>
      </p:sp>
      <p:sp>
        <p:nvSpPr>
          <p:cNvPr id="29" name="Text 27"/>
          <p:cNvSpPr/>
          <p:nvPr/>
        </p:nvSpPr>
        <p:spPr>
          <a:xfrm>
            <a:off x="3968496" y="3246120"/>
            <a:ext cx="1481328" cy="384048"/>
          </a:xfrm>
          <a:prstGeom prst="rect">
            <a:avLst/>
          </a:prstGeom>
          <a:noFill/>
          <a:ln/>
        </p:spPr>
        <p:txBody>
          <a:bodyPr wrap="square" lIns="0" tIns="0" rIns="0" bIns="0" rtlCol="0" anchor="ctr"/>
          <a:lstStyle/>
          <a:p>
            <a:pPr algn="ctr" indent="0" marL="0">
              <a:buNone/>
            </a:pPr>
            <a:r>
              <a:rPr lang="en-US" sz="1000" dirty="0">
                <a:solidFill>
                  <a:srgbClr val="23303F"/>
                </a:solidFill>
                <a:latin typeface="Hiragino Sans" pitchFamily="34" charset="0"/>
                <a:ea typeface="Hiragino Sans" pitchFamily="34" charset="-122"/>
                <a:cs typeface="Hiragino Sans" pitchFamily="34" charset="-120"/>
              </a:rPr>
              <a:t>販売価格</a:t>
            </a:r>
            <a:endParaRPr lang="en-US" sz="1000" dirty="0"/>
          </a:p>
        </p:txBody>
      </p:sp>
      <p:sp>
        <p:nvSpPr>
          <p:cNvPr id="30" name="Shape 28"/>
          <p:cNvSpPr/>
          <p:nvPr/>
        </p:nvSpPr>
        <p:spPr>
          <a:xfrm>
            <a:off x="713232" y="3758184"/>
            <a:ext cx="1481328" cy="384048"/>
          </a:xfrm>
          <a:prstGeom prst="rect">
            <a:avLst/>
          </a:prstGeom>
          <a:solidFill>
            <a:srgbClr val="F7F4EE"/>
          </a:solidFill>
          <a:ln w="9525">
            <a:solidFill>
              <a:srgbClr val="E3DDD2"/>
            </a:solidFill>
            <a:prstDash val="solid"/>
          </a:ln>
        </p:spPr>
      </p:sp>
      <p:sp>
        <p:nvSpPr>
          <p:cNvPr id="31" name="Text 29"/>
          <p:cNvSpPr/>
          <p:nvPr/>
        </p:nvSpPr>
        <p:spPr>
          <a:xfrm>
            <a:off x="713232" y="3758184"/>
            <a:ext cx="1481328" cy="384048"/>
          </a:xfrm>
          <a:prstGeom prst="rect">
            <a:avLst/>
          </a:prstGeom>
          <a:noFill/>
          <a:ln/>
        </p:spPr>
        <p:txBody>
          <a:bodyPr wrap="square" lIns="0" tIns="0" rIns="0" bIns="0" rtlCol="0" anchor="ctr"/>
          <a:lstStyle/>
          <a:p>
            <a:pPr algn="ctr" indent="0" marL="0">
              <a:buNone/>
            </a:pPr>
            <a:r>
              <a:rPr lang="en-US" sz="1000" dirty="0">
                <a:solidFill>
                  <a:srgbClr val="23303F"/>
                </a:solidFill>
                <a:latin typeface="Hiragino Sans" pitchFamily="34" charset="0"/>
                <a:ea typeface="Hiragino Sans" pitchFamily="34" charset="-122"/>
                <a:cs typeface="Hiragino Sans" pitchFamily="34" charset="-120"/>
              </a:rPr>
              <a:t>FBA在庫数</a:t>
            </a:r>
            <a:endParaRPr lang="en-US" sz="1000" dirty="0"/>
          </a:p>
        </p:txBody>
      </p:sp>
      <p:sp>
        <p:nvSpPr>
          <p:cNvPr id="32" name="Shape 30"/>
          <p:cNvSpPr/>
          <p:nvPr/>
        </p:nvSpPr>
        <p:spPr>
          <a:xfrm>
            <a:off x="2340864" y="3758184"/>
            <a:ext cx="1481328" cy="384048"/>
          </a:xfrm>
          <a:prstGeom prst="rect">
            <a:avLst/>
          </a:prstGeom>
          <a:solidFill>
            <a:srgbClr val="F7F4EE"/>
          </a:solidFill>
          <a:ln w="9525">
            <a:solidFill>
              <a:srgbClr val="E3DDD2"/>
            </a:solidFill>
            <a:prstDash val="solid"/>
          </a:ln>
        </p:spPr>
      </p:sp>
      <p:sp>
        <p:nvSpPr>
          <p:cNvPr id="33" name="Text 31"/>
          <p:cNvSpPr/>
          <p:nvPr/>
        </p:nvSpPr>
        <p:spPr>
          <a:xfrm>
            <a:off x="2340864" y="3758184"/>
            <a:ext cx="1481328" cy="384048"/>
          </a:xfrm>
          <a:prstGeom prst="rect">
            <a:avLst/>
          </a:prstGeom>
          <a:noFill/>
          <a:ln/>
        </p:spPr>
        <p:txBody>
          <a:bodyPr wrap="square" lIns="0" tIns="0" rIns="0" bIns="0" rtlCol="0" anchor="ctr"/>
          <a:lstStyle/>
          <a:p>
            <a:pPr algn="ctr" indent="0" marL="0">
              <a:buNone/>
            </a:pPr>
            <a:r>
              <a:rPr lang="en-US" sz="1000" dirty="0">
                <a:solidFill>
                  <a:srgbClr val="23303F"/>
                </a:solidFill>
                <a:latin typeface="Hiragino Sans" pitchFamily="34" charset="0"/>
                <a:ea typeface="Hiragino Sans" pitchFamily="34" charset="-122"/>
                <a:cs typeface="Hiragino Sans" pitchFamily="34" charset="-120"/>
              </a:rPr>
              <a:t>販売ペース</a:t>
            </a:r>
            <a:endParaRPr lang="en-US" sz="1000" dirty="0"/>
          </a:p>
        </p:txBody>
      </p:sp>
      <p:sp>
        <p:nvSpPr>
          <p:cNvPr id="34" name="Shape 32"/>
          <p:cNvSpPr/>
          <p:nvPr/>
        </p:nvSpPr>
        <p:spPr>
          <a:xfrm>
            <a:off x="3968496" y="3758184"/>
            <a:ext cx="1481328" cy="384048"/>
          </a:xfrm>
          <a:prstGeom prst="rect">
            <a:avLst/>
          </a:prstGeom>
          <a:solidFill>
            <a:srgbClr val="F7F4EE"/>
          </a:solidFill>
          <a:ln w="9525">
            <a:solidFill>
              <a:srgbClr val="E3DDD2"/>
            </a:solidFill>
            <a:prstDash val="solid"/>
          </a:ln>
        </p:spPr>
      </p:sp>
      <p:sp>
        <p:nvSpPr>
          <p:cNvPr id="35" name="Text 33"/>
          <p:cNvSpPr/>
          <p:nvPr/>
        </p:nvSpPr>
        <p:spPr>
          <a:xfrm>
            <a:off x="3968496" y="3758184"/>
            <a:ext cx="1481328" cy="384048"/>
          </a:xfrm>
          <a:prstGeom prst="rect">
            <a:avLst/>
          </a:prstGeom>
          <a:noFill/>
          <a:ln/>
        </p:spPr>
        <p:txBody>
          <a:bodyPr wrap="square" lIns="0" tIns="0" rIns="0" bIns="0" rtlCol="0" anchor="ctr"/>
          <a:lstStyle/>
          <a:p>
            <a:pPr algn="ctr" indent="0" marL="0">
              <a:buNone/>
            </a:pPr>
            <a:r>
              <a:rPr lang="en-US" sz="1000" dirty="0">
                <a:solidFill>
                  <a:srgbClr val="23303F"/>
                </a:solidFill>
                <a:latin typeface="Hiragino Sans" pitchFamily="34" charset="0"/>
                <a:ea typeface="Hiragino Sans" pitchFamily="34" charset="-122"/>
                <a:cs typeface="Hiragino Sans" pitchFamily="34" charset="-120"/>
              </a:rPr>
              <a:t>次回発注日</a:t>
            </a:r>
            <a:endParaRPr lang="en-US" sz="1000" dirty="0"/>
          </a:p>
        </p:txBody>
      </p:sp>
      <p:sp>
        <p:nvSpPr>
          <p:cNvPr id="36" name="Shape 34"/>
          <p:cNvSpPr/>
          <p:nvPr/>
        </p:nvSpPr>
        <p:spPr>
          <a:xfrm>
            <a:off x="6217920" y="2697480"/>
            <a:ext cx="2468880" cy="1828800"/>
          </a:xfrm>
          <a:prstGeom prst="rect">
            <a:avLst/>
          </a:prstGeom>
          <a:solidFill>
            <a:srgbClr val="1B2A41"/>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37" name="Text 35"/>
          <p:cNvSpPr/>
          <p:nvPr/>
        </p:nvSpPr>
        <p:spPr>
          <a:xfrm>
            <a:off x="6446520" y="2926080"/>
            <a:ext cx="2011680" cy="1417320"/>
          </a:xfrm>
          <a:prstGeom prst="rect">
            <a:avLst/>
          </a:prstGeom>
          <a:noFill/>
          <a:ln/>
        </p:spPr>
        <p:txBody>
          <a:bodyPr wrap="square" lIns="0" tIns="0" rIns="0" bIns="0" rtlCol="0" anchor="ctr"/>
          <a:lstStyle/>
          <a:p>
            <a:pPr indent="0" marL="0">
              <a:lnSpc>
                <a:spcPct val="115000"/>
              </a:lnSpc>
              <a:buNone/>
            </a:pPr>
            <a:r>
              <a:rPr lang="en-US" sz="1200" dirty="0">
                <a:solidFill>
                  <a:srgbClr val="C9D4E3"/>
                </a:solidFill>
                <a:latin typeface="Hiragino Sans" pitchFamily="34" charset="0"/>
                <a:ea typeface="Hiragino Sans" pitchFamily="34" charset="-122"/>
                <a:cs typeface="Hiragino Sans" pitchFamily="34" charset="-120"/>
              </a:rPr>
              <a:t>発注作業は</a:t>
            </a:r>
            <a:endParaRPr lang="en-US" sz="1200" dirty="0"/>
          </a:p>
          <a:p>
            <a:pPr indent="0" marL="0">
              <a:lnSpc>
                <a:spcPct val="115000"/>
              </a:lnSpc>
              <a:buNone/>
            </a:pPr>
            <a:r>
              <a:rPr lang="en-US" sz="3000" b="1" dirty="0">
                <a:solidFill>
                  <a:srgbClr val="F2B33D"/>
                </a:solidFill>
                <a:latin typeface="Hiragino Sans" pitchFamily="34" charset="0"/>
                <a:ea typeface="Hiragino Sans" pitchFamily="34" charset="-122"/>
                <a:cs typeface="Hiragino Sans" pitchFamily="34" charset="-120"/>
              </a:rPr>
              <a:t>月2回</a:t>
            </a:r>
            <a:endParaRPr lang="en-US" sz="1200" dirty="0"/>
          </a:p>
          <a:p>
            <a:pPr indent="0" marL="0">
              <a:lnSpc>
                <a:spcPct val="115000"/>
              </a:lnSpc>
              <a:buNone/>
            </a:pPr>
            <a:r>
              <a:rPr lang="en-US" sz="1000" dirty="0">
                <a:solidFill>
                  <a:srgbClr val="C9D4E3"/>
                </a:solidFill>
                <a:latin typeface="Hiragino Sans" pitchFamily="34" charset="0"/>
                <a:ea typeface="Hiragino Sans" pitchFamily="34" charset="-122"/>
                <a:cs typeface="Hiragino Sans" pitchFamily="34" charset="-120"/>
              </a:rPr>
              <a:t>在庫が1.5ヶ月分を切る前にメールでリピート発注</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GROWTH 1 — 外注化</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月51時間を買い戻す</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16</a:t>
            </a:r>
            <a:endParaRPr lang="en-US" sz="900" dirty="0"/>
          </a:p>
        </p:txBody>
      </p:sp>
      <p:sp>
        <p:nvSpPr>
          <p:cNvPr id="7" name="Shape 5"/>
          <p:cNvSpPr/>
          <p:nvPr/>
        </p:nvSpPr>
        <p:spPr>
          <a:xfrm>
            <a:off x="457200" y="1371600"/>
            <a:ext cx="5120640" cy="315468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8" name="Text 6"/>
          <p:cNvSpPr/>
          <p:nvPr/>
        </p:nvSpPr>
        <p:spPr>
          <a:xfrm>
            <a:off x="713232" y="1536192"/>
            <a:ext cx="4572000" cy="292608"/>
          </a:xfrm>
          <a:prstGeom prst="rect">
            <a:avLst/>
          </a:prstGeom>
          <a:noFill/>
          <a:ln/>
        </p:spPr>
        <p:txBody>
          <a:bodyPr wrap="square" lIns="0" tIns="0" rIns="0" bIns="0" rtlCol="0" anchor="ctr"/>
          <a:lstStyle/>
          <a:p>
            <a:pPr indent="0" marL="0">
              <a:buNone/>
            </a:pPr>
            <a:r>
              <a:rPr lang="en-US" sz="1300" b="1" dirty="0">
                <a:solidFill>
                  <a:srgbClr val="1B2A41"/>
                </a:solidFill>
                <a:latin typeface="Hiragino Sans" pitchFamily="34" charset="0"/>
                <a:ea typeface="Hiragino Sans" pitchFamily="34" charset="-122"/>
                <a:cs typeface="Hiragino Sans" pitchFamily="34" charset="-120"/>
              </a:rPr>
              <a:t>外注できる作業（時間/月）</a:t>
            </a:r>
            <a:endParaRPr lang="en-US" sz="1300" dirty="0"/>
          </a:p>
        </p:txBody>
      </p:sp>
      <p:sp>
        <p:nvSpPr>
          <p:cNvPr id="9" name="Text 7"/>
          <p:cNvSpPr/>
          <p:nvPr/>
        </p:nvSpPr>
        <p:spPr>
          <a:xfrm>
            <a:off x="713232" y="1956816"/>
            <a:ext cx="3291840" cy="256032"/>
          </a:xfrm>
          <a:prstGeom prst="rect">
            <a:avLst/>
          </a:prstGeom>
          <a:noFill/>
          <a:ln/>
        </p:spPr>
        <p:txBody>
          <a:bodyPr wrap="square" lIns="0" tIns="0" rIns="0" bIns="0" rtlCol="0" anchor="ctr"/>
          <a:lstStyle/>
          <a:p>
            <a:pPr indent="0" marL="0">
              <a:buNone/>
            </a:pPr>
            <a:r>
              <a:rPr lang="en-US" sz="1000" dirty="0">
                <a:solidFill>
                  <a:srgbClr val="23303F"/>
                </a:solidFill>
                <a:latin typeface="Hiragino Sans" pitchFamily="34" charset="0"/>
                <a:ea typeface="Hiragino Sans" pitchFamily="34" charset="-122"/>
                <a:cs typeface="Hiragino Sans" pitchFamily="34" charset="-120"/>
              </a:rPr>
              <a:t>リサーチ・問い合わせ（300通×6分）</a:t>
            </a:r>
            <a:endParaRPr lang="en-US" sz="1000" dirty="0"/>
          </a:p>
        </p:txBody>
      </p:sp>
      <p:sp>
        <p:nvSpPr>
          <p:cNvPr id="10" name="Shape 8"/>
          <p:cNvSpPr/>
          <p:nvPr/>
        </p:nvSpPr>
        <p:spPr>
          <a:xfrm>
            <a:off x="713232" y="2212848"/>
            <a:ext cx="2743200" cy="182880"/>
          </a:xfrm>
          <a:prstGeom prst="rect">
            <a:avLst/>
          </a:prstGeom>
          <a:solidFill>
            <a:srgbClr val="D98E04"/>
          </a:solidFill>
          <a:ln/>
        </p:spPr>
      </p:sp>
      <p:sp>
        <p:nvSpPr>
          <p:cNvPr id="11" name="Text 9"/>
          <p:cNvSpPr/>
          <p:nvPr/>
        </p:nvSpPr>
        <p:spPr>
          <a:xfrm>
            <a:off x="3511296" y="2148840"/>
            <a:ext cx="731520" cy="292608"/>
          </a:xfrm>
          <a:prstGeom prst="rect">
            <a:avLst/>
          </a:prstGeom>
          <a:noFill/>
          <a:ln/>
        </p:spPr>
        <p:txBody>
          <a:bodyPr wrap="square" lIns="0" tIns="0" rIns="0" bIns="0" rtlCol="0" anchor="ctr"/>
          <a:lstStyle/>
          <a:p>
            <a:pPr indent="0" marL="0">
              <a:buNone/>
            </a:pPr>
            <a:r>
              <a:rPr lang="en-US" sz="1050" b="1" dirty="0">
                <a:solidFill>
                  <a:srgbClr val="1B2A41"/>
                </a:solidFill>
                <a:latin typeface="Hiragino Sans" pitchFamily="34" charset="0"/>
                <a:ea typeface="Hiragino Sans" pitchFamily="34" charset="-122"/>
                <a:cs typeface="Hiragino Sans" pitchFamily="34" charset="-120"/>
              </a:rPr>
              <a:t>30h</a:t>
            </a:r>
            <a:endParaRPr lang="en-US" sz="1050" dirty="0"/>
          </a:p>
        </p:txBody>
      </p:sp>
      <p:sp>
        <p:nvSpPr>
          <p:cNvPr id="12" name="Text 10"/>
          <p:cNvSpPr/>
          <p:nvPr/>
        </p:nvSpPr>
        <p:spPr>
          <a:xfrm>
            <a:off x="713232" y="2523744"/>
            <a:ext cx="3291840" cy="256032"/>
          </a:xfrm>
          <a:prstGeom prst="rect">
            <a:avLst/>
          </a:prstGeom>
          <a:noFill/>
          <a:ln/>
        </p:spPr>
        <p:txBody>
          <a:bodyPr wrap="square" lIns="0" tIns="0" rIns="0" bIns="0" rtlCol="0" anchor="ctr"/>
          <a:lstStyle/>
          <a:p>
            <a:pPr indent="0" marL="0">
              <a:buNone/>
            </a:pPr>
            <a:r>
              <a:rPr lang="en-US" sz="1000" dirty="0">
                <a:solidFill>
                  <a:srgbClr val="23303F"/>
                </a:solidFill>
                <a:latin typeface="Hiragino Sans" pitchFamily="34" charset="0"/>
                <a:ea typeface="Hiragino Sans" pitchFamily="34" charset="-122"/>
                <a:cs typeface="Hiragino Sans" pitchFamily="34" charset="-120"/>
              </a:rPr>
              <a:t>梱包・納品</a:t>
            </a:r>
            <a:endParaRPr lang="en-US" sz="1000" dirty="0"/>
          </a:p>
        </p:txBody>
      </p:sp>
      <p:sp>
        <p:nvSpPr>
          <p:cNvPr id="13" name="Shape 11"/>
          <p:cNvSpPr/>
          <p:nvPr/>
        </p:nvSpPr>
        <p:spPr>
          <a:xfrm>
            <a:off x="713232" y="2779776"/>
            <a:ext cx="1463040" cy="182880"/>
          </a:xfrm>
          <a:prstGeom prst="rect">
            <a:avLst/>
          </a:prstGeom>
          <a:solidFill>
            <a:srgbClr val="2B3F5C"/>
          </a:solidFill>
          <a:ln/>
        </p:spPr>
      </p:sp>
      <p:sp>
        <p:nvSpPr>
          <p:cNvPr id="14" name="Text 12"/>
          <p:cNvSpPr/>
          <p:nvPr/>
        </p:nvSpPr>
        <p:spPr>
          <a:xfrm>
            <a:off x="2231136" y="2715768"/>
            <a:ext cx="731520" cy="292608"/>
          </a:xfrm>
          <a:prstGeom prst="rect">
            <a:avLst/>
          </a:prstGeom>
          <a:noFill/>
          <a:ln/>
        </p:spPr>
        <p:txBody>
          <a:bodyPr wrap="square" lIns="0" tIns="0" rIns="0" bIns="0" rtlCol="0" anchor="ctr"/>
          <a:lstStyle/>
          <a:p>
            <a:pPr indent="0" marL="0">
              <a:buNone/>
            </a:pPr>
            <a:r>
              <a:rPr lang="en-US" sz="1050" b="1" dirty="0">
                <a:solidFill>
                  <a:srgbClr val="1B2A41"/>
                </a:solidFill>
                <a:latin typeface="Hiragino Sans" pitchFamily="34" charset="0"/>
                <a:ea typeface="Hiragino Sans" pitchFamily="34" charset="-122"/>
                <a:cs typeface="Hiragino Sans" pitchFamily="34" charset="-120"/>
              </a:rPr>
              <a:t>16h</a:t>
            </a:r>
            <a:endParaRPr lang="en-US" sz="1050" dirty="0"/>
          </a:p>
        </p:txBody>
      </p:sp>
      <p:sp>
        <p:nvSpPr>
          <p:cNvPr id="15" name="Text 13"/>
          <p:cNvSpPr/>
          <p:nvPr/>
        </p:nvSpPr>
        <p:spPr>
          <a:xfrm>
            <a:off x="713232" y="3090672"/>
            <a:ext cx="3291840" cy="256032"/>
          </a:xfrm>
          <a:prstGeom prst="rect">
            <a:avLst/>
          </a:prstGeom>
          <a:noFill/>
          <a:ln/>
        </p:spPr>
        <p:txBody>
          <a:bodyPr wrap="square" lIns="0" tIns="0" rIns="0" bIns="0" rtlCol="0" anchor="ctr"/>
          <a:lstStyle/>
          <a:p>
            <a:pPr indent="0" marL="0">
              <a:buNone/>
            </a:pPr>
            <a:r>
              <a:rPr lang="en-US" sz="1000" dirty="0">
                <a:solidFill>
                  <a:srgbClr val="23303F"/>
                </a:solidFill>
                <a:latin typeface="Hiragino Sans" pitchFamily="34" charset="0"/>
                <a:ea typeface="Hiragino Sans" pitchFamily="34" charset="-122"/>
                <a:cs typeface="Hiragino Sans" pitchFamily="34" charset="-120"/>
              </a:rPr>
              <a:t>在庫管理・リピート発注</a:t>
            </a:r>
            <a:endParaRPr lang="en-US" sz="1000" dirty="0"/>
          </a:p>
        </p:txBody>
      </p:sp>
      <p:sp>
        <p:nvSpPr>
          <p:cNvPr id="16" name="Shape 14"/>
          <p:cNvSpPr/>
          <p:nvPr/>
        </p:nvSpPr>
        <p:spPr>
          <a:xfrm>
            <a:off x="713232" y="3346704"/>
            <a:ext cx="365760" cy="182880"/>
          </a:xfrm>
          <a:prstGeom prst="rect">
            <a:avLst/>
          </a:prstGeom>
          <a:solidFill>
            <a:srgbClr val="2B3F5C"/>
          </a:solidFill>
          <a:ln/>
        </p:spPr>
      </p:sp>
      <p:sp>
        <p:nvSpPr>
          <p:cNvPr id="17" name="Text 15"/>
          <p:cNvSpPr/>
          <p:nvPr/>
        </p:nvSpPr>
        <p:spPr>
          <a:xfrm>
            <a:off x="1133856" y="3282696"/>
            <a:ext cx="731520" cy="292608"/>
          </a:xfrm>
          <a:prstGeom prst="rect">
            <a:avLst/>
          </a:prstGeom>
          <a:noFill/>
          <a:ln/>
        </p:spPr>
        <p:txBody>
          <a:bodyPr wrap="square" lIns="0" tIns="0" rIns="0" bIns="0" rtlCol="0" anchor="ctr"/>
          <a:lstStyle/>
          <a:p>
            <a:pPr indent="0" marL="0">
              <a:buNone/>
            </a:pPr>
            <a:r>
              <a:rPr lang="en-US" sz="1050" b="1" dirty="0">
                <a:solidFill>
                  <a:srgbClr val="1B2A41"/>
                </a:solidFill>
                <a:latin typeface="Hiragino Sans" pitchFamily="34" charset="0"/>
                <a:ea typeface="Hiragino Sans" pitchFamily="34" charset="-122"/>
                <a:cs typeface="Hiragino Sans" pitchFamily="34" charset="-120"/>
              </a:rPr>
              <a:t>4h</a:t>
            </a:r>
            <a:endParaRPr lang="en-US" sz="1050" dirty="0"/>
          </a:p>
        </p:txBody>
      </p:sp>
      <p:sp>
        <p:nvSpPr>
          <p:cNvPr id="18" name="Text 16"/>
          <p:cNvSpPr/>
          <p:nvPr/>
        </p:nvSpPr>
        <p:spPr>
          <a:xfrm>
            <a:off x="713232" y="3657600"/>
            <a:ext cx="3291840" cy="256032"/>
          </a:xfrm>
          <a:prstGeom prst="rect">
            <a:avLst/>
          </a:prstGeom>
          <a:noFill/>
          <a:ln/>
        </p:spPr>
        <p:txBody>
          <a:bodyPr wrap="square" lIns="0" tIns="0" rIns="0" bIns="0" rtlCol="0" anchor="ctr"/>
          <a:lstStyle/>
          <a:p>
            <a:pPr indent="0" marL="0">
              <a:buNone/>
            </a:pPr>
            <a:r>
              <a:rPr lang="en-US" sz="1000" dirty="0">
                <a:solidFill>
                  <a:srgbClr val="23303F"/>
                </a:solidFill>
                <a:latin typeface="Hiragino Sans" pitchFamily="34" charset="0"/>
                <a:ea typeface="Hiragino Sans" pitchFamily="34" charset="-122"/>
                <a:cs typeface="Hiragino Sans" pitchFamily="34" charset="-120"/>
              </a:rPr>
              <a:t>発注書作成</a:t>
            </a:r>
            <a:endParaRPr lang="en-US" sz="1000" dirty="0"/>
          </a:p>
        </p:txBody>
      </p:sp>
      <p:sp>
        <p:nvSpPr>
          <p:cNvPr id="19" name="Shape 17"/>
          <p:cNvSpPr/>
          <p:nvPr/>
        </p:nvSpPr>
        <p:spPr>
          <a:xfrm>
            <a:off x="713232" y="3913632"/>
            <a:ext cx="164592" cy="182880"/>
          </a:xfrm>
          <a:prstGeom prst="rect">
            <a:avLst/>
          </a:prstGeom>
          <a:solidFill>
            <a:srgbClr val="2B3F5C"/>
          </a:solidFill>
          <a:ln/>
        </p:spPr>
      </p:sp>
      <p:sp>
        <p:nvSpPr>
          <p:cNvPr id="20" name="Text 18"/>
          <p:cNvSpPr/>
          <p:nvPr/>
        </p:nvSpPr>
        <p:spPr>
          <a:xfrm>
            <a:off x="932688" y="3849624"/>
            <a:ext cx="731520" cy="292608"/>
          </a:xfrm>
          <a:prstGeom prst="rect">
            <a:avLst/>
          </a:prstGeom>
          <a:noFill/>
          <a:ln/>
        </p:spPr>
        <p:txBody>
          <a:bodyPr wrap="square" lIns="0" tIns="0" rIns="0" bIns="0" rtlCol="0" anchor="ctr"/>
          <a:lstStyle/>
          <a:p>
            <a:pPr indent="0" marL="0">
              <a:buNone/>
            </a:pPr>
            <a:r>
              <a:rPr lang="en-US" sz="1050" b="1" dirty="0">
                <a:solidFill>
                  <a:srgbClr val="1B2A41"/>
                </a:solidFill>
                <a:latin typeface="Hiragino Sans" pitchFamily="34" charset="0"/>
                <a:ea typeface="Hiragino Sans" pitchFamily="34" charset="-122"/>
                <a:cs typeface="Hiragino Sans" pitchFamily="34" charset="-120"/>
              </a:rPr>
              <a:t>1h</a:t>
            </a:r>
            <a:endParaRPr lang="en-US" sz="1050" dirty="0"/>
          </a:p>
        </p:txBody>
      </p:sp>
      <p:sp>
        <p:nvSpPr>
          <p:cNvPr id="21" name="Text 19"/>
          <p:cNvSpPr/>
          <p:nvPr/>
        </p:nvSpPr>
        <p:spPr>
          <a:xfrm>
            <a:off x="713232" y="4206240"/>
            <a:ext cx="4663440" cy="256032"/>
          </a:xfrm>
          <a:prstGeom prst="rect">
            <a:avLst/>
          </a:prstGeom>
          <a:noFill/>
          <a:ln/>
        </p:spPr>
        <p:txBody>
          <a:bodyPr wrap="square" lIns="0" tIns="0" rIns="0" bIns="0" rtlCol="0" anchor="ctr"/>
          <a:lstStyle/>
          <a:p>
            <a:pPr indent="0" marL="0">
              <a:buNone/>
            </a:pPr>
            <a:r>
              <a:rPr lang="en-US" sz="950" i="1" dirty="0">
                <a:solidFill>
                  <a:srgbClr val="6B7280"/>
                </a:solidFill>
                <a:latin typeface="Hiragino Sans" pitchFamily="34" charset="0"/>
                <a:ea typeface="Hiragino Sans" pitchFamily="34" charset="-122"/>
                <a:cs typeface="Hiragino Sans" pitchFamily="34" charset="-120"/>
              </a:rPr>
              <a:t>副業の可処分時間は月60〜90時間（朝1〜2h＋夜2〜3h）</a:t>
            </a:r>
            <a:endParaRPr lang="en-US" sz="950" dirty="0"/>
          </a:p>
        </p:txBody>
      </p:sp>
      <p:sp>
        <p:nvSpPr>
          <p:cNvPr id="22" name="Shape 20"/>
          <p:cNvSpPr/>
          <p:nvPr/>
        </p:nvSpPr>
        <p:spPr>
          <a:xfrm>
            <a:off x="5852160" y="1371600"/>
            <a:ext cx="2834640" cy="3154680"/>
          </a:xfrm>
          <a:prstGeom prst="rect">
            <a:avLst/>
          </a:prstGeom>
          <a:solidFill>
            <a:srgbClr val="1B2A41"/>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23" name="Text 21"/>
          <p:cNvSpPr/>
          <p:nvPr/>
        </p:nvSpPr>
        <p:spPr>
          <a:xfrm>
            <a:off x="6108192" y="1828800"/>
            <a:ext cx="2331720" cy="2560320"/>
          </a:xfrm>
          <a:prstGeom prst="rect">
            <a:avLst/>
          </a:prstGeom>
          <a:noFill/>
          <a:ln/>
        </p:spPr>
        <p:txBody>
          <a:bodyPr wrap="square" lIns="0" tIns="0" rIns="0" bIns="0" rtlCol="0" anchor="ctr"/>
          <a:lstStyle/>
          <a:p>
            <a:pPr indent="0" marL="0">
              <a:lnSpc>
                <a:spcPct val="120000"/>
              </a:lnSpc>
              <a:buNone/>
            </a:pPr>
            <a:r>
              <a:rPr lang="en-US" sz="1300" dirty="0">
                <a:solidFill>
                  <a:srgbClr val="C9D4E3"/>
                </a:solidFill>
                <a:latin typeface="Hiragino Sans" pitchFamily="34" charset="0"/>
                <a:ea typeface="Hiragino Sans" pitchFamily="34" charset="-122"/>
                <a:cs typeface="Hiragino Sans" pitchFamily="34" charset="-120"/>
              </a:rPr>
              <a:t>計</a:t>
            </a:r>
            <a:endParaRPr lang="en-US" sz="1300" dirty="0"/>
          </a:p>
          <a:p>
            <a:pPr indent="0" marL="0">
              <a:lnSpc>
                <a:spcPct val="120000"/>
              </a:lnSpc>
              <a:buNone/>
            </a:pPr>
            <a:r>
              <a:rPr lang="en-US" sz="3800" b="1" dirty="0">
                <a:solidFill>
                  <a:srgbClr val="F2B33D"/>
                </a:solidFill>
                <a:latin typeface="Hiragino Sans" pitchFamily="34" charset="0"/>
                <a:ea typeface="Hiragino Sans" pitchFamily="34" charset="-122"/>
                <a:cs typeface="Hiragino Sans" pitchFamily="34" charset="-120"/>
              </a:rPr>
              <a:t>51時間</a:t>
            </a:r>
            <a:endParaRPr lang="en-US" sz="1300" dirty="0"/>
          </a:p>
          <a:p>
            <a:pPr indent="0" marL="0">
              <a:lnSpc>
                <a:spcPct val="120000"/>
              </a:lnSpc>
              <a:spcAft>
                <a:spcPts val="1800"/>
              </a:spcAft>
              <a:buNone/>
            </a:pPr>
            <a:r>
              <a:rPr lang="en-US" sz="1200" dirty="0">
                <a:solidFill>
                  <a:srgbClr val="C9D4E3"/>
                </a:solidFill>
                <a:latin typeface="Hiragino Sans" pitchFamily="34" charset="0"/>
                <a:ea typeface="Hiragino Sans" pitchFamily="34" charset="-122"/>
                <a:cs typeface="Hiragino Sans" pitchFamily="34" charset="-120"/>
              </a:rPr>
              <a:t>を外注で創出可能</a:t>
            </a:r>
            <a:endParaRPr lang="en-US" sz="1300" dirty="0"/>
          </a:p>
          <a:p>
            <a:pPr indent="0" marL="0">
              <a:lnSpc>
                <a:spcPct val="120000"/>
              </a:lnSpc>
              <a:buNone/>
            </a:pPr>
            <a:r>
              <a:rPr lang="en-US" sz="1050" dirty="0">
                <a:solidFill>
                  <a:srgbClr val="C9D4E3"/>
                </a:solidFill>
                <a:latin typeface="Hiragino Sans" pitchFamily="34" charset="0"/>
                <a:ea typeface="Hiragino Sans" pitchFamily="34" charset="-122"/>
                <a:cs typeface="Hiragino Sans" pitchFamily="34" charset="-120"/>
              </a:rPr>
              <a:t>自分に残すのはメーカーとの関係構築だけ。そこが利益の源泉であり、外注もAIも代替できない部分。</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GROWTH 1 — 外注化</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梱包外注の具体策 — WAM NET（就労支援施設）</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17</a:t>
            </a:r>
            <a:endParaRPr lang="en-US" sz="900" dirty="0"/>
          </a:p>
        </p:txBody>
      </p:sp>
      <p:sp>
        <p:nvSpPr>
          <p:cNvPr id="7" name="Text 5"/>
          <p:cNvSpPr/>
          <p:nvPr/>
        </p:nvSpPr>
        <p:spPr>
          <a:xfrm>
            <a:off x="457200" y="1280160"/>
            <a:ext cx="8229600" cy="292608"/>
          </a:xfrm>
          <a:prstGeom prst="rect">
            <a:avLst/>
          </a:prstGeom>
          <a:noFill/>
          <a:ln/>
        </p:spPr>
        <p:txBody>
          <a:bodyPr wrap="square" lIns="0" tIns="0" rIns="0" bIns="0" rtlCol="0" anchor="ctr"/>
          <a:lstStyle/>
          <a:p>
            <a:pPr indent="0" marL="0">
              <a:buNone/>
            </a:pPr>
            <a:r>
              <a:rPr lang="en-US" sz="1150" b="1" dirty="0">
                <a:solidFill>
                  <a:srgbClr val="1B2A41"/>
                </a:solidFill>
                <a:latin typeface="Hiragino Sans" pitchFamily="34" charset="0"/>
                <a:ea typeface="Hiragino Sans" pitchFamily="34" charset="-122"/>
                <a:cs typeface="Hiragino Sans" pitchFamily="34" charset="-120"/>
              </a:rPr>
              <a:t>実践者の8〜9割が利用。</a:t>
            </a:r>
            <a:pPr indent="0" marL="0">
              <a:buNone/>
            </a:pPr>
            <a:r>
              <a:rPr lang="en-US" sz="1150" dirty="0">
                <a:solidFill>
                  <a:srgbClr val="23303F"/>
                </a:solidFill>
                <a:latin typeface="Hiragino Sans" pitchFamily="34" charset="0"/>
                <a:ea typeface="Hiragino Sans" pitchFamily="34" charset="-122"/>
                <a:cs typeface="Hiragino Sans" pitchFamily="34" charset="-120"/>
              </a:rPr>
              <a:t> 福祉医療機構のサイト（wam.go.jp）で自県の就労支援施設を検索できる。</a:t>
            </a:r>
            <a:endParaRPr lang="en-US" sz="1150" dirty="0"/>
          </a:p>
        </p:txBody>
      </p:sp>
      <p:sp>
        <p:nvSpPr>
          <p:cNvPr id="8" name="Shape 6"/>
          <p:cNvSpPr/>
          <p:nvPr/>
        </p:nvSpPr>
        <p:spPr>
          <a:xfrm>
            <a:off x="457200" y="1755648"/>
            <a:ext cx="2587752" cy="178308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9" name="Shape 7"/>
          <p:cNvSpPr/>
          <p:nvPr/>
        </p:nvSpPr>
        <p:spPr>
          <a:xfrm>
            <a:off x="658368" y="1938528"/>
            <a:ext cx="365760" cy="365760"/>
          </a:xfrm>
          <a:prstGeom prst="ellipse">
            <a:avLst/>
          </a:prstGeom>
          <a:solidFill>
            <a:srgbClr val="1B2A41"/>
          </a:solidFill>
          <a:ln/>
        </p:spPr>
      </p:sp>
      <p:sp>
        <p:nvSpPr>
          <p:cNvPr id="10" name="Text 8"/>
          <p:cNvSpPr/>
          <p:nvPr/>
        </p:nvSpPr>
        <p:spPr>
          <a:xfrm>
            <a:off x="658368" y="192481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1</a:t>
            </a:r>
            <a:endParaRPr lang="en-US" sz="1200" dirty="0"/>
          </a:p>
        </p:txBody>
      </p:sp>
      <p:sp>
        <p:nvSpPr>
          <p:cNvPr id="11" name="Text 9"/>
          <p:cNvSpPr/>
          <p:nvPr/>
        </p:nvSpPr>
        <p:spPr>
          <a:xfrm>
            <a:off x="1152144" y="1938528"/>
            <a:ext cx="1783080" cy="365760"/>
          </a:xfrm>
          <a:prstGeom prst="rect">
            <a:avLst/>
          </a:prstGeom>
          <a:noFill/>
          <a:ln/>
        </p:spPr>
        <p:txBody>
          <a:bodyPr wrap="square" lIns="0" tIns="0" rIns="0" bIns="0" rtlCol="0" anchor="ctr"/>
          <a:lstStyle/>
          <a:p>
            <a:pPr indent="0" marL="0">
              <a:buNone/>
            </a:pPr>
            <a:r>
              <a:rPr lang="en-US" sz="1300" b="1" dirty="0">
                <a:solidFill>
                  <a:srgbClr val="1B2A41"/>
                </a:solidFill>
                <a:latin typeface="Hiragino Sans" pitchFamily="34" charset="0"/>
                <a:ea typeface="Hiragino Sans" pitchFamily="34" charset="-122"/>
                <a:cs typeface="Hiragino Sans" pitchFamily="34" charset="-120"/>
              </a:rPr>
              <a:t>検索・アポ</a:t>
            </a:r>
            <a:endParaRPr lang="en-US" sz="1300" dirty="0"/>
          </a:p>
        </p:txBody>
      </p:sp>
      <p:sp>
        <p:nvSpPr>
          <p:cNvPr id="12" name="Text 10"/>
          <p:cNvSpPr/>
          <p:nvPr/>
        </p:nvSpPr>
        <p:spPr>
          <a:xfrm>
            <a:off x="658368" y="2450592"/>
            <a:ext cx="2194560" cy="960120"/>
          </a:xfrm>
          <a:prstGeom prst="rect">
            <a:avLst/>
          </a:prstGeom>
          <a:noFill/>
          <a:ln/>
        </p:spPr>
        <p:txBody>
          <a:bodyPr wrap="square" lIns="0" tIns="0" rIns="0" bIns="0" rtlCol="0" anchor="ctr"/>
          <a:lstStyle/>
          <a:p>
            <a:pPr indent="0" marL="0">
              <a:lnSpc>
                <a:spcPct val="118000"/>
              </a:lnSpc>
              <a:buNone/>
            </a:pPr>
            <a:r>
              <a:rPr lang="en-US" sz="1000" dirty="0">
                <a:solidFill>
                  <a:srgbClr val="23303F"/>
                </a:solidFill>
                <a:latin typeface="Hiragino Sans" pitchFamily="34" charset="0"/>
                <a:ea typeface="Hiragino Sans" pitchFamily="34" charset="-122"/>
                <a:cs typeface="Hiragino Sans" pitchFamily="34" charset="-120"/>
              </a:rPr>
              <a:t>WAM NETで自県の施設を検索 → 作業可否を確認しアポ。A型・B型の両方に話を聞く</a:t>
            </a:r>
            <a:endParaRPr lang="en-US" sz="1000" dirty="0"/>
          </a:p>
        </p:txBody>
      </p:sp>
      <p:sp>
        <p:nvSpPr>
          <p:cNvPr id="13" name="Shape 11"/>
          <p:cNvSpPr/>
          <p:nvPr/>
        </p:nvSpPr>
        <p:spPr>
          <a:xfrm>
            <a:off x="3264408" y="1755648"/>
            <a:ext cx="2587752" cy="178308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14" name="Shape 12"/>
          <p:cNvSpPr/>
          <p:nvPr/>
        </p:nvSpPr>
        <p:spPr>
          <a:xfrm>
            <a:off x="3465576" y="1938528"/>
            <a:ext cx="365760" cy="365760"/>
          </a:xfrm>
          <a:prstGeom prst="ellipse">
            <a:avLst/>
          </a:prstGeom>
          <a:solidFill>
            <a:srgbClr val="1B2A41"/>
          </a:solidFill>
          <a:ln/>
        </p:spPr>
      </p:sp>
      <p:sp>
        <p:nvSpPr>
          <p:cNvPr id="15" name="Text 13"/>
          <p:cNvSpPr/>
          <p:nvPr/>
        </p:nvSpPr>
        <p:spPr>
          <a:xfrm>
            <a:off x="3465576" y="192481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2</a:t>
            </a:r>
            <a:endParaRPr lang="en-US" sz="1200" dirty="0"/>
          </a:p>
        </p:txBody>
      </p:sp>
      <p:sp>
        <p:nvSpPr>
          <p:cNvPr id="16" name="Text 14"/>
          <p:cNvSpPr/>
          <p:nvPr/>
        </p:nvSpPr>
        <p:spPr>
          <a:xfrm>
            <a:off x="3959352" y="1938528"/>
            <a:ext cx="1783080" cy="365760"/>
          </a:xfrm>
          <a:prstGeom prst="rect">
            <a:avLst/>
          </a:prstGeom>
          <a:noFill/>
          <a:ln/>
        </p:spPr>
        <p:txBody>
          <a:bodyPr wrap="square" lIns="0" tIns="0" rIns="0" bIns="0" rtlCol="0" anchor="ctr"/>
          <a:lstStyle/>
          <a:p>
            <a:pPr indent="0" marL="0">
              <a:buNone/>
            </a:pPr>
            <a:r>
              <a:rPr lang="en-US" sz="1300" b="1" dirty="0">
                <a:solidFill>
                  <a:srgbClr val="1B2A41"/>
                </a:solidFill>
                <a:latin typeface="Hiragino Sans" pitchFamily="34" charset="0"/>
                <a:ea typeface="Hiragino Sans" pitchFamily="34" charset="-122"/>
                <a:cs typeface="Hiragino Sans" pitchFamily="34" charset="-120"/>
              </a:rPr>
              <a:t>訪問・説明</a:t>
            </a:r>
            <a:endParaRPr lang="en-US" sz="1300" dirty="0"/>
          </a:p>
        </p:txBody>
      </p:sp>
      <p:sp>
        <p:nvSpPr>
          <p:cNvPr id="17" name="Text 15"/>
          <p:cNvSpPr/>
          <p:nvPr/>
        </p:nvSpPr>
        <p:spPr>
          <a:xfrm>
            <a:off x="3465576" y="2450592"/>
            <a:ext cx="2194560" cy="960120"/>
          </a:xfrm>
          <a:prstGeom prst="rect">
            <a:avLst/>
          </a:prstGeom>
          <a:noFill/>
          <a:ln/>
        </p:spPr>
        <p:txBody>
          <a:bodyPr wrap="square" lIns="0" tIns="0" rIns="0" bIns="0" rtlCol="0" anchor="ctr"/>
          <a:lstStyle/>
          <a:p>
            <a:pPr indent="0" marL="0">
              <a:lnSpc>
                <a:spcPct val="118000"/>
              </a:lnSpc>
              <a:buNone/>
            </a:pPr>
            <a:r>
              <a:rPr lang="en-US" sz="1000" dirty="0">
                <a:solidFill>
                  <a:srgbClr val="23303F"/>
                </a:solidFill>
                <a:latin typeface="Hiragino Sans" pitchFamily="34" charset="0"/>
                <a:ea typeface="Hiragino Sans" pitchFamily="34" charset="-122"/>
                <a:cs typeface="Hiragino Sans" pitchFamily="34" charset="-120"/>
              </a:rPr>
              <a:t>受取・保管・梱包・ラベル貼り・引き渡しの流れを説明</a:t>
            </a:r>
            <a:endParaRPr lang="en-US" sz="1000" dirty="0"/>
          </a:p>
        </p:txBody>
      </p:sp>
      <p:sp>
        <p:nvSpPr>
          <p:cNvPr id="18" name="Shape 16"/>
          <p:cNvSpPr/>
          <p:nvPr/>
        </p:nvSpPr>
        <p:spPr>
          <a:xfrm>
            <a:off x="6071616" y="1755648"/>
            <a:ext cx="2587752" cy="178308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19" name="Shape 17"/>
          <p:cNvSpPr/>
          <p:nvPr/>
        </p:nvSpPr>
        <p:spPr>
          <a:xfrm>
            <a:off x="6272784" y="1938528"/>
            <a:ext cx="365760" cy="365760"/>
          </a:xfrm>
          <a:prstGeom prst="ellipse">
            <a:avLst/>
          </a:prstGeom>
          <a:solidFill>
            <a:srgbClr val="1B2A41"/>
          </a:solidFill>
          <a:ln/>
        </p:spPr>
      </p:sp>
      <p:sp>
        <p:nvSpPr>
          <p:cNvPr id="20" name="Text 18"/>
          <p:cNvSpPr/>
          <p:nvPr/>
        </p:nvSpPr>
        <p:spPr>
          <a:xfrm>
            <a:off x="6272784" y="192481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3</a:t>
            </a:r>
            <a:endParaRPr lang="en-US" sz="1200" dirty="0"/>
          </a:p>
        </p:txBody>
      </p:sp>
      <p:sp>
        <p:nvSpPr>
          <p:cNvPr id="21" name="Text 19"/>
          <p:cNvSpPr/>
          <p:nvPr/>
        </p:nvSpPr>
        <p:spPr>
          <a:xfrm>
            <a:off x="6766560" y="1938528"/>
            <a:ext cx="1783080" cy="365760"/>
          </a:xfrm>
          <a:prstGeom prst="rect">
            <a:avLst/>
          </a:prstGeom>
          <a:noFill/>
          <a:ln/>
        </p:spPr>
        <p:txBody>
          <a:bodyPr wrap="square" lIns="0" tIns="0" rIns="0" bIns="0" rtlCol="0" anchor="ctr"/>
          <a:lstStyle/>
          <a:p>
            <a:pPr indent="0" marL="0">
              <a:buNone/>
            </a:pPr>
            <a:r>
              <a:rPr lang="en-US" sz="1300" b="1" dirty="0">
                <a:solidFill>
                  <a:srgbClr val="1B2A41"/>
                </a:solidFill>
                <a:latin typeface="Hiragino Sans" pitchFamily="34" charset="0"/>
                <a:ea typeface="Hiragino Sans" pitchFamily="34" charset="-122"/>
                <a:cs typeface="Hiragino Sans" pitchFamily="34" charset="-120"/>
              </a:rPr>
              <a:t>1ヶ月テスト</a:t>
            </a:r>
            <a:endParaRPr lang="en-US" sz="1300" dirty="0"/>
          </a:p>
        </p:txBody>
      </p:sp>
      <p:sp>
        <p:nvSpPr>
          <p:cNvPr id="22" name="Text 20"/>
          <p:cNvSpPr/>
          <p:nvPr/>
        </p:nvSpPr>
        <p:spPr>
          <a:xfrm>
            <a:off x="6272784" y="2450592"/>
            <a:ext cx="2194560" cy="960120"/>
          </a:xfrm>
          <a:prstGeom prst="rect">
            <a:avLst/>
          </a:prstGeom>
          <a:noFill/>
          <a:ln/>
        </p:spPr>
        <p:txBody>
          <a:bodyPr wrap="square" lIns="0" tIns="0" rIns="0" bIns="0" rtlCol="0" anchor="ctr"/>
          <a:lstStyle/>
          <a:p>
            <a:pPr indent="0" marL="0">
              <a:lnSpc>
                <a:spcPct val="118000"/>
              </a:lnSpc>
              <a:buNone/>
            </a:pPr>
            <a:r>
              <a:rPr lang="en-US" sz="1000" dirty="0">
                <a:solidFill>
                  <a:srgbClr val="23303F"/>
                </a:solidFill>
                <a:latin typeface="Hiragino Sans" pitchFamily="34" charset="0"/>
                <a:ea typeface="Hiragino Sans" pitchFamily="34" charset="-122"/>
                <a:cs typeface="Hiragino Sans" pitchFamily="34" charset="-120"/>
              </a:rPr>
              <a:t>テスト梱包で品質・スピード・ミス頻度を確認してから本委託</a:t>
            </a:r>
            <a:endParaRPr lang="en-US" sz="1000" dirty="0"/>
          </a:p>
        </p:txBody>
      </p:sp>
      <p:sp>
        <p:nvSpPr>
          <p:cNvPr id="23" name="Shape 21"/>
          <p:cNvSpPr/>
          <p:nvPr/>
        </p:nvSpPr>
        <p:spPr>
          <a:xfrm>
            <a:off x="457200" y="3794760"/>
            <a:ext cx="5120640" cy="777240"/>
          </a:xfrm>
          <a:prstGeom prst="rect">
            <a:avLst/>
          </a:prstGeom>
          <a:solidFill>
            <a:srgbClr val="1B2A41"/>
          </a:solidFill>
          <a:ln/>
          <a:effectLst>
            <a:outerShdw sx="100000" sy="100000" kx="0" ky="0" algn="bl" rotWithShape="0" blurRad="88900" dist="25400" dir="8100000">
              <a:srgbClr val="1B2A41">
                <a:alpha val="14000"/>
              </a:srgbClr>
            </a:outerShdw>
          </a:effectLst>
        </p:spPr>
      </p:sp>
      <p:sp>
        <p:nvSpPr>
          <p:cNvPr id="24" name="Text 22"/>
          <p:cNvSpPr/>
          <p:nvPr/>
        </p:nvSpPr>
        <p:spPr>
          <a:xfrm>
            <a:off x="685800" y="3794760"/>
            <a:ext cx="4663440" cy="777240"/>
          </a:xfrm>
          <a:prstGeom prst="rect">
            <a:avLst/>
          </a:prstGeom>
          <a:noFill/>
          <a:ln/>
        </p:spPr>
        <p:txBody>
          <a:bodyPr wrap="square" lIns="0" tIns="0" rIns="0" bIns="0" rtlCol="0" anchor="ctr"/>
          <a:lstStyle/>
          <a:p>
            <a:pPr indent="0" marL="0">
              <a:buNone/>
            </a:pPr>
            <a:r>
              <a:rPr lang="en-US" sz="1300" dirty="0">
                <a:solidFill>
                  <a:srgbClr val="C9D4E3"/>
                </a:solidFill>
                <a:latin typeface="Hiragino Sans" pitchFamily="34" charset="0"/>
                <a:ea typeface="Hiragino Sans" pitchFamily="34" charset="-122"/>
                <a:cs typeface="Hiragino Sans" pitchFamily="34" charset="-120"/>
              </a:rPr>
              <a:t>費用は1商品 </a:t>
            </a:r>
            <a:pPr indent="0" marL="0">
              <a:buNone/>
            </a:pPr>
            <a:r>
              <a:rPr lang="en-US" sz="2000" b="1" dirty="0">
                <a:solidFill>
                  <a:srgbClr val="F2B33D"/>
                </a:solidFill>
                <a:latin typeface="Hiragino Sans" pitchFamily="34" charset="0"/>
                <a:ea typeface="Hiragino Sans" pitchFamily="34" charset="-122"/>
                <a:cs typeface="Hiragino Sans" pitchFamily="34" charset="-120"/>
              </a:rPr>
              <a:t>5〜10円</a:t>
            </a:r>
            <a:pPr indent="0" marL="0">
              <a:buNone/>
            </a:pPr>
            <a:r>
              <a:rPr lang="en-US" sz="1300" dirty="0">
                <a:solidFill>
                  <a:srgbClr val="C9D4E3"/>
                </a:solidFill>
                <a:latin typeface="Hiragino Sans" pitchFamily="34" charset="0"/>
                <a:ea typeface="Hiragino Sans" pitchFamily="34" charset="-122"/>
                <a:cs typeface="Hiragino Sans" pitchFamily="34" charset="-120"/>
              </a:rPr>
              <a:t> 程度</a:t>
            </a:r>
            <a:endParaRPr lang="en-US" sz="1300" dirty="0"/>
          </a:p>
        </p:txBody>
      </p:sp>
      <p:sp>
        <p:nvSpPr>
          <p:cNvPr id="25" name="Text 23"/>
          <p:cNvSpPr/>
          <p:nvPr/>
        </p:nvSpPr>
        <p:spPr>
          <a:xfrm>
            <a:off x="5806440" y="3794760"/>
            <a:ext cx="2880360" cy="777240"/>
          </a:xfrm>
          <a:prstGeom prst="rect">
            <a:avLst/>
          </a:prstGeom>
          <a:noFill/>
          <a:ln/>
        </p:spPr>
        <p:txBody>
          <a:bodyPr wrap="square" lIns="0" tIns="0" rIns="0" bIns="0" rtlCol="0" anchor="ctr"/>
          <a:lstStyle/>
          <a:p>
            <a:pPr indent="0" marL="0">
              <a:lnSpc>
                <a:spcPct val="115000"/>
              </a:lnSpc>
              <a:buNone/>
            </a:pPr>
            <a:r>
              <a:rPr lang="en-US" sz="950" dirty="0">
                <a:solidFill>
                  <a:srgbClr val="23303F"/>
                </a:solidFill>
                <a:latin typeface="Hiragino Sans" pitchFamily="34" charset="0"/>
                <a:ea typeface="Hiragino Sans" pitchFamily="34" charset="-122"/>
                <a:cs typeface="Hiragino Sans" pitchFamily="34" charset="-120"/>
              </a:rPr>
              <a:t>代行業者より圧倒的に安く、融通も利く。障害者の就労機会を作る社会貢献となり、その実績は金融機関からの信用にもつながる。</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GROWTH 2 — 融資</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資金量＝成長速度。目標到達を18ヶ月→9ヶ月に</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18</a:t>
            </a:r>
            <a:endParaRPr lang="en-US" sz="900" dirty="0"/>
          </a:p>
        </p:txBody>
      </p:sp>
      <p:sp>
        <p:nvSpPr>
          <p:cNvPr id="7" name="Shape 5"/>
          <p:cNvSpPr/>
          <p:nvPr/>
        </p:nvSpPr>
        <p:spPr>
          <a:xfrm>
            <a:off x="457200" y="1371600"/>
            <a:ext cx="3063240" cy="1554480"/>
          </a:xfrm>
          <a:prstGeom prst="rect">
            <a:avLst/>
          </a:prstGeom>
          <a:solidFill>
            <a:srgbClr val="1B2A41"/>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8" name="Text 6"/>
          <p:cNvSpPr/>
          <p:nvPr/>
        </p:nvSpPr>
        <p:spPr>
          <a:xfrm>
            <a:off x="713232" y="1572768"/>
            <a:ext cx="2606040" cy="1188720"/>
          </a:xfrm>
          <a:prstGeom prst="rect">
            <a:avLst/>
          </a:prstGeom>
          <a:noFill/>
          <a:ln/>
        </p:spPr>
        <p:txBody>
          <a:bodyPr wrap="square" lIns="0" tIns="0" rIns="0" bIns="0" rtlCol="0" anchor="ctr"/>
          <a:lstStyle/>
          <a:p>
            <a:pPr indent="0" marL="0">
              <a:spcAft>
                <a:spcPts val="400"/>
              </a:spcAft>
              <a:buNone/>
            </a:pPr>
            <a:r>
              <a:rPr lang="en-US" sz="1200" dirty="0">
                <a:solidFill>
                  <a:srgbClr val="C9D4E3"/>
                </a:solidFill>
                <a:latin typeface="Hiragino Sans" pitchFamily="34" charset="0"/>
                <a:ea typeface="Hiragino Sans" pitchFamily="34" charset="-122"/>
                <a:cs typeface="Hiragino Sans" pitchFamily="34" charset="-120"/>
              </a:rPr>
              <a:t>自己資金のみ 18ヶ月</a:t>
            </a:r>
            <a:endParaRPr lang="en-US" sz="1200" dirty="0"/>
          </a:p>
          <a:p>
            <a:pPr indent="0" marL="0">
              <a:spcAft>
                <a:spcPts val="400"/>
              </a:spcAft>
              <a:buNone/>
            </a:pPr>
            <a:r>
              <a:rPr lang="en-US" sz="1900" b="1" dirty="0">
                <a:solidFill>
                  <a:srgbClr val="F2B33D"/>
                </a:solidFill>
                <a:latin typeface="Hiragino Sans" pitchFamily="34" charset="0"/>
                <a:ea typeface="Hiragino Sans" pitchFamily="34" charset="-122"/>
                <a:cs typeface="Hiragino Sans" pitchFamily="34" charset="-120"/>
              </a:rPr>
              <a:t>融資活用 9ヶ月</a:t>
            </a:r>
            <a:endParaRPr lang="en-US" sz="1200" dirty="0"/>
          </a:p>
          <a:p>
            <a:pPr indent="0" marL="0">
              <a:buNone/>
            </a:pPr>
            <a:r>
              <a:rPr lang="en-US" sz="1050" dirty="0">
                <a:solidFill>
                  <a:srgbClr val="C9D4E3"/>
                </a:solidFill>
                <a:latin typeface="Hiragino Sans" pitchFamily="34" charset="0"/>
                <a:ea typeface="Hiragino Sans" pitchFamily="34" charset="-122"/>
                <a:cs typeface="Hiragino Sans" pitchFamily="34" charset="-120"/>
              </a:rPr>
              <a:t>到達期間が約半分に</a:t>
            </a:r>
            <a:endParaRPr lang="en-US" sz="1200" dirty="0"/>
          </a:p>
        </p:txBody>
      </p:sp>
      <p:sp>
        <p:nvSpPr>
          <p:cNvPr id="9" name="Shape 7"/>
          <p:cNvSpPr/>
          <p:nvPr/>
        </p:nvSpPr>
        <p:spPr>
          <a:xfrm>
            <a:off x="457200" y="3108960"/>
            <a:ext cx="3063240" cy="141732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10" name="Text 8"/>
          <p:cNvSpPr/>
          <p:nvPr/>
        </p:nvSpPr>
        <p:spPr>
          <a:xfrm>
            <a:off x="713232" y="3273552"/>
            <a:ext cx="2606040" cy="1097280"/>
          </a:xfrm>
          <a:prstGeom prst="rect">
            <a:avLst/>
          </a:prstGeom>
          <a:noFill/>
          <a:ln/>
        </p:spPr>
        <p:txBody>
          <a:bodyPr wrap="square" lIns="0" tIns="0" rIns="0" bIns="0" rtlCol="0" anchor="ctr"/>
          <a:lstStyle/>
          <a:p>
            <a:pPr indent="0" marL="0">
              <a:spcAft>
                <a:spcPts val="400"/>
              </a:spcAft>
              <a:buNone/>
            </a:pPr>
            <a:r>
              <a:rPr lang="en-US" sz="1200" b="1" dirty="0">
                <a:solidFill>
                  <a:srgbClr val="1B2A41"/>
                </a:solidFill>
                <a:latin typeface="Hiragino Sans" pitchFamily="34" charset="0"/>
                <a:ea typeface="Hiragino Sans" pitchFamily="34" charset="-122"/>
                <a:cs typeface="Hiragino Sans" pitchFamily="34" charset="-120"/>
              </a:rPr>
              <a:t>ルートは2つ</a:t>
            </a:r>
            <a:endParaRPr lang="en-US" sz="1200" dirty="0"/>
          </a:p>
          <a:p>
            <a:pPr indent="0" marL="0">
              <a:spcAft>
                <a:spcPts val="300"/>
              </a:spcAft>
              <a:buNone/>
            </a:pPr>
            <a:r>
              <a:rPr lang="en-US" sz="1100" dirty="0">
                <a:solidFill>
                  <a:srgbClr val="23303F"/>
                </a:solidFill>
                <a:latin typeface="Hiragino Sans" pitchFamily="34" charset="0"/>
                <a:ea typeface="Hiragino Sans" pitchFamily="34" charset="-122"/>
                <a:cs typeface="Hiragino Sans" pitchFamily="34" charset="-120"/>
              </a:rPr>
              <a:t>① 日本政策金融公庫</a:t>
            </a:r>
            <a:endParaRPr lang="en-US" sz="1200" dirty="0"/>
          </a:p>
          <a:p>
            <a:pPr indent="0" marL="0">
              <a:buNone/>
            </a:pPr>
            <a:r>
              <a:rPr lang="en-US" sz="1100" dirty="0">
                <a:solidFill>
                  <a:srgbClr val="23303F"/>
                </a:solidFill>
                <a:latin typeface="Hiragino Sans" pitchFamily="34" charset="0"/>
                <a:ea typeface="Hiragino Sans" pitchFamily="34" charset="-122"/>
                <a:cs typeface="Hiragino Sans" pitchFamily="34" charset="-120"/>
              </a:rPr>
              <a:t>② 信用金庫＋信用保証協会</a:t>
            </a:r>
            <a:endParaRPr lang="en-US" sz="1200" dirty="0"/>
          </a:p>
        </p:txBody>
      </p:sp>
      <p:sp>
        <p:nvSpPr>
          <p:cNvPr id="11" name="Shape 9"/>
          <p:cNvSpPr/>
          <p:nvPr/>
        </p:nvSpPr>
        <p:spPr>
          <a:xfrm>
            <a:off x="3794760" y="1371600"/>
            <a:ext cx="4892040" cy="1554480"/>
          </a:xfrm>
          <a:prstGeom prst="rect">
            <a:avLst/>
          </a:prstGeom>
          <a:solidFill>
            <a:srgbClr val="FBEEDC"/>
          </a:solidFill>
          <a:ln w="19050">
            <a:solidFill>
              <a:srgbClr val="D98E04"/>
            </a:solidFill>
            <a:prstDash val="solid"/>
          </a:ln>
        </p:spPr>
      </p:sp>
      <p:sp>
        <p:nvSpPr>
          <p:cNvPr id="12" name="Text 10"/>
          <p:cNvSpPr/>
          <p:nvPr/>
        </p:nvSpPr>
        <p:spPr>
          <a:xfrm>
            <a:off x="4041648" y="1536192"/>
            <a:ext cx="4434840" cy="1234440"/>
          </a:xfrm>
          <a:prstGeom prst="rect">
            <a:avLst/>
          </a:prstGeom>
          <a:noFill/>
          <a:ln/>
        </p:spPr>
        <p:txBody>
          <a:bodyPr wrap="square" lIns="0" tIns="0" rIns="0" bIns="0" rtlCol="0" anchor="ctr"/>
          <a:lstStyle/>
          <a:p>
            <a:pPr indent="0" marL="0">
              <a:lnSpc>
                <a:spcPct val="120000"/>
              </a:lnSpc>
              <a:spcAft>
                <a:spcPts val="500"/>
              </a:spcAft>
              <a:buNone/>
            </a:pPr>
            <a:r>
              <a:rPr lang="en-US" sz="1400" b="1" dirty="0">
                <a:solidFill>
                  <a:srgbClr val="A85B00"/>
                </a:solidFill>
                <a:latin typeface="Hiragino Sans" pitchFamily="34" charset="0"/>
                <a:ea typeface="Hiragino Sans" pitchFamily="34" charset="-122"/>
                <a:cs typeface="Hiragino Sans" pitchFamily="34" charset="-120"/>
              </a:rPr>
              <a:t>鉄則：売上100万円の実績を作ってから申請する</a:t>
            </a:r>
            <a:endParaRPr lang="en-US" sz="1400" dirty="0"/>
          </a:p>
          <a:p>
            <a:pPr indent="0" marL="0">
              <a:lnSpc>
                <a:spcPct val="120000"/>
              </a:lnSpc>
              <a:buNone/>
            </a:pPr>
            <a:r>
              <a:rPr lang="en-US" sz="1100" dirty="0">
                <a:solidFill>
                  <a:srgbClr val="23303F"/>
                </a:solidFill>
                <a:latin typeface="Hiragino Sans" pitchFamily="34" charset="0"/>
                <a:ea typeface="Hiragino Sans" pitchFamily="34" charset="-122"/>
                <a:cs typeface="Hiragino Sans" pitchFamily="34" charset="-120"/>
              </a:rPr>
              <a:t>実績ゼロ → 50〜100万円止まり</a:t>
            </a:r>
            <a:endParaRPr lang="en-US" sz="1400" dirty="0"/>
          </a:p>
          <a:p>
            <a:pPr indent="0" marL="0">
              <a:lnSpc>
                <a:spcPct val="120000"/>
              </a:lnSpc>
              <a:buNone/>
            </a:pPr>
            <a:r>
              <a:rPr lang="en-US" sz="1100" dirty="0">
                <a:solidFill>
                  <a:srgbClr val="23303F"/>
                </a:solidFill>
                <a:latin typeface="Hiragino Sans" pitchFamily="34" charset="0"/>
                <a:ea typeface="Hiragino Sans" pitchFamily="34" charset="-122"/>
                <a:cs typeface="Hiragino Sans" pitchFamily="34" charset="-120"/>
              </a:rPr>
              <a:t>実績あり → 売上の2〜3倍（200〜300万円）が目安</a:t>
            </a:r>
            <a:endParaRPr lang="en-US" sz="1400" dirty="0"/>
          </a:p>
        </p:txBody>
      </p:sp>
      <p:sp>
        <p:nvSpPr>
          <p:cNvPr id="13" name="Shape 11"/>
          <p:cNvSpPr/>
          <p:nvPr/>
        </p:nvSpPr>
        <p:spPr>
          <a:xfrm>
            <a:off x="3794760" y="3108960"/>
            <a:ext cx="4892040" cy="141732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14" name="Text 12"/>
          <p:cNvSpPr/>
          <p:nvPr/>
        </p:nvSpPr>
        <p:spPr>
          <a:xfrm>
            <a:off x="4041648" y="3246120"/>
            <a:ext cx="4389120" cy="274320"/>
          </a:xfrm>
          <a:prstGeom prst="rect">
            <a:avLst/>
          </a:prstGeom>
          <a:noFill/>
          <a:ln/>
        </p:spPr>
        <p:txBody>
          <a:bodyPr wrap="square" lIns="0" tIns="0" rIns="0" bIns="0" rtlCol="0" anchor="ctr"/>
          <a:lstStyle/>
          <a:p>
            <a:pPr indent="0" marL="0">
              <a:buNone/>
            </a:pPr>
            <a:r>
              <a:rPr lang="en-US" sz="1200" b="1" dirty="0">
                <a:solidFill>
                  <a:srgbClr val="1B2A41"/>
                </a:solidFill>
                <a:latin typeface="Hiragino Sans" pitchFamily="34" charset="0"/>
                <a:ea typeface="Hiragino Sans" pitchFamily="34" charset="-122"/>
                <a:cs typeface="Hiragino Sans" pitchFamily="34" charset="-120"/>
              </a:rPr>
              <a:t>積み上げ例</a:t>
            </a:r>
            <a:endParaRPr lang="en-US" sz="1200" dirty="0"/>
          </a:p>
        </p:txBody>
      </p:sp>
      <p:sp>
        <p:nvSpPr>
          <p:cNvPr id="15" name="Text 13"/>
          <p:cNvSpPr/>
          <p:nvPr/>
        </p:nvSpPr>
        <p:spPr>
          <a:xfrm>
            <a:off x="4041648" y="3584448"/>
            <a:ext cx="4480560" cy="658368"/>
          </a:xfrm>
          <a:prstGeom prst="rect">
            <a:avLst/>
          </a:prstGeom>
          <a:noFill/>
          <a:ln/>
        </p:spPr>
        <p:txBody>
          <a:bodyPr wrap="square" lIns="0" tIns="0" rIns="0" bIns="0" rtlCol="0" anchor="ctr"/>
          <a:lstStyle/>
          <a:p>
            <a:pPr indent="0" marL="0">
              <a:lnSpc>
                <a:spcPct val="130000"/>
              </a:lnSpc>
              <a:buNone/>
            </a:pPr>
            <a:r>
              <a:rPr lang="en-US" sz="1050" dirty="0">
                <a:solidFill>
                  <a:srgbClr val="23303F"/>
                </a:solidFill>
                <a:latin typeface="Hiragino Sans" pitchFamily="34" charset="0"/>
                <a:ea typeface="Hiragino Sans" pitchFamily="34" charset="-122"/>
                <a:cs typeface="Hiragino Sans" pitchFamily="34" charset="-120"/>
              </a:rPr>
              <a:t>自己資金＋融資400万 </a:t>
            </a:r>
            <a:pPr indent="0" marL="0">
              <a:lnSpc>
                <a:spcPct val="130000"/>
              </a:lnSpc>
              <a:buNone/>
            </a:pPr>
            <a:r>
              <a:rPr lang="en-US" sz="1050" b="1" dirty="0">
                <a:solidFill>
                  <a:srgbClr val="D98E04"/>
                </a:solidFill>
                <a:latin typeface="Hiragino Sans" pitchFamily="34" charset="0"/>
                <a:ea typeface="Hiragino Sans" pitchFamily="34" charset="-122"/>
                <a:cs typeface="Hiragino Sans" pitchFamily="34" charset="-120"/>
              </a:rPr>
              <a:t>→</a:t>
            </a:r>
            <a:pPr indent="0" marL="0">
              <a:lnSpc>
                <a:spcPct val="130000"/>
              </a:lnSpc>
              <a:buNone/>
            </a:pPr>
            <a:r>
              <a:rPr lang="en-US" sz="1050" dirty="0">
                <a:solidFill>
                  <a:srgbClr val="23303F"/>
                </a:solidFill>
                <a:latin typeface="Hiragino Sans" pitchFamily="34" charset="0"/>
                <a:ea typeface="Hiragino Sans" pitchFamily="34" charset="-122"/>
                <a:cs typeface="Hiragino Sans" pitchFamily="34" charset="-120"/>
              </a:rPr>
              <a:t> 売上400万 </a:t>
            </a:r>
            <a:pPr indent="0" marL="0">
              <a:lnSpc>
                <a:spcPct val="130000"/>
              </a:lnSpc>
              <a:buNone/>
            </a:pPr>
            <a:r>
              <a:rPr lang="en-US" sz="1050" b="1" dirty="0">
                <a:solidFill>
                  <a:srgbClr val="D98E04"/>
                </a:solidFill>
                <a:latin typeface="Hiragino Sans" pitchFamily="34" charset="0"/>
                <a:ea typeface="Hiragino Sans" pitchFamily="34" charset="-122"/>
                <a:cs typeface="Hiragino Sans" pitchFamily="34" charset="-120"/>
              </a:rPr>
              <a:t>→</a:t>
            </a:r>
            <a:pPr indent="0" marL="0">
              <a:lnSpc>
                <a:spcPct val="130000"/>
              </a:lnSpc>
              <a:buNone/>
            </a:pPr>
            <a:r>
              <a:rPr lang="en-US" sz="1050" dirty="0">
                <a:solidFill>
                  <a:srgbClr val="23303F"/>
                </a:solidFill>
                <a:latin typeface="Hiragino Sans" pitchFamily="34" charset="0"/>
                <a:ea typeface="Hiragino Sans" pitchFamily="34" charset="-122"/>
                <a:cs typeface="Hiragino Sans" pitchFamily="34" charset="-120"/>
              </a:rPr>
              <a:t> 追加融資500〜600万</a:t>
            </a:r>
            <a:endParaRPr lang="en-US" sz="1050" dirty="0"/>
          </a:p>
          <a:p>
            <a:pPr indent="0" marL="0">
              <a:lnSpc>
                <a:spcPct val="130000"/>
              </a:lnSpc>
              <a:buNone/>
            </a:pPr>
            <a:r>
              <a:rPr lang="en-US" sz="1050" b="1" dirty="0">
                <a:solidFill>
                  <a:srgbClr val="D98E04"/>
                </a:solidFill>
                <a:latin typeface="Hiragino Sans" pitchFamily="34" charset="0"/>
                <a:ea typeface="Hiragino Sans" pitchFamily="34" charset="-122"/>
                <a:cs typeface="Hiragino Sans" pitchFamily="34" charset="-120"/>
              </a:rPr>
              <a:t>→ </a:t>
            </a:r>
            <a:pPr indent="0" marL="0">
              <a:lnSpc>
                <a:spcPct val="130000"/>
              </a:lnSpc>
              <a:buNone/>
            </a:pPr>
            <a:r>
              <a:rPr lang="en-US" sz="1050" b="1" dirty="0">
                <a:solidFill>
                  <a:srgbClr val="D98E04"/>
                </a:solidFill>
                <a:latin typeface="Hiragino Sans" pitchFamily="34" charset="0"/>
                <a:ea typeface="Hiragino Sans" pitchFamily="34" charset="-122"/>
                <a:cs typeface="Hiragino Sans" pitchFamily="34" charset="-120"/>
              </a:rPr>
              <a:t>月利100万円の土台（計800〜900万）</a:t>
            </a:r>
            <a:endParaRPr lang="en-US" sz="1050" dirty="0"/>
          </a:p>
        </p:txBody>
      </p:sp>
      <p:sp>
        <p:nvSpPr>
          <p:cNvPr id="16" name="Text 14"/>
          <p:cNvSpPr/>
          <p:nvPr/>
        </p:nvSpPr>
        <p:spPr>
          <a:xfrm>
            <a:off x="4041648" y="4261104"/>
            <a:ext cx="4480560" cy="237744"/>
          </a:xfrm>
          <a:prstGeom prst="rect">
            <a:avLst/>
          </a:prstGeom>
          <a:noFill/>
          <a:ln/>
        </p:spPr>
        <p:txBody>
          <a:bodyPr wrap="square" lIns="0" tIns="0" rIns="0" bIns="0" rtlCol="0" anchor="ctr"/>
          <a:lstStyle/>
          <a:p>
            <a:pPr indent="0" marL="0">
              <a:buNone/>
            </a:pPr>
            <a:r>
              <a:rPr lang="en-US" sz="900" i="1" dirty="0">
                <a:solidFill>
                  <a:srgbClr val="6B7280"/>
                </a:solidFill>
                <a:latin typeface="Hiragino Sans" pitchFamily="34" charset="0"/>
                <a:ea typeface="Hiragino Sans" pitchFamily="34" charset="-122"/>
                <a:cs typeface="Hiragino Sans" pitchFamily="34" charset="-120"/>
              </a:rPr>
              <a:t>流れ：売上実績 → 事業計画書・試算表 → 面談 → 実行</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GROWTH 3 — 限定化・独占</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利益を守る最終形</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19</a:t>
            </a:r>
            <a:endParaRPr lang="en-US" sz="900" dirty="0"/>
          </a:p>
        </p:txBody>
      </p:sp>
      <p:sp>
        <p:nvSpPr>
          <p:cNvPr id="7" name="Text 5"/>
          <p:cNvSpPr/>
          <p:nvPr/>
        </p:nvSpPr>
        <p:spPr>
          <a:xfrm>
            <a:off x="457200" y="1280160"/>
            <a:ext cx="8229600" cy="566928"/>
          </a:xfrm>
          <a:prstGeom prst="rect">
            <a:avLst/>
          </a:prstGeom>
          <a:noFill/>
          <a:ln/>
        </p:spPr>
        <p:txBody>
          <a:bodyPr wrap="square" lIns="0" tIns="0" rIns="0" bIns="0" rtlCol="0" anchor="ctr"/>
          <a:lstStyle/>
          <a:p>
            <a:pPr indent="0" marL="0">
              <a:lnSpc>
                <a:spcPct val="125000"/>
              </a:lnSpc>
              <a:buNone/>
            </a:pPr>
            <a:r>
              <a:rPr lang="en-US" sz="1150" b="1" dirty="0">
                <a:solidFill>
                  <a:srgbClr val="1B2A41"/>
                </a:solidFill>
                <a:latin typeface="Hiragino Sans" pitchFamily="34" charset="0"/>
                <a:ea typeface="Hiragino Sans" pitchFamily="34" charset="-122"/>
                <a:cs typeface="Hiragino Sans" pitchFamily="34" charset="-120"/>
              </a:rPr>
              <a:t>限定化</a:t>
            </a:r>
            <a:pPr indent="0" marL="0">
              <a:lnSpc>
                <a:spcPct val="125000"/>
              </a:lnSpc>
              <a:buNone/>
            </a:pPr>
            <a:r>
              <a:rPr lang="en-US" sz="1150" dirty="0">
                <a:solidFill>
                  <a:srgbClr val="23303F"/>
                </a:solidFill>
                <a:latin typeface="Hiragino Sans" pitchFamily="34" charset="0"/>
                <a:ea typeface="Hiragino Sans" pitchFamily="34" charset="-122"/>
                <a:cs typeface="Hiragino Sans" pitchFamily="34" charset="-120"/>
              </a:rPr>
              <a:t> ＝ メーカーが卸先を制限 → セラーが増えない → 値崩れしない</a:t>
            </a:r>
            <a:endParaRPr lang="en-US" sz="1150" dirty="0"/>
          </a:p>
          <a:p>
            <a:pPr indent="0" marL="0">
              <a:lnSpc>
                <a:spcPct val="125000"/>
              </a:lnSpc>
              <a:buNone/>
            </a:pPr>
            <a:r>
              <a:rPr lang="en-US" sz="1150" b="1" dirty="0">
                <a:solidFill>
                  <a:srgbClr val="D98E04"/>
                </a:solidFill>
                <a:latin typeface="Hiragino Sans" pitchFamily="34" charset="0"/>
                <a:ea typeface="Hiragino Sans" pitchFamily="34" charset="-122"/>
                <a:cs typeface="Hiragino Sans" pitchFamily="34" charset="-120"/>
              </a:rPr>
              <a:t>独占</a:t>
            </a:r>
            <a:pPr indent="0" marL="0">
              <a:lnSpc>
                <a:spcPct val="125000"/>
              </a:lnSpc>
              <a:buNone/>
            </a:pPr>
            <a:r>
              <a:rPr lang="en-US" sz="1150" dirty="0">
                <a:solidFill>
                  <a:srgbClr val="23303F"/>
                </a:solidFill>
                <a:latin typeface="Hiragino Sans" pitchFamily="34" charset="0"/>
                <a:ea typeface="Hiragino Sans" pitchFamily="34" charset="-122"/>
                <a:cs typeface="Hiragino Sans" pitchFamily="34" charset="-120"/>
              </a:rPr>
              <a:t> ＝ 販売者が自分だけの状態。5社→1社なら利益5倍の可能性</a:t>
            </a:r>
            <a:endParaRPr lang="en-US" sz="1150" dirty="0"/>
          </a:p>
        </p:txBody>
      </p:sp>
      <p:sp>
        <p:nvSpPr>
          <p:cNvPr id="8" name="Shape 6"/>
          <p:cNvSpPr/>
          <p:nvPr/>
        </p:nvSpPr>
        <p:spPr>
          <a:xfrm>
            <a:off x="457200" y="1920240"/>
            <a:ext cx="8229600" cy="502920"/>
          </a:xfrm>
          <a:prstGeom prst="rect">
            <a:avLst/>
          </a:prstGeom>
          <a:solidFill>
            <a:srgbClr val="1B2A41"/>
          </a:solidFill>
          <a:ln/>
        </p:spPr>
      </p:sp>
      <p:sp>
        <p:nvSpPr>
          <p:cNvPr id="9" name="Text 7"/>
          <p:cNvSpPr/>
          <p:nvPr/>
        </p:nvSpPr>
        <p:spPr>
          <a:xfrm>
            <a:off x="457200" y="1920240"/>
            <a:ext cx="8229600" cy="502920"/>
          </a:xfrm>
          <a:prstGeom prst="rect">
            <a:avLst/>
          </a:prstGeom>
          <a:noFill/>
          <a:ln/>
        </p:spPr>
        <p:txBody>
          <a:bodyPr wrap="square" lIns="0" tIns="0" rIns="0" bIns="0" rtlCol="0" anchor="ctr"/>
          <a:lstStyle/>
          <a:p>
            <a:pPr algn="ctr" indent="0" marL="0">
              <a:buNone/>
            </a:pPr>
            <a:r>
              <a:rPr lang="en-US" sz="1350" b="1" dirty="0">
                <a:solidFill>
                  <a:srgbClr val="FFFFFF"/>
                </a:solidFill>
                <a:latin typeface="Hiragino Sans" pitchFamily="34" charset="0"/>
                <a:ea typeface="Hiragino Sans" pitchFamily="34" charset="-122"/>
                <a:cs typeface="Hiragino Sans" pitchFamily="34" charset="-120"/>
              </a:rPr>
              <a:t>実現の核心：「Amazonの性質を理解し、メーカーの困り事を解決するだけ」</a:t>
            </a:r>
            <a:endParaRPr lang="en-US" sz="13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2578608"/>
          <a:ext cx="8229600" cy="914400"/>
        </p:xfrm>
        <a:graphic>
          <a:graphicData uri="http://schemas.openxmlformats.org/drawingml/2006/table">
            <a:tbl>
              <a:tblPr/>
              <a:tblGrid>
                <a:gridCol w="4114800"/>
                <a:gridCol w="4114800"/>
              </a:tblGrid>
              <a:tr h="347472">
                <a:tc>
                  <a:txBody>
                    <a:bodyP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Amazonの性質</a:t>
                      </a:r>
                      <a:endParaRPr lang="en-US" sz="11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2B3F5C"/>
                    </a:solidFill>
                  </a:tcPr>
                </a:tc>
                <a:tc>
                  <a:txBody>
                    <a:bodyPr/>
                    <a:lstStyle/>
                    <a:p>
                      <a:pPr algn="ctr" indent="0" marL="0">
                        <a:buNone/>
                      </a:pPr>
                      <a:r>
                        <a:rPr lang="en-US" sz="1100" b="1" dirty="0">
                          <a:solidFill>
                            <a:srgbClr val="FFFFFF"/>
                          </a:solidFill>
                          <a:latin typeface="Hiragino Sans" pitchFamily="34" charset="0"/>
                          <a:ea typeface="Hiragino Sans" pitchFamily="34" charset="-122"/>
                          <a:cs typeface="Hiragino Sans" pitchFamily="34" charset="-120"/>
                        </a:rPr>
                        <a:t>メーカーの困り事</a:t>
                      </a:r>
                      <a:endParaRPr lang="en-US" sz="11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D98E04"/>
                    </a:solidFill>
                  </a:tcPr>
                </a:tc>
              </a:tr>
              <a:tr h="347472">
                <a:tc>
                  <a:txBody>
                    <a:bodyPr/>
                    <a:lstStyle/>
                    <a:p>
                      <a:pPr algn="ctr" indent="0" marL="0">
                        <a:buNone/>
                      </a:pPr>
                      <a:r>
                        <a:rPr lang="en-US" sz="1100" dirty="0">
                          <a:solidFill>
                            <a:srgbClr val="23303F"/>
                          </a:solidFill>
                          <a:latin typeface="Hiragino Sans" pitchFamily="34" charset="0"/>
                          <a:ea typeface="Hiragino Sans" pitchFamily="34" charset="-122"/>
                          <a:cs typeface="Hiragino Sans" pitchFamily="34" charset="-120"/>
                        </a:rPr>
                        <a:t>価格破壊が起こりやすい</a:t>
                      </a:r>
                      <a:endParaRPr lang="en-US" sz="11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3303F"/>
                          </a:solidFill>
                          <a:latin typeface="Hiragino Sans" pitchFamily="34" charset="0"/>
                          <a:ea typeface="Hiragino Sans" pitchFamily="34" charset="-122"/>
                          <a:cs typeface="Hiragino Sans" pitchFamily="34" charset="-120"/>
                        </a:rPr>
                        <a:t>値崩れして困る</a:t>
                      </a:r>
                      <a:endParaRPr lang="en-US" sz="11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r>
              <a:tr h="347472">
                <a:tc>
                  <a:txBody>
                    <a:bodyPr/>
                    <a:lstStyle/>
                    <a:p>
                      <a:pPr algn="ctr" indent="0" marL="0">
                        <a:buNone/>
                      </a:pPr>
                      <a:r>
                        <a:rPr lang="en-US" sz="1100" dirty="0">
                          <a:solidFill>
                            <a:srgbClr val="23303F"/>
                          </a:solidFill>
                          <a:latin typeface="Hiragino Sans" pitchFamily="34" charset="0"/>
                          <a:ea typeface="Hiragino Sans" pitchFamily="34" charset="-122"/>
                          <a:cs typeface="Hiragino Sans" pitchFamily="34" charset="-120"/>
                        </a:rPr>
                        <a:t>1ページに複数セラーが群がる</a:t>
                      </a:r>
                      <a:endParaRPr lang="en-US" sz="11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3303F"/>
                          </a:solidFill>
                          <a:latin typeface="Hiragino Sans" pitchFamily="34" charset="0"/>
                          <a:ea typeface="Hiragino Sans" pitchFamily="34" charset="-122"/>
                          <a:cs typeface="Hiragino Sans" pitchFamily="34" charset="-120"/>
                        </a:rPr>
                        <a:t>知らない人が販売している</a:t>
                      </a:r>
                      <a:endParaRPr lang="en-US" sz="11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r>
              <a:tr h="347472">
                <a:tc>
                  <a:txBody>
                    <a:bodyPr/>
                    <a:lstStyle/>
                    <a:p>
                      <a:pPr algn="ctr" indent="0" marL="0">
                        <a:buNone/>
                      </a:pPr>
                      <a:r>
                        <a:rPr lang="en-US" sz="1100" dirty="0">
                          <a:solidFill>
                            <a:srgbClr val="23303F"/>
                          </a:solidFill>
                          <a:latin typeface="Hiragino Sans" pitchFamily="34" charset="0"/>
                          <a:ea typeface="Hiragino Sans" pitchFamily="34" charset="-122"/>
                          <a:cs typeface="Hiragino Sans" pitchFamily="34" charset="-120"/>
                        </a:rPr>
                        <a:t>需要と供給は決まっている</a:t>
                      </a:r>
                      <a:endParaRPr lang="en-US" sz="11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3303F"/>
                          </a:solidFill>
                          <a:latin typeface="Hiragino Sans" pitchFamily="34" charset="0"/>
                          <a:ea typeface="Hiragino Sans" pitchFamily="34" charset="-122"/>
                          <a:cs typeface="Hiragino Sans" pitchFamily="34" charset="-120"/>
                        </a:rPr>
                        <a:t>仕組みがよく分からない</a:t>
                      </a:r>
                      <a:endParaRPr lang="en-US" sz="11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r>
              <a:tr h="347472">
                <a:tc>
                  <a:txBody>
                    <a:bodyPr/>
                    <a:lstStyle/>
                    <a:p>
                      <a:pPr algn="ctr" indent="0" marL="0">
                        <a:buNone/>
                      </a:pPr>
                      <a:r>
                        <a:rPr lang="en-US" sz="1100" dirty="0">
                          <a:solidFill>
                            <a:srgbClr val="23303F"/>
                          </a:solidFill>
                          <a:latin typeface="Hiragino Sans" pitchFamily="34" charset="0"/>
                          <a:ea typeface="Hiragino Sans" pitchFamily="34" charset="-122"/>
                          <a:cs typeface="Hiragino Sans" pitchFamily="34" charset="-120"/>
                        </a:rPr>
                        <a:t>みんなから嫌われている</a:t>
                      </a:r>
                      <a:endParaRPr lang="en-US" sz="11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3303F"/>
                          </a:solidFill>
                          <a:latin typeface="Hiragino Sans" pitchFamily="34" charset="0"/>
                          <a:ea typeface="Hiragino Sans" pitchFamily="34" charset="-122"/>
                          <a:cs typeface="Hiragino Sans" pitchFamily="34" charset="-120"/>
                        </a:rPr>
                        <a:t>嘘つきが多くて嫌</a:t>
                      </a:r>
                      <a:endParaRPr lang="en-US" sz="1100" dirty="0">
                        <a:latin typeface="Hiragino Sans" charset="0"/>
                        <a:ea typeface="Hiragino Sans" charset="0"/>
                        <a:cs typeface="Hiragino Sans" charset="0"/>
                      </a:endParaRPr>
                    </a:p>
                  </a:txBody>
                  <a:tcPr marL="91440" marR="91440" marT="45720" marB="45720" anchor="ctr">
                    <a:lnL w="9525" cap="flat" cmpd="sng" algn="ctr">
                      <a:solidFill>
                        <a:srgbClr val="E3DDD2"/>
                      </a:solidFill>
                      <a:prstDash val="solid"/>
                      <a:round/>
                      <a:headEnd type="none" w="med" len="med"/>
                      <a:tailEnd type="none" w="med" len="med"/>
                    </a:lnL>
                    <a:lnR w="9525" cap="flat" cmpd="sng" algn="ctr">
                      <a:solidFill>
                        <a:srgbClr val="E3DDD2"/>
                      </a:solidFill>
                      <a:prstDash val="solid"/>
                      <a:round/>
                      <a:headEnd type="none" w="med" len="med"/>
                      <a:tailEnd type="none" w="med" len="med"/>
                    </a:lnR>
                    <a:lnT w="9525" cap="flat" cmpd="sng" algn="ctr">
                      <a:solidFill>
                        <a:srgbClr val="E3DDD2"/>
                      </a:solidFill>
                      <a:prstDash val="solid"/>
                      <a:round/>
                      <a:headEnd type="none" w="med" len="med"/>
                      <a:tailEnd type="none" w="med" len="med"/>
                    </a:lnT>
                    <a:lnB w="9525" cap="flat" cmpd="sng" algn="ctr">
                      <a:solidFill>
                        <a:srgbClr val="E3DDD2"/>
                      </a:solidFill>
                      <a:prstDash val="solid"/>
                      <a:round/>
                      <a:headEnd type="none" w="med" len="med"/>
                      <a:tailEnd type="none" w="med" len="med"/>
                    </a:lnB>
                    <a:solidFill>
                      <a:srgbClr val="FFFFFF"/>
                    </a:solidFill>
                  </a:tcPr>
                </a:tc>
              </a:tr>
            </a:tbl>
          </a:graphicData>
        </a:graphic>
      </p:graphicFrame>
      <p:sp>
        <p:nvSpPr>
          <p:cNvPr id="11" name="Text 8"/>
          <p:cNvSpPr/>
          <p:nvPr/>
        </p:nvSpPr>
        <p:spPr>
          <a:xfrm>
            <a:off x="457200" y="4425696"/>
            <a:ext cx="8229600" cy="274320"/>
          </a:xfrm>
          <a:prstGeom prst="rect">
            <a:avLst/>
          </a:prstGeom>
          <a:noFill/>
          <a:ln/>
        </p:spPr>
        <p:txBody>
          <a:bodyPr wrap="square" lIns="0" tIns="0" rIns="0" bIns="0" rtlCol="0" anchor="ctr"/>
          <a:lstStyle/>
          <a:p>
            <a:pPr algn="ctr" indent="0" marL="0">
              <a:buNone/>
            </a:pPr>
            <a:r>
              <a:rPr lang="en-US" sz="1100" b="1" i="1" dirty="0">
                <a:solidFill>
                  <a:srgbClr val="D98E04"/>
                </a:solidFill>
                <a:latin typeface="Hiragino Sans" pitchFamily="34" charset="0"/>
                <a:ea typeface="Hiragino Sans" pitchFamily="34" charset="-122"/>
                <a:cs typeface="Hiragino Sans" pitchFamily="34" charset="-120"/>
              </a:rPr>
              <a:t>私たちのAmazon知識そのものが、メーカーの困り事の解決策になる。</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GROWTH 3 — 限定化・独占</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段取りを踏む —「初対面で結婚を申し込むな」</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20</a:t>
            </a:r>
            <a:endParaRPr lang="en-US" sz="900" dirty="0"/>
          </a:p>
        </p:txBody>
      </p:sp>
      <p:sp>
        <p:nvSpPr>
          <p:cNvPr id="7" name="Shape 5"/>
          <p:cNvSpPr/>
          <p:nvPr/>
        </p:nvSpPr>
        <p:spPr>
          <a:xfrm>
            <a:off x="457200" y="1508760"/>
            <a:ext cx="1463040" cy="914400"/>
          </a:xfrm>
          <a:prstGeom prst="rect">
            <a:avLst/>
          </a:prstGeom>
          <a:solidFill>
            <a:srgbClr val="FFFFFF"/>
          </a:solidFill>
          <a:ln w="12700">
            <a:solidFill>
              <a:srgbClr val="E3DDD2"/>
            </a:solidFill>
            <a:prstDash val="solid"/>
          </a:ln>
          <a:effectLst>
            <a:outerShdw sx="100000" sy="100000" kx="0" ky="0" algn="bl" rotWithShape="0" blurRad="88900" dist="25400" dir="8100000">
              <a:srgbClr val="1B2A41">
                <a:alpha val="14000"/>
              </a:srgbClr>
            </a:outerShdw>
          </a:effectLst>
        </p:spPr>
      </p:sp>
      <p:sp>
        <p:nvSpPr>
          <p:cNvPr id="8" name="Text 6"/>
          <p:cNvSpPr/>
          <p:nvPr/>
        </p:nvSpPr>
        <p:spPr>
          <a:xfrm>
            <a:off x="457200" y="1508760"/>
            <a:ext cx="1463040" cy="914400"/>
          </a:xfrm>
          <a:prstGeom prst="rect">
            <a:avLst/>
          </a:prstGeom>
          <a:noFill/>
          <a:ln/>
        </p:spPr>
        <p:txBody>
          <a:bodyPr wrap="square" lIns="254" tIns="254" rIns="254" bIns="254" rtlCol="0" anchor="ctr"/>
          <a:lstStyle/>
          <a:p>
            <a:pPr algn="ctr" indent="0" marL="0">
              <a:lnSpc>
                <a:spcPct val="110000"/>
              </a:lnSpc>
              <a:buNone/>
            </a:pPr>
            <a:r>
              <a:rPr lang="en-US" sz="1100" b="1" dirty="0">
                <a:solidFill>
                  <a:srgbClr val="1B2A41"/>
                </a:solidFill>
                <a:latin typeface="Hiragino Sans" pitchFamily="34" charset="0"/>
                <a:ea typeface="Hiragino Sans" pitchFamily="34" charset="-122"/>
                <a:cs typeface="Hiragino Sans" pitchFamily="34" charset="-120"/>
              </a:rPr>
              <a:t>仲良くなる</a:t>
            </a:r>
            <a:endParaRPr lang="en-US" sz="1100" dirty="0"/>
          </a:p>
        </p:txBody>
      </p:sp>
      <p:sp>
        <p:nvSpPr>
          <p:cNvPr id="9" name="Text 7"/>
          <p:cNvSpPr/>
          <p:nvPr/>
        </p:nvSpPr>
        <p:spPr>
          <a:xfrm>
            <a:off x="512064" y="1554480"/>
            <a:ext cx="274320" cy="228600"/>
          </a:xfrm>
          <a:prstGeom prst="rect">
            <a:avLst/>
          </a:prstGeom>
          <a:noFill/>
          <a:ln/>
        </p:spPr>
        <p:txBody>
          <a:bodyPr wrap="square" lIns="0" tIns="0" rIns="0" bIns="0" rtlCol="0" anchor="ctr"/>
          <a:lstStyle/>
          <a:p>
            <a:pPr indent="0" marL="0">
              <a:buNone/>
            </a:pPr>
            <a:r>
              <a:rPr lang="en-US" sz="900" b="1" dirty="0">
                <a:solidFill>
                  <a:srgbClr val="6B7280"/>
                </a:solidFill>
                <a:latin typeface="Hiragino Sans" pitchFamily="34" charset="0"/>
                <a:ea typeface="Hiragino Sans" pitchFamily="34" charset="-122"/>
                <a:cs typeface="Hiragino Sans" pitchFamily="34" charset="-120"/>
              </a:rPr>
              <a:t>1</a:t>
            </a:r>
            <a:endParaRPr lang="en-US" sz="900" dirty="0"/>
          </a:p>
        </p:txBody>
      </p:sp>
      <p:sp>
        <p:nvSpPr>
          <p:cNvPr id="10" name="Text 8"/>
          <p:cNvSpPr/>
          <p:nvPr/>
        </p:nvSpPr>
        <p:spPr>
          <a:xfrm>
            <a:off x="1920240" y="1508760"/>
            <a:ext cx="292608" cy="914400"/>
          </a:xfrm>
          <a:prstGeom prst="rect">
            <a:avLst/>
          </a:prstGeom>
          <a:noFill/>
          <a:ln/>
        </p:spPr>
        <p:txBody>
          <a:bodyPr wrap="square" lIns="0" tIns="0" rIns="0" bIns="0" rtlCol="0" anchor="ctr"/>
          <a:lstStyle/>
          <a:p>
            <a:pPr algn="ctr" indent="0" marL="0">
              <a:buNone/>
            </a:pPr>
            <a:r>
              <a:rPr lang="en-US" sz="1400" b="1" dirty="0">
                <a:solidFill>
                  <a:srgbClr val="D98E04"/>
                </a:solidFill>
                <a:latin typeface="Hiragino Sans" pitchFamily="34" charset="0"/>
                <a:ea typeface="Hiragino Sans" pitchFamily="34" charset="-122"/>
                <a:cs typeface="Hiragino Sans" pitchFamily="34" charset="-120"/>
              </a:rPr>
              <a:t>→</a:t>
            </a:r>
            <a:endParaRPr lang="en-US" sz="1400" dirty="0"/>
          </a:p>
        </p:txBody>
      </p:sp>
      <p:sp>
        <p:nvSpPr>
          <p:cNvPr id="11" name="Shape 9"/>
          <p:cNvSpPr/>
          <p:nvPr/>
        </p:nvSpPr>
        <p:spPr>
          <a:xfrm>
            <a:off x="2212848" y="1508760"/>
            <a:ext cx="1463040" cy="914400"/>
          </a:xfrm>
          <a:prstGeom prst="rect">
            <a:avLst/>
          </a:prstGeom>
          <a:solidFill>
            <a:srgbClr val="FFFFFF"/>
          </a:solidFill>
          <a:ln w="12700">
            <a:solidFill>
              <a:srgbClr val="E3DDD2"/>
            </a:solidFill>
            <a:prstDash val="solid"/>
          </a:ln>
          <a:effectLst>
            <a:outerShdw sx="100000" sy="100000" kx="0" ky="0" algn="bl" rotWithShape="0" blurRad="88900" dist="25400" dir="8100000">
              <a:srgbClr val="1B2A41">
                <a:alpha val="14000"/>
              </a:srgbClr>
            </a:outerShdw>
          </a:effectLst>
        </p:spPr>
      </p:sp>
      <p:sp>
        <p:nvSpPr>
          <p:cNvPr id="12" name="Text 10"/>
          <p:cNvSpPr/>
          <p:nvPr/>
        </p:nvSpPr>
        <p:spPr>
          <a:xfrm>
            <a:off x="2212848" y="1508760"/>
            <a:ext cx="1463040" cy="914400"/>
          </a:xfrm>
          <a:prstGeom prst="rect">
            <a:avLst/>
          </a:prstGeom>
          <a:noFill/>
          <a:ln/>
        </p:spPr>
        <p:txBody>
          <a:bodyPr wrap="square" lIns="254" tIns="254" rIns="254" bIns="254" rtlCol="0" anchor="ctr"/>
          <a:lstStyle/>
          <a:p>
            <a:pPr algn="ctr" indent="0" marL="0">
              <a:lnSpc>
                <a:spcPct val="110000"/>
              </a:lnSpc>
              <a:buNone/>
            </a:pPr>
            <a:r>
              <a:rPr lang="en-US" sz="1100" b="1" dirty="0">
                <a:solidFill>
                  <a:srgbClr val="1B2A41"/>
                </a:solidFill>
                <a:latin typeface="Hiragino Sans" pitchFamily="34" charset="0"/>
                <a:ea typeface="Hiragino Sans" pitchFamily="34" charset="-122"/>
                <a:cs typeface="Hiragino Sans" pitchFamily="34" charset="-120"/>
              </a:rPr>
              <a:t>助言をもらい</a:t>
            </a:r>
            <a:endParaRPr lang="en-US" sz="1100" dirty="0"/>
          </a:p>
          <a:p>
            <a:pPr algn="ctr" indent="0" marL="0">
              <a:lnSpc>
                <a:spcPct val="110000"/>
              </a:lnSpc>
              <a:buNone/>
            </a:pPr>
            <a:r>
              <a:rPr lang="en-US" sz="1100" b="1" dirty="0">
                <a:solidFill>
                  <a:srgbClr val="1B2A41"/>
                </a:solidFill>
                <a:latin typeface="Hiragino Sans" pitchFamily="34" charset="0"/>
                <a:ea typeface="Hiragino Sans" pitchFamily="34" charset="-122"/>
                <a:cs typeface="Hiragino Sans" pitchFamily="34" charset="-120"/>
              </a:rPr>
              <a:t>提言する</a:t>
            </a:r>
            <a:endParaRPr lang="en-US" sz="1100" dirty="0"/>
          </a:p>
        </p:txBody>
      </p:sp>
      <p:sp>
        <p:nvSpPr>
          <p:cNvPr id="13" name="Text 11"/>
          <p:cNvSpPr/>
          <p:nvPr/>
        </p:nvSpPr>
        <p:spPr>
          <a:xfrm>
            <a:off x="2267712" y="1554480"/>
            <a:ext cx="274320" cy="228600"/>
          </a:xfrm>
          <a:prstGeom prst="rect">
            <a:avLst/>
          </a:prstGeom>
          <a:noFill/>
          <a:ln/>
        </p:spPr>
        <p:txBody>
          <a:bodyPr wrap="square" lIns="0" tIns="0" rIns="0" bIns="0" rtlCol="0" anchor="ctr"/>
          <a:lstStyle/>
          <a:p>
            <a:pPr indent="0" marL="0">
              <a:buNone/>
            </a:pPr>
            <a:r>
              <a:rPr lang="en-US" sz="900" b="1" dirty="0">
                <a:solidFill>
                  <a:srgbClr val="6B7280"/>
                </a:solidFill>
                <a:latin typeface="Hiragino Sans" pitchFamily="34" charset="0"/>
                <a:ea typeface="Hiragino Sans" pitchFamily="34" charset="-122"/>
                <a:cs typeface="Hiragino Sans" pitchFamily="34" charset="-120"/>
              </a:rPr>
              <a:t>2</a:t>
            </a:r>
            <a:endParaRPr lang="en-US" sz="900" dirty="0"/>
          </a:p>
        </p:txBody>
      </p:sp>
      <p:sp>
        <p:nvSpPr>
          <p:cNvPr id="14" name="Text 12"/>
          <p:cNvSpPr/>
          <p:nvPr/>
        </p:nvSpPr>
        <p:spPr>
          <a:xfrm>
            <a:off x="3675888" y="1508760"/>
            <a:ext cx="292608" cy="914400"/>
          </a:xfrm>
          <a:prstGeom prst="rect">
            <a:avLst/>
          </a:prstGeom>
          <a:noFill/>
          <a:ln/>
        </p:spPr>
        <p:txBody>
          <a:bodyPr wrap="square" lIns="0" tIns="0" rIns="0" bIns="0" rtlCol="0" anchor="ctr"/>
          <a:lstStyle/>
          <a:p>
            <a:pPr algn="ctr" indent="0" marL="0">
              <a:buNone/>
            </a:pPr>
            <a:r>
              <a:rPr lang="en-US" sz="1400" b="1" dirty="0">
                <a:solidFill>
                  <a:srgbClr val="D98E04"/>
                </a:solidFill>
                <a:latin typeface="Hiragino Sans" pitchFamily="34" charset="0"/>
                <a:ea typeface="Hiragino Sans" pitchFamily="34" charset="-122"/>
                <a:cs typeface="Hiragino Sans" pitchFamily="34" charset="-120"/>
              </a:rPr>
              <a:t>→</a:t>
            </a:r>
            <a:endParaRPr lang="en-US" sz="1400" dirty="0"/>
          </a:p>
        </p:txBody>
      </p:sp>
      <p:sp>
        <p:nvSpPr>
          <p:cNvPr id="15" name="Shape 13"/>
          <p:cNvSpPr/>
          <p:nvPr/>
        </p:nvSpPr>
        <p:spPr>
          <a:xfrm>
            <a:off x="3968496" y="1508760"/>
            <a:ext cx="1463040" cy="914400"/>
          </a:xfrm>
          <a:prstGeom prst="rect">
            <a:avLst/>
          </a:prstGeom>
          <a:solidFill>
            <a:srgbClr val="FFFFFF"/>
          </a:solidFill>
          <a:ln w="12700">
            <a:solidFill>
              <a:srgbClr val="E3DDD2"/>
            </a:solidFill>
            <a:prstDash val="solid"/>
          </a:ln>
          <a:effectLst>
            <a:outerShdw sx="100000" sy="100000" kx="0" ky="0" algn="bl" rotWithShape="0" blurRad="88900" dist="25400" dir="8100000">
              <a:srgbClr val="1B2A41">
                <a:alpha val="14000"/>
              </a:srgbClr>
            </a:outerShdw>
          </a:effectLst>
        </p:spPr>
      </p:sp>
      <p:sp>
        <p:nvSpPr>
          <p:cNvPr id="16" name="Text 14"/>
          <p:cNvSpPr/>
          <p:nvPr/>
        </p:nvSpPr>
        <p:spPr>
          <a:xfrm>
            <a:off x="3968496" y="1508760"/>
            <a:ext cx="1463040" cy="914400"/>
          </a:xfrm>
          <a:prstGeom prst="rect">
            <a:avLst/>
          </a:prstGeom>
          <a:noFill/>
          <a:ln/>
        </p:spPr>
        <p:txBody>
          <a:bodyPr wrap="square" lIns="254" tIns="254" rIns="254" bIns="254" rtlCol="0" anchor="ctr"/>
          <a:lstStyle/>
          <a:p>
            <a:pPr algn="ctr" indent="0" marL="0">
              <a:lnSpc>
                <a:spcPct val="110000"/>
              </a:lnSpc>
              <a:buNone/>
            </a:pPr>
            <a:r>
              <a:rPr lang="en-US" sz="1100" b="1" dirty="0">
                <a:solidFill>
                  <a:srgbClr val="1B2A41"/>
                </a:solidFill>
                <a:latin typeface="Hiragino Sans" pitchFamily="34" charset="0"/>
                <a:ea typeface="Hiragino Sans" pitchFamily="34" charset="-122"/>
                <a:cs typeface="Hiragino Sans" pitchFamily="34" charset="-120"/>
              </a:rPr>
              <a:t>メーカーが</a:t>
            </a:r>
            <a:endParaRPr lang="en-US" sz="1100" dirty="0"/>
          </a:p>
          <a:p>
            <a:pPr algn="ctr" indent="0" marL="0">
              <a:lnSpc>
                <a:spcPct val="110000"/>
              </a:lnSpc>
              <a:buNone/>
            </a:pPr>
            <a:r>
              <a:rPr lang="en-US" sz="1100" b="1" dirty="0">
                <a:solidFill>
                  <a:srgbClr val="1B2A41"/>
                </a:solidFill>
                <a:latin typeface="Hiragino Sans" pitchFamily="34" charset="0"/>
                <a:ea typeface="Hiragino Sans" pitchFamily="34" charset="-122"/>
                <a:cs typeface="Hiragino Sans" pitchFamily="34" charset="-120"/>
              </a:rPr>
              <a:t>メリットを感じる</a:t>
            </a:r>
            <a:endParaRPr lang="en-US" sz="1100" dirty="0"/>
          </a:p>
        </p:txBody>
      </p:sp>
      <p:sp>
        <p:nvSpPr>
          <p:cNvPr id="17" name="Text 15"/>
          <p:cNvSpPr/>
          <p:nvPr/>
        </p:nvSpPr>
        <p:spPr>
          <a:xfrm>
            <a:off x="4023360" y="1554480"/>
            <a:ext cx="274320" cy="228600"/>
          </a:xfrm>
          <a:prstGeom prst="rect">
            <a:avLst/>
          </a:prstGeom>
          <a:noFill/>
          <a:ln/>
        </p:spPr>
        <p:txBody>
          <a:bodyPr wrap="square" lIns="0" tIns="0" rIns="0" bIns="0" rtlCol="0" anchor="ctr"/>
          <a:lstStyle/>
          <a:p>
            <a:pPr indent="0" marL="0">
              <a:buNone/>
            </a:pPr>
            <a:r>
              <a:rPr lang="en-US" sz="900" b="1" dirty="0">
                <a:solidFill>
                  <a:srgbClr val="6B7280"/>
                </a:solidFill>
                <a:latin typeface="Hiragino Sans" pitchFamily="34" charset="0"/>
                <a:ea typeface="Hiragino Sans" pitchFamily="34" charset="-122"/>
                <a:cs typeface="Hiragino Sans" pitchFamily="34" charset="-120"/>
              </a:rPr>
              <a:t>3</a:t>
            </a:r>
            <a:endParaRPr lang="en-US" sz="900" dirty="0"/>
          </a:p>
        </p:txBody>
      </p:sp>
      <p:sp>
        <p:nvSpPr>
          <p:cNvPr id="18" name="Text 16"/>
          <p:cNvSpPr/>
          <p:nvPr/>
        </p:nvSpPr>
        <p:spPr>
          <a:xfrm>
            <a:off x="5431536" y="1508760"/>
            <a:ext cx="292608" cy="914400"/>
          </a:xfrm>
          <a:prstGeom prst="rect">
            <a:avLst/>
          </a:prstGeom>
          <a:noFill/>
          <a:ln/>
        </p:spPr>
        <p:txBody>
          <a:bodyPr wrap="square" lIns="0" tIns="0" rIns="0" bIns="0" rtlCol="0" anchor="ctr"/>
          <a:lstStyle/>
          <a:p>
            <a:pPr algn="ctr" indent="0" marL="0">
              <a:buNone/>
            </a:pPr>
            <a:r>
              <a:rPr lang="en-US" sz="1400" b="1" dirty="0">
                <a:solidFill>
                  <a:srgbClr val="D98E04"/>
                </a:solidFill>
                <a:latin typeface="Hiragino Sans" pitchFamily="34" charset="0"/>
                <a:ea typeface="Hiragino Sans" pitchFamily="34" charset="-122"/>
                <a:cs typeface="Hiragino Sans" pitchFamily="34" charset="-120"/>
              </a:rPr>
              <a:t>→</a:t>
            </a:r>
            <a:endParaRPr lang="en-US" sz="1400" dirty="0"/>
          </a:p>
        </p:txBody>
      </p:sp>
      <p:sp>
        <p:nvSpPr>
          <p:cNvPr id="19" name="Shape 17"/>
          <p:cNvSpPr/>
          <p:nvPr/>
        </p:nvSpPr>
        <p:spPr>
          <a:xfrm>
            <a:off x="5724144" y="1508760"/>
            <a:ext cx="1463040" cy="914400"/>
          </a:xfrm>
          <a:prstGeom prst="rect">
            <a:avLst/>
          </a:prstGeom>
          <a:solidFill>
            <a:srgbClr val="D98E04"/>
          </a:solidFill>
          <a:ln w="12700">
            <a:solidFill>
              <a:srgbClr val="D98E04"/>
            </a:solidFill>
            <a:prstDash val="solid"/>
          </a:ln>
          <a:effectLst>
            <a:outerShdw sx="100000" sy="100000" kx="0" ky="0" algn="bl" rotWithShape="0" blurRad="88900" dist="25400" dir="8100000">
              <a:srgbClr val="1B2A41">
                <a:alpha val="14000"/>
              </a:srgbClr>
            </a:outerShdw>
          </a:effectLst>
        </p:spPr>
      </p:sp>
      <p:sp>
        <p:nvSpPr>
          <p:cNvPr id="20" name="Text 18"/>
          <p:cNvSpPr/>
          <p:nvPr/>
        </p:nvSpPr>
        <p:spPr>
          <a:xfrm>
            <a:off x="5724144" y="1508760"/>
            <a:ext cx="1463040" cy="914400"/>
          </a:xfrm>
          <a:prstGeom prst="rect">
            <a:avLst/>
          </a:prstGeom>
          <a:noFill/>
          <a:ln/>
        </p:spPr>
        <p:txBody>
          <a:bodyPr wrap="square" lIns="254" tIns="254" rIns="254" bIns="254" rtlCol="0" anchor="ctr"/>
          <a:lstStyle/>
          <a:p>
            <a:pPr algn="ctr" indent="0" marL="0">
              <a:lnSpc>
                <a:spcPct val="110000"/>
              </a:lnSpc>
              <a:buNone/>
            </a:pPr>
            <a:r>
              <a:rPr lang="en-US" sz="1100" b="1" dirty="0">
                <a:solidFill>
                  <a:srgbClr val="FFFFFF"/>
                </a:solidFill>
                <a:latin typeface="Hiragino Sans" pitchFamily="34" charset="0"/>
                <a:ea typeface="Hiragino Sans" pitchFamily="34" charset="-122"/>
                <a:cs typeface="Hiragino Sans" pitchFamily="34" charset="-120"/>
              </a:rPr>
              <a:t>限定化</a:t>
            </a:r>
            <a:endParaRPr lang="en-US" sz="1100" dirty="0"/>
          </a:p>
        </p:txBody>
      </p:sp>
      <p:sp>
        <p:nvSpPr>
          <p:cNvPr id="21" name="Text 19"/>
          <p:cNvSpPr/>
          <p:nvPr/>
        </p:nvSpPr>
        <p:spPr>
          <a:xfrm>
            <a:off x="5779008" y="1554480"/>
            <a:ext cx="274320" cy="228600"/>
          </a:xfrm>
          <a:prstGeom prst="rect">
            <a:avLst/>
          </a:prstGeom>
          <a:noFill/>
          <a:ln/>
        </p:spPr>
        <p:txBody>
          <a:bodyPr wrap="square" lIns="0" tIns="0" rIns="0" bIns="0" rtlCol="0" anchor="ctr"/>
          <a:lstStyle/>
          <a:p>
            <a:pPr indent="0" marL="0">
              <a:buNone/>
            </a:pPr>
            <a:r>
              <a:rPr lang="en-US" sz="900" b="1" dirty="0">
                <a:solidFill>
                  <a:srgbClr val="FFFFFF"/>
                </a:solidFill>
                <a:latin typeface="Hiragino Sans" pitchFamily="34" charset="0"/>
                <a:ea typeface="Hiragino Sans" pitchFamily="34" charset="-122"/>
                <a:cs typeface="Hiragino Sans" pitchFamily="34" charset="-120"/>
              </a:rPr>
              <a:t>4</a:t>
            </a:r>
            <a:endParaRPr lang="en-US" sz="900" dirty="0"/>
          </a:p>
        </p:txBody>
      </p:sp>
      <p:sp>
        <p:nvSpPr>
          <p:cNvPr id="22" name="Text 20"/>
          <p:cNvSpPr/>
          <p:nvPr/>
        </p:nvSpPr>
        <p:spPr>
          <a:xfrm>
            <a:off x="7187184" y="1508760"/>
            <a:ext cx="292608" cy="914400"/>
          </a:xfrm>
          <a:prstGeom prst="rect">
            <a:avLst/>
          </a:prstGeom>
          <a:noFill/>
          <a:ln/>
        </p:spPr>
        <p:txBody>
          <a:bodyPr wrap="square" lIns="0" tIns="0" rIns="0" bIns="0" rtlCol="0" anchor="ctr"/>
          <a:lstStyle/>
          <a:p>
            <a:pPr algn="ctr" indent="0" marL="0">
              <a:buNone/>
            </a:pPr>
            <a:r>
              <a:rPr lang="en-US" sz="1400" b="1" dirty="0">
                <a:solidFill>
                  <a:srgbClr val="D98E04"/>
                </a:solidFill>
                <a:latin typeface="Hiragino Sans" pitchFamily="34" charset="0"/>
                <a:ea typeface="Hiragino Sans" pitchFamily="34" charset="-122"/>
                <a:cs typeface="Hiragino Sans" pitchFamily="34" charset="-120"/>
              </a:rPr>
              <a:t>→</a:t>
            </a:r>
            <a:endParaRPr lang="en-US" sz="1400" dirty="0"/>
          </a:p>
        </p:txBody>
      </p:sp>
      <p:sp>
        <p:nvSpPr>
          <p:cNvPr id="23" name="Shape 21"/>
          <p:cNvSpPr/>
          <p:nvPr/>
        </p:nvSpPr>
        <p:spPr>
          <a:xfrm>
            <a:off x="7479792" y="1508760"/>
            <a:ext cx="1463040" cy="914400"/>
          </a:xfrm>
          <a:prstGeom prst="rect">
            <a:avLst/>
          </a:prstGeom>
          <a:solidFill>
            <a:srgbClr val="D98E04"/>
          </a:solidFill>
          <a:ln w="12700">
            <a:solidFill>
              <a:srgbClr val="D98E04"/>
            </a:solidFill>
            <a:prstDash val="solid"/>
          </a:ln>
          <a:effectLst>
            <a:outerShdw sx="100000" sy="100000" kx="0" ky="0" algn="bl" rotWithShape="0" blurRad="88900" dist="25400" dir="8100000">
              <a:srgbClr val="1B2A41">
                <a:alpha val="14000"/>
              </a:srgbClr>
            </a:outerShdw>
          </a:effectLst>
        </p:spPr>
      </p:sp>
      <p:sp>
        <p:nvSpPr>
          <p:cNvPr id="24" name="Text 22"/>
          <p:cNvSpPr/>
          <p:nvPr/>
        </p:nvSpPr>
        <p:spPr>
          <a:xfrm>
            <a:off x="7479792" y="1508760"/>
            <a:ext cx="1463040" cy="914400"/>
          </a:xfrm>
          <a:prstGeom prst="rect">
            <a:avLst/>
          </a:prstGeom>
          <a:noFill/>
          <a:ln/>
        </p:spPr>
        <p:txBody>
          <a:bodyPr wrap="square" lIns="254" tIns="254" rIns="254" bIns="254" rtlCol="0" anchor="ctr"/>
          <a:lstStyle/>
          <a:p>
            <a:pPr algn="ctr" indent="0" marL="0">
              <a:lnSpc>
                <a:spcPct val="110000"/>
              </a:lnSpc>
              <a:buNone/>
            </a:pPr>
            <a:r>
              <a:rPr lang="en-US" sz="1100" b="1" dirty="0">
                <a:solidFill>
                  <a:srgbClr val="FFFFFF"/>
                </a:solidFill>
                <a:latin typeface="Hiragino Sans" pitchFamily="34" charset="0"/>
                <a:ea typeface="Hiragino Sans" pitchFamily="34" charset="-122"/>
                <a:cs typeface="Hiragino Sans" pitchFamily="34" charset="-120"/>
              </a:rPr>
              <a:t>独占</a:t>
            </a:r>
            <a:endParaRPr lang="en-US" sz="1100" dirty="0"/>
          </a:p>
        </p:txBody>
      </p:sp>
      <p:sp>
        <p:nvSpPr>
          <p:cNvPr id="25" name="Text 23"/>
          <p:cNvSpPr/>
          <p:nvPr/>
        </p:nvSpPr>
        <p:spPr>
          <a:xfrm>
            <a:off x="7534656" y="1554480"/>
            <a:ext cx="274320" cy="228600"/>
          </a:xfrm>
          <a:prstGeom prst="rect">
            <a:avLst/>
          </a:prstGeom>
          <a:noFill/>
          <a:ln/>
        </p:spPr>
        <p:txBody>
          <a:bodyPr wrap="square" lIns="0" tIns="0" rIns="0" bIns="0" rtlCol="0" anchor="ctr"/>
          <a:lstStyle/>
          <a:p>
            <a:pPr indent="0" marL="0">
              <a:buNone/>
            </a:pPr>
            <a:r>
              <a:rPr lang="en-US" sz="900" b="1" dirty="0">
                <a:solidFill>
                  <a:srgbClr val="FFFFFF"/>
                </a:solidFill>
                <a:latin typeface="Hiragino Sans" pitchFamily="34" charset="0"/>
                <a:ea typeface="Hiragino Sans" pitchFamily="34" charset="-122"/>
                <a:cs typeface="Hiragino Sans" pitchFamily="34" charset="-120"/>
              </a:rPr>
              <a:t>5</a:t>
            </a:r>
            <a:endParaRPr lang="en-US" sz="900" dirty="0"/>
          </a:p>
        </p:txBody>
      </p:sp>
      <p:sp>
        <p:nvSpPr>
          <p:cNvPr id="26" name="Shape 24"/>
          <p:cNvSpPr/>
          <p:nvPr/>
        </p:nvSpPr>
        <p:spPr>
          <a:xfrm>
            <a:off x="457200" y="2743200"/>
            <a:ext cx="5349240" cy="178308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27" name="Text 25"/>
          <p:cNvSpPr/>
          <p:nvPr/>
        </p:nvSpPr>
        <p:spPr>
          <a:xfrm>
            <a:off x="713232" y="2926080"/>
            <a:ext cx="4846320" cy="1463040"/>
          </a:xfrm>
          <a:prstGeom prst="rect">
            <a:avLst/>
          </a:prstGeom>
          <a:noFill/>
          <a:ln/>
        </p:spPr>
        <p:txBody>
          <a:bodyPr wrap="square" lIns="0" tIns="0" rIns="0" bIns="0" rtlCol="0" anchor="ctr"/>
          <a:lstStyle/>
          <a:p>
            <a:pPr indent="0" marL="0">
              <a:lnSpc>
                <a:spcPct val="120000"/>
              </a:lnSpc>
              <a:spcAft>
                <a:spcPts val="500"/>
              </a:spcAft>
              <a:buNone/>
            </a:pPr>
            <a:r>
              <a:rPr lang="en-US" sz="1250" b="1" dirty="0">
                <a:solidFill>
                  <a:srgbClr val="1B2A41"/>
                </a:solidFill>
                <a:latin typeface="Hiragino Sans" pitchFamily="34" charset="0"/>
                <a:ea typeface="Hiragino Sans" pitchFamily="34" charset="-122"/>
                <a:cs typeface="Hiragino Sans" pitchFamily="34" charset="-120"/>
              </a:rPr>
              <a:t>最初の問い合わせで独占を求めるのはNG</a:t>
            </a:r>
            <a:endParaRPr lang="en-US" sz="1250" dirty="0"/>
          </a:p>
          <a:p>
            <a:pPr indent="0" marL="0">
              <a:lnSpc>
                <a:spcPct val="120000"/>
              </a:lnSpc>
              <a:spcAft>
                <a:spcPts val="500"/>
              </a:spcAft>
              <a:buNone/>
            </a:pPr>
            <a:r>
              <a:rPr lang="en-US" sz="1050" dirty="0">
                <a:solidFill>
                  <a:srgbClr val="23303F"/>
                </a:solidFill>
                <a:latin typeface="Hiragino Sans" pitchFamily="34" charset="0"/>
                <a:ea typeface="Hiragino Sans" pitchFamily="34" charset="-122"/>
                <a:cs typeface="Hiragino Sans" pitchFamily="34" charset="-120"/>
              </a:rPr>
              <a:t>まず普通に取引し、きちんと売り、きちんと支払い、信頼を積む。助言を求められる関係になってから提言し、メーカー側がメリットを感じて初めて限定化・独占へ。</a:t>
            </a:r>
            <a:endParaRPr lang="en-US" sz="1250" dirty="0"/>
          </a:p>
          <a:p>
            <a:pPr indent="0" marL="0">
              <a:lnSpc>
                <a:spcPct val="120000"/>
              </a:lnSpc>
              <a:buNone/>
            </a:pPr>
            <a:r>
              <a:rPr lang="en-US" sz="1050" b="1" dirty="0">
                <a:solidFill>
                  <a:srgbClr val="2B3F5C"/>
                </a:solidFill>
                <a:latin typeface="Hiragino Sans" pitchFamily="34" charset="0"/>
                <a:ea typeface="Hiragino Sans" pitchFamily="34" charset="-122"/>
                <a:cs typeface="Hiragino Sans" pitchFamily="34" charset="-120"/>
              </a:rPr>
              <a:t>担当者交代は再チャンス。長期戦で構わない。</a:t>
            </a:r>
            <a:endParaRPr lang="en-US" sz="1250" dirty="0"/>
          </a:p>
        </p:txBody>
      </p:sp>
      <p:sp>
        <p:nvSpPr>
          <p:cNvPr id="28" name="Shape 26"/>
          <p:cNvSpPr/>
          <p:nvPr/>
        </p:nvSpPr>
        <p:spPr>
          <a:xfrm>
            <a:off x="6080760" y="2743200"/>
            <a:ext cx="2606040" cy="1783080"/>
          </a:xfrm>
          <a:prstGeom prst="rect">
            <a:avLst/>
          </a:prstGeom>
          <a:solidFill>
            <a:srgbClr val="1B2A41"/>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29" name="Text 27"/>
          <p:cNvSpPr/>
          <p:nvPr/>
        </p:nvSpPr>
        <p:spPr>
          <a:xfrm>
            <a:off x="6236208" y="2743200"/>
            <a:ext cx="548640" cy="548640"/>
          </a:xfrm>
          <a:prstGeom prst="rect">
            <a:avLst/>
          </a:prstGeom>
          <a:noFill/>
          <a:ln/>
        </p:spPr>
        <p:txBody>
          <a:bodyPr wrap="square" lIns="0" tIns="0" rIns="0" bIns="0" rtlCol="0" anchor="ctr"/>
          <a:lstStyle/>
          <a:p>
            <a:pPr indent="0" marL="0">
              <a:buNone/>
            </a:pPr>
            <a:r>
              <a:rPr lang="en-US" sz="4000" b="1" dirty="0">
                <a:solidFill>
                  <a:srgbClr val="F2B33D"/>
                </a:solidFill>
                <a:latin typeface="Georgia" pitchFamily="34" charset="0"/>
                <a:ea typeface="Georgia" pitchFamily="34" charset="-122"/>
                <a:cs typeface="Georgia" pitchFamily="34" charset="-120"/>
              </a:rPr>
              <a:t>“</a:t>
            </a:r>
            <a:endParaRPr lang="en-US" sz="4000" dirty="0"/>
          </a:p>
        </p:txBody>
      </p:sp>
      <p:sp>
        <p:nvSpPr>
          <p:cNvPr id="30" name="Text 28"/>
          <p:cNvSpPr/>
          <p:nvPr/>
        </p:nvSpPr>
        <p:spPr>
          <a:xfrm>
            <a:off x="6327648" y="3246120"/>
            <a:ext cx="2194560" cy="914400"/>
          </a:xfrm>
          <a:prstGeom prst="rect">
            <a:avLst/>
          </a:prstGeom>
          <a:noFill/>
          <a:ln/>
        </p:spPr>
        <p:txBody>
          <a:bodyPr wrap="square" lIns="0" tIns="0" rIns="0" bIns="0" rtlCol="0" anchor="ctr"/>
          <a:lstStyle/>
          <a:p>
            <a:pPr indent="0" marL="0">
              <a:lnSpc>
                <a:spcPct val="125000"/>
              </a:lnSpc>
              <a:buNone/>
            </a:pPr>
            <a:r>
              <a:rPr lang="en-US" sz="1500" b="1" dirty="0">
                <a:solidFill>
                  <a:srgbClr val="FFFFFF"/>
                </a:solidFill>
                <a:latin typeface="Hiragino Sans" pitchFamily="34" charset="0"/>
                <a:ea typeface="Hiragino Sans" pitchFamily="34" charset="-122"/>
                <a:cs typeface="Hiragino Sans" pitchFamily="34" charset="-120"/>
              </a:rPr>
              <a:t>初対面で</a:t>
            </a:r>
            <a:endParaRPr lang="en-US" sz="1500" dirty="0"/>
          </a:p>
          <a:p>
            <a:pPr indent="0" marL="0">
              <a:lnSpc>
                <a:spcPct val="125000"/>
              </a:lnSpc>
              <a:buNone/>
            </a:pPr>
            <a:r>
              <a:rPr lang="en-US" sz="1500" b="1" dirty="0">
                <a:solidFill>
                  <a:srgbClr val="FFFFFF"/>
                </a:solidFill>
                <a:latin typeface="Hiragino Sans" pitchFamily="34" charset="0"/>
                <a:ea typeface="Hiragino Sans" pitchFamily="34" charset="-122"/>
                <a:cs typeface="Hiragino Sans" pitchFamily="34" charset="-120"/>
              </a:rPr>
              <a:t>結婚を申し込むな</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PRINCIPLES</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やってはいけないこと、続けるべきこと</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21</a:t>
            </a:r>
            <a:endParaRPr lang="en-US" sz="900" dirty="0"/>
          </a:p>
        </p:txBody>
      </p:sp>
      <p:sp>
        <p:nvSpPr>
          <p:cNvPr id="7" name="Shape 5"/>
          <p:cNvSpPr/>
          <p:nvPr/>
        </p:nvSpPr>
        <p:spPr>
          <a:xfrm>
            <a:off x="457200" y="1325880"/>
            <a:ext cx="4023360" cy="324612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8" name="Shape 6"/>
          <p:cNvSpPr/>
          <p:nvPr/>
        </p:nvSpPr>
        <p:spPr>
          <a:xfrm>
            <a:off x="457200" y="1325880"/>
            <a:ext cx="4023360" cy="475488"/>
          </a:xfrm>
          <a:prstGeom prst="rect">
            <a:avLst/>
          </a:prstGeom>
          <a:solidFill>
            <a:srgbClr val="8B3A3A"/>
          </a:solidFill>
          <a:ln/>
        </p:spPr>
      </p:sp>
      <p:sp>
        <p:nvSpPr>
          <p:cNvPr id="9" name="Text 7"/>
          <p:cNvSpPr/>
          <p:nvPr/>
        </p:nvSpPr>
        <p:spPr>
          <a:xfrm>
            <a:off x="676656" y="1325880"/>
            <a:ext cx="3657600" cy="475488"/>
          </a:xfrm>
          <a:prstGeom prst="rect">
            <a:avLst/>
          </a:prstGeom>
          <a:noFill/>
          <a:ln/>
        </p:spPr>
        <p:txBody>
          <a:bodyPr wrap="square" lIns="0" tIns="0" rIns="0" bIns="0" rtlCol="0" anchor="ctr"/>
          <a:lstStyle/>
          <a:p>
            <a:pPr indent="0" marL="0">
              <a:buNone/>
            </a:pPr>
            <a:r>
              <a:rPr lang="en-US" sz="1250" b="1" dirty="0">
                <a:solidFill>
                  <a:srgbClr val="FFFFFF"/>
                </a:solidFill>
                <a:latin typeface="Hiragino Sans" pitchFamily="34" charset="0"/>
                <a:ea typeface="Hiragino Sans" pitchFamily="34" charset="-122"/>
                <a:cs typeface="Hiragino Sans" pitchFamily="34" charset="-120"/>
              </a:rPr>
              <a:t>✕ 嘘のノウハウに騙されない</a:t>
            </a:r>
            <a:endParaRPr lang="en-US" sz="1250" dirty="0"/>
          </a:p>
        </p:txBody>
      </p:sp>
      <p:sp>
        <p:nvSpPr>
          <p:cNvPr id="10" name="Text 8"/>
          <p:cNvSpPr/>
          <p:nvPr/>
        </p:nvSpPr>
        <p:spPr>
          <a:xfrm>
            <a:off x="713232" y="1993392"/>
            <a:ext cx="3566160" cy="2377440"/>
          </a:xfrm>
          <a:prstGeom prst="rect">
            <a:avLst/>
          </a:prstGeom>
          <a:noFill/>
          <a:ln/>
        </p:spPr>
        <p:txBody>
          <a:bodyPr wrap="square" lIns="0" tIns="0" rIns="0" bIns="0" rtlCol="0" anchor="ctr"/>
          <a:lstStyle/>
          <a:p>
            <a:pPr marL="152400" indent="-152400">
              <a:lnSpc>
                <a:spcPct val="120000"/>
              </a:lnSpc>
              <a:spcAft>
                <a:spcPts val="900"/>
              </a:spcAft>
              <a:buSzPct val="100000"/>
              <a:buChar char="•"/>
            </a:pPr>
            <a:r>
              <a:rPr lang="en-US" sz="1100" dirty="0">
                <a:solidFill>
                  <a:srgbClr val="23303F"/>
                </a:solidFill>
                <a:latin typeface="Hiragino Sans" pitchFamily="34" charset="0"/>
                <a:ea typeface="Hiragino Sans" pitchFamily="34" charset="-122"/>
                <a:cs typeface="Hiragino Sans" pitchFamily="34" charset="-120"/>
              </a:rPr>
              <a:t>「実店舗があると偽る」→ 必ずバレて取引終了</a:t>
            </a:r>
            <a:endParaRPr lang="en-US" sz="1100" dirty="0"/>
          </a:p>
          <a:p>
            <a:pPr marL="152400" indent="-152400">
              <a:lnSpc>
                <a:spcPct val="120000"/>
              </a:lnSpc>
              <a:spcAft>
                <a:spcPts val="900"/>
              </a:spcAft>
              <a:buSzPct val="100000"/>
              <a:buChar char="•"/>
            </a:pPr>
            <a:r>
              <a:rPr lang="en-US" sz="1100" dirty="0">
                <a:solidFill>
                  <a:srgbClr val="23303F"/>
                </a:solidFill>
                <a:latin typeface="Hiragino Sans" pitchFamily="34" charset="0"/>
                <a:ea typeface="Hiragino Sans" pitchFamily="34" charset="-122"/>
                <a:cs typeface="Hiragino Sans" pitchFamily="34" charset="-120"/>
              </a:rPr>
              <a:t>「あいのり販売だけで大きく稼げる」→ 誤情報</a:t>
            </a:r>
            <a:endParaRPr lang="en-US" sz="1100" dirty="0"/>
          </a:p>
          <a:p>
            <a:pPr marL="152400" indent="-152400">
              <a:lnSpc>
                <a:spcPct val="120000"/>
              </a:lnSpc>
              <a:spcAft>
                <a:spcPts val="900"/>
              </a:spcAft>
              <a:buSzPct val="100000"/>
              <a:buChar char="•"/>
            </a:pPr>
            <a:r>
              <a:rPr lang="en-US" sz="1100" dirty="0">
                <a:solidFill>
                  <a:srgbClr val="23303F"/>
                </a:solidFill>
                <a:latin typeface="Hiragino Sans" pitchFamily="34" charset="0"/>
                <a:ea typeface="Hiragino Sans" pitchFamily="34" charset="-122"/>
                <a:cs typeface="Hiragino Sans" pitchFamily="34" charset="-120"/>
              </a:rPr>
              <a:t>メーカーを騙す手法全般 → 排除されて終わり</a:t>
            </a:r>
            <a:endParaRPr lang="en-US" sz="1100" dirty="0"/>
          </a:p>
          <a:p>
            <a:pPr marL="152400" indent="-152400">
              <a:lnSpc>
                <a:spcPct val="120000"/>
              </a:lnSpc>
              <a:spcAft>
                <a:spcPts val="900"/>
              </a:spcAft>
              <a:buSzPct val="100000"/>
              <a:buChar char="•"/>
            </a:pPr>
            <a:r>
              <a:rPr lang="en-US" sz="1100" dirty="0">
                <a:solidFill>
                  <a:srgbClr val="23303F"/>
                </a:solidFill>
                <a:latin typeface="Hiragino Sans" pitchFamily="34" charset="0"/>
                <a:ea typeface="Hiragino Sans" pitchFamily="34" charset="-122"/>
                <a:cs typeface="Hiragino Sans" pitchFamily="34" charset="-120"/>
              </a:rPr>
              <a:t>業界は狭い。悪い評判は確実に残る</a:t>
            </a:r>
            <a:endParaRPr lang="en-US" sz="1100" dirty="0"/>
          </a:p>
        </p:txBody>
      </p:sp>
      <p:sp>
        <p:nvSpPr>
          <p:cNvPr id="11" name="Shape 9"/>
          <p:cNvSpPr/>
          <p:nvPr/>
        </p:nvSpPr>
        <p:spPr>
          <a:xfrm>
            <a:off x="4663440" y="1325880"/>
            <a:ext cx="4023360" cy="324612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12" name="Shape 10"/>
          <p:cNvSpPr/>
          <p:nvPr/>
        </p:nvSpPr>
        <p:spPr>
          <a:xfrm>
            <a:off x="4663440" y="1325880"/>
            <a:ext cx="4023360" cy="475488"/>
          </a:xfrm>
          <a:prstGeom prst="rect">
            <a:avLst/>
          </a:prstGeom>
          <a:solidFill>
            <a:srgbClr val="1B2A41"/>
          </a:solidFill>
          <a:ln/>
        </p:spPr>
      </p:sp>
      <p:sp>
        <p:nvSpPr>
          <p:cNvPr id="13" name="Text 11"/>
          <p:cNvSpPr/>
          <p:nvPr/>
        </p:nvSpPr>
        <p:spPr>
          <a:xfrm>
            <a:off x="4882896" y="1325880"/>
            <a:ext cx="3657600" cy="475488"/>
          </a:xfrm>
          <a:prstGeom prst="rect">
            <a:avLst/>
          </a:prstGeom>
          <a:noFill/>
          <a:ln/>
        </p:spPr>
        <p:txBody>
          <a:bodyPr wrap="square" lIns="0" tIns="0" rIns="0" bIns="0" rtlCol="0" anchor="ctr"/>
          <a:lstStyle/>
          <a:p>
            <a:pPr indent="0" marL="0">
              <a:buNone/>
            </a:pPr>
            <a:r>
              <a:rPr lang="en-US" sz="1250" b="1" dirty="0">
                <a:solidFill>
                  <a:srgbClr val="FFFFFF"/>
                </a:solidFill>
                <a:latin typeface="Hiragino Sans" pitchFamily="34" charset="0"/>
                <a:ea typeface="Hiragino Sans" pitchFamily="34" charset="-122"/>
                <a:cs typeface="Hiragino Sans" pitchFamily="34" charset="-120"/>
              </a:rPr>
              <a:t>○ 成功原則は3つだけ</a:t>
            </a:r>
            <a:endParaRPr lang="en-US" sz="1250" dirty="0"/>
          </a:p>
        </p:txBody>
      </p:sp>
      <p:sp>
        <p:nvSpPr>
          <p:cNvPr id="14" name="Shape 12"/>
          <p:cNvSpPr/>
          <p:nvPr/>
        </p:nvSpPr>
        <p:spPr>
          <a:xfrm>
            <a:off x="4882896" y="1975104"/>
            <a:ext cx="329184" cy="329184"/>
          </a:xfrm>
          <a:prstGeom prst="ellipse">
            <a:avLst/>
          </a:prstGeom>
          <a:solidFill>
            <a:srgbClr val="D98E04"/>
          </a:solidFill>
          <a:ln/>
        </p:spPr>
      </p:sp>
      <p:sp>
        <p:nvSpPr>
          <p:cNvPr id="15" name="Text 13"/>
          <p:cNvSpPr/>
          <p:nvPr/>
        </p:nvSpPr>
        <p:spPr>
          <a:xfrm>
            <a:off x="4882896" y="19613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1</a:t>
            </a:r>
            <a:endParaRPr lang="en-US" sz="1200" dirty="0"/>
          </a:p>
        </p:txBody>
      </p:sp>
      <p:sp>
        <p:nvSpPr>
          <p:cNvPr id="16" name="Text 14"/>
          <p:cNvSpPr/>
          <p:nvPr/>
        </p:nvSpPr>
        <p:spPr>
          <a:xfrm>
            <a:off x="5340096" y="1947672"/>
            <a:ext cx="3200400" cy="777240"/>
          </a:xfrm>
          <a:prstGeom prst="rect">
            <a:avLst/>
          </a:prstGeom>
          <a:noFill/>
          <a:ln/>
        </p:spPr>
        <p:txBody>
          <a:bodyPr wrap="square" lIns="0" tIns="0" rIns="0" bIns="0" rtlCol="0" anchor="ctr"/>
          <a:lstStyle/>
          <a:p>
            <a:pPr indent="0" marL="0">
              <a:spcAft>
                <a:spcPts val="200"/>
              </a:spcAft>
              <a:buNone/>
            </a:pPr>
            <a:r>
              <a:rPr lang="en-US" sz="1200" b="1" dirty="0">
                <a:solidFill>
                  <a:srgbClr val="1B2A41"/>
                </a:solidFill>
                <a:latin typeface="Hiragino Sans" pitchFamily="34" charset="0"/>
                <a:ea typeface="Hiragino Sans" pitchFamily="34" charset="-122"/>
                <a:cs typeface="Hiragino Sans" pitchFamily="34" charset="-120"/>
              </a:rPr>
              <a:t>正しい作業の継続</a:t>
            </a:r>
            <a:endParaRPr lang="en-US" sz="1200" dirty="0"/>
          </a:p>
          <a:p>
            <a:pPr indent="0" marL="0">
              <a:buNone/>
            </a:pPr>
            <a:r>
              <a:rPr lang="en-US" sz="1000" dirty="0">
                <a:solidFill>
                  <a:srgbClr val="6B7280"/>
                </a:solidFill>
                <a:latin typeface="Hiragino Sans" pitchFamily="34" charset="0"/>
                <a:ea typeface="Hiragino Sans" pitchFamily="34" charset="-122"/>
                <a:cs typeface="Hiragino Sans" pitchFamily="34" charset="-120"/>
              </a:rPr>
              <a:t>メール・FAX・電話、数字の計測。最も再現性が高い</a:t>
            </a:r>
            <a:endParaRPr lang="en-US" sz="1200" dirty="0"/>
          </a:p>
        </p:txBody>
      </p:sp>
      <p:sp>
        <p:nvSpPr>
          <p:cNvPr id="17" name="Shape 15"/>
          <p:cNvSpPr/>
          <p:nvPr/>
        </p:nvSpPr>
        <p:spPr>
          <a:xfrm>
            <a:off x="4882896" y="2816352"/>
            <a:ext cx="329184" cy="329184"/>
          </a:xfrm>
          <a:prstGeom prst="ellipse">
            <a:avLst/>
          </a:prstGeom>
          <a:solidFill>
            <a:srgbClr val="D98E04"/>
          </a:solidFill>
          <a:ln/>
        </p:spPr>
      </p:sp>
      <p:sp>
        <p:nvSpPr>
          <p:cNvPr id="18" name="Text 16"/>
          <p:cNvSpPr/>
          <p:nvPr/>
        </p:nvSpPr>
        <p:spPr>
          <a:xfrm>
            <a:off x="4882896" y="28026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2</a:t>
            </a:r>
            <a:endParaRPr lang="en-US" sz="1200" dirty="0"/>
          </a:p>
        </p:txBody>
      </p:sp>
      <p:sp>
        <p:nvSpPr>
          <p:cNvPr id="19" name="Text 17"/>
          <p:cNvSpPr/>
          <p:nvPr/>
        </p:nvSpPr>
        <p:spPr>
          <a:xfrm>
            <a:off x="5340096" y="2788920"/>
            <a:ext cx="3200400" cy="777240"/>
          </a:xfrm>
          <a:prstGeom prst="rect">
            <a:avLst/>
          </a:prstGeom>
          <a:noFill/>
          <a:ln/>
        </p:spPr>
        <p:txBody>
          <a:bodyPr wrap="square" lIns="0" tIns="0" rIns="0" bIns="0" rtlCol="0" anchor="ctr"/>
          <a:lstStyle/>
          <a:p>
            <a:pPr indent="0" marL="0">
              <a:spcAft>
                <a:spcPts val="200"/>
              </a:spcAft>
              <a:buNone/>
            </a:pPr>
            <a:r>
              <a:rPr lang="en-US" sz="1200" b="1" dirty="0">
                <a:solidFill>
                  <a:srgbClr val="1B2A41"/>
                </a:solidFill>
                <a:latin typeface="Hiragino Sans" pitchFamily="34" charset="0"/>
                <a:ea typeface="Hiragino Sans" pitchFamily="34" charset="-122"/>
                <a:cs typeface="Hiragino Sans" pitchFamily="34" charset="-120"/>
              </a:rPr>
              <a:t>選ぶのはメーカー</a:t>
            </a:r>
            <a:endParaRPr lang="en-US" sz="1200" dirty="0"/>
          </a:p>
          <a:p>
            <a:pPr indent="0" marL="0">
              <a:buNone/>
            </a:pPr>
            <a:r>
              <a:rPr lang="en-US" sz="1000" dirty="0">
                <a:solidFill>
                  <a:srgbClr val="6B7280"/>
                </a:solidFill>
                <a:latin typeface="Hiragino Sans" pitchFamily="34" charset="0"/>
                <a:ea typeface="Hiragino Sans" pitchFamily="34" charset="-122"/>
                <a:cs typeface="Hiragino Sans" pitchFamily="34" charset="-120"/>
              </a:rPr>
              <a:t>メーカーから選ばれる誠実な事業者であること</a:t>
            </a:r>
            <a:endParaRPr lang="en-US" sz="1200" dirty="0"/>
          </a:p>
        </p:txBody>
      </p:sp>
      <p:sp>
        <p:nvSpPr>
          <p:cNvPr id="20" name="Shape 18"/>
          <p:cNvSpPr/>
          <p:nvPr/>
        </p:nvSpPr>
        <p:spPr>
          <a:xfrm>
            <a:off x="4882896" y="3657600"/>
            <a:ext cx="329184" cy="329184"/>
          </a:xfrm>
          <a:prstGeom prst="ellipse">
            <a:avLst/>
          </a:prstGeom>
          <a:solidFill>
            <a:srgbClr val="D98E04"/>
          </a:solidFill>
          <a:ln/>
        </p:spPr>
      </p:sp>
      <p:sp>
        <p:nvSpPr>
          <p:cNvPr id="21" name="Text 19"/>
          <p:cNvSpPr/>
          <p:nvPr/>
        </p:nvSpPr>
        <p:spPr>
          <a:xfrm>
            <a:off x="4882896" y="36438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3</a:t>
            </a:r>
            <a:endParaRPr lang="en-US" sz="1200" dirty="0"/>
          </a:p>
        </p:txBody>
      </p:sp>
      <p:sp>
        <p:nvSpPr>
          <p:cNvPr id="22" name="Text 20"/>
          <p:cNvSpPr/>
          <p:nvPr/>
        </p:nvSpPr>
        <p:spPr>
          <a:xfrm>
            <a:off x="5340096" y="3630168"/>
            <a:ext cx="3200400" cy="777240"/>
          </a:xfrm>
          <a:prstGeom prst="rect">
            <a:avLst/>
          </a:prstGeom>
          <a:noFill/>
          <a:ln/>
        </p:spPr>
        <p:txBody>
          <a:bodyPr wrap="square" lIns="0" tIns="0" rIns="0" bIns="0" rtlCol="0" anchor="ctr"/>
          <a:lstStyle/>
          <a:p>
            <a:pPr indent="0" marL="0">
              <a:spcAft>
                <a:spcPts val="200"/>
              </a:spcAft>
              <a:buNone/>
            </a:pPr>
            <a:r>
              <a:rPr lang="en-US" sz="1200" b="1" dirty="0">
                <a:solidFill>
                  <a:srgbClr val="1B2A41"/>
                </a:solidFill>
                <a:latin typeface="Hiragino Sans" pitchFamily="34" charset="0"/>
                <a:ea typeface="Hiragino Sans" pitchFamily="34" charset="-122"/>
                <a:cs typeface="Hiragino Sans" pitchFamily="34" charset="-120"/>
              </a:rPr>
              <a:t>現実的な期待値</a:t>
            </a:r>
            <a:endParaRPr lang="en-US" sz="1200" dirty="0"/>
          </a:p>
          <a:p>
            <a:pPr indent="0" marL="0">
              <a:buNone/>
            </a:pPr>
            <a:r>
              <a:rPr lang="en-US" sz="1000" dirty="0">
                <a:solidFill>
                  <a:srgbClr val="6B7280"/>
                </a:solidFill>
                <a:latin typeface="Hiragino Sans" pitchFamily="34" charset="0"/>
                <a:ea typeface="Hiragino Sans" pitchFamily="34" charset="-122"/>
                <a:cs typeface="Hiragino Sans" pitchFamily="34" charset="-120"/>
              </a:rPr>
              <a:t>一社数千円〜数万円を階段状に積み上げる</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457200" y="310896"/>
            <a:ext cx="8229600" cy="274320"/>
          </a:xfrm>
          <a:prstGeom prst="rect">
            <a:avLst/>
          </a:prstGeom>
          <a:noFill/>
          <a:ln/>
        </p:spPr>
        <p:txBody>
          <a:bodyPr wrap="square" lIns="0" tIns="0" rIns="0" bIns="0" rtlCol="0" anchor="ctr"/>
          <a:lstStyle/>
          <a:p>
            <a:pPr indent="0" marL="0">
              <a:buNone/>
            </a:pPr>
            <a:r>
              <a:rPr lang="en-US" sz="1050" b="1" spc="300" kern="0" dirty="0">
                <a:solidFill>
                  <a:srgbClr val="D98E04"/>
                </a:solidFill>
                <a:latin typeface="Hiragino Sans" pitchFamily="34" charset="0"/>
                <a:ea typeface="Hiragino Sans" pitchFamily="34" charset="-122"/>
                <a:cs typeface="Hiragino Sans" pitchFamily="34" charset="-120"/>
              </a:rPr>
              <a:t>EXECUTION</a:t>
            </a:r>
            <a:endParaRPr lang="en-US" sz="1050" dirty="0"/>
          </a:p>
        </p:txBody>
      </p:sp>
      <p:sp>
        <p:nvSpPr>
          <p:cNvPr id="3" name="Text 1"/>
          <p:cNvSpPr/>
          <p:nvPr/>
        </p:nvSpPr>
        <p:spPr>
          <a:xfrm>
            <a:off x="457200" y="566928"/>
            <a:ext cx="8229600" cy="566928"/>
          </a:xfrm>
          <a:prstGeom prst="rect">
            <a:avLst/>
          </a:prstGeom>
          <a:noFill/>
          <a:ln/>
        </p:spPr>
        <p:txBody>
          <a:bodyPr wrap="square" lIns="0" tIns="0" rIns="0" bIns="0" rtlCol="0" anchor="ctr"/>
          <a:lstStyle/>
          <a:p>
            <a:pPr indent="0" marL="0">
              <a:buNone/>
            </a:pPr>
            <a:r>
              <a:rPr lang="en-US" sz="2500" b="1" dirty="0">
                <a:solidFill>
                  <a:srgbClr val="1B2A41"/>
                </a:solidFill>
                <a:latin typeface="Hiragino Sans" pitchFamily="34" charset="0"/>
                <a:ea typeface="Hiragino Sans" pitchFamily="34" charset="-122"/>
                <a:cs typeface="Hiragino Sans" pitchFamily="34" charset="-120"/>
              </a:rPr>
              <a:t>当社での実行プラン — Satoy Select</a:t>
            </a:r>
            <a:endParaRPr lang="en-US" sz="2500" dirty="0"/>
          </a:p>
        </p:txBody>
      </p:sp>
      <p:sp>
        <p:nvSpPr>
          <p:cNvPr id="4" name="Shape 2"/>
          <p:cNvSpPr/>
          <p:nvPr/>
        </p:nvSpPr>
        <p:spPr>
          <a:xfrm>
            <a:off x="457200" y="4864608"/>
            <a:ext cx="109728" cy="109728"/>
          </a:xfrm>
          <a:prstGeom prst="rect">
            <a:avLst/>
          </a:prstGeom>
          <a:solidFill>
            <a:srgbClr val="D98E04"/>
          </a:solidFill>
          <a:ln/>
        </p:spPr>
      </p:sp>
      <p:sp>
        <p:nvSpPr>
          <p:cNvPr id="5" name="Text 3"/>
          <p:cNvSpPr/>
          <p:nvPr/>
        </p:nvSpPr>
        <p:spPr>
          <a:xfrm>
            <a:off x="621792" y="4791456"/>
            <a:ext cx="3657600" cy="256032"/>
          </a:xfrm>
          <a:prstGeom prst="rect">
            <a:avLst/>
          </a:prstGeom>
          <a:noFill/>
          <a:ln/>
        </p:spPr>
        <p:txBody>
          <a:bodyPr wrap="square" lIns="0" tIns="0" rIns="0" bIns="0" rtlCol="0" anchor="ctr"/>
          <a:lstStyle/>
          <a:p>
            <a:pPr indent="0" marL="0">
              <a:buNone/>
            </a:pPr>
            <a:r>
              <a:rPr lang="en-US" sz="800" dirty="0">
                <a:solidFill>
                  <a:srgbClr val="6B7280"/>
                </a:solidFill>
                <a:latin typeface="Hiragino Sans" pitchFamily="34" charset="0"/>
                <a:ea typeface="Hiragino Sans" pitchFamily="34" charset="-122"/>
                <a:cs typeface="Hiragino Sans" pitchFamily="34" charset="-120"/>
              </a:rPr>
              <a:t>メーカー仕入れ式シンプル物販ワークフロー</a:t>
            </a:r>
            <a:endParaRPr lang="en-US" sz="800" dirty="0"/>
          </a:p>
        </p:txBody>
      </p:sp>
      <p:sp>
        <p:nvSpPr>
          <p:cNvPr id="6" name="Text 4"/>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6B7280"/>
                </a:solidFill>
                <a:latin typeface="Hiragino Sans" pitchFamily="34" charset="0"/>
                <a:ea typeface="Hiragino Sans" pitchFamily="34" charset="-122"/>
                <a:cs typeface="Hiragino Sans" pitchFamily="34" charset="-120"/>
              </a:rPr>
              <a:t>22</a:t>
            </a:r>
            <a:endParaRPr lang="en-US" sz="900" dirty="0"/>
          </a:p>
        </p:txBody>
      </p:sp>
      <p:sp>
        <p:nvSpPr>
          <p:cNvPr id="7" name="Shape 5"/>
          <p:cNvSpPr/>
          <p:nvPr/>
        </p:nvSpPr>
        <p:spPr>
          <a:xfrm>
            <a:off x="457200" y="1325880"/>
            <a:ext cx="3977640" cy="82296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8" name="Shape 6"/>
          <p:cNvSpPr/>
          <p:nvPr/>
        </p:nvSpPr>
        <p:spPr>
          <a:xfrm>
            <a:off x="457200" y="1325880"/>
            <a:ext cx="82296" cy="822960"/>
          </a:xfrm>
          <a:prstGeom prst="rect">
            <a:avLst/>
          </a:prstGeom>
          <a:solidFill>
            <a:srgbClr val="1B2A41"/>
          </a:solidFill>
          <a:ln/>
        </p:spPr>
      </p:sp>
      <p:sp>
        <p:nvSpPr>
          <p:cNvPr id="9" name="Text 7"/>
          <p:cNvSpPr/>
          <p:nvPr/>
        </p:nvSpPr>
        <p:spPr>
          <a:xfrm>
            <a:off x="713232" y="1417320"/>
            <a:ext cx="3566160" cy="658368"/>
          </a:xfrm>
          <a:prstGeom prst="rect">
            <a:avLst/>
          </a:prstGeom>
          <a:noFill/>
          <a:ln/>
        </p:spPr>
        <p:txBody>
          <a:bodyPr wrap="square" lIns="0" tIns="0" rIns="0" bIns="0" rtlCol="0" anchor="ctr"/>
          <a:lstStyle/>
          <a:p>
            <a:pPr indent="0" marL="0">
              <a:lnSpc>
                <a:spcPct val="110000"/>
              </a:lnSpc>
              <a:spcAft>
                <a:spcPts val="200"/>
              </a:spcAft>
              <a:buNone/>
            </a:pPr>
            <a:r>
              <a:rPr lang="en-US" sz="1150" b="1" dirty="0">
                <a:solidFill>
                  <a:srgbClr val="1B2A41"/>
                </a:solidFill>
                <a:latin typeface="Hiragino Sans" pitchFamily="34" charset="0"/>
                <a:ea typeface="Hiragino Sans" pitchFamily="34" charset="-122"/>
                <a:cs typeface="Hiragino Sans" pitchFamily="34" charset="-120"/>
              </a:rPr>
              <a:t>販売アカウント</a:t>
            </a:r>
            <a:endParaRPr lang="en-US" sz="1150" dirty="0"/>
          </a:p>
          <a:p>
            <a:pPr indent="0" marL="0">
              <a:lnSpc>
                <a:spcPct val="110000"/>
              </a:lnSpc>
              <a:buNone/>
            </a:pPr>
            <a:r>
              <a:rPr lang="en-US" sz="950" dirty="0">
                <a:solidFill>
                  <a:srgbClr val="23303F"/>
                </a:solidFill>
                <a:latin typeface="Hiragino Sans" pitchFamily="34" charset="0"/>
                <a:ea typeface="Hiragino Sans" pitchFamily="34" charset="-122"/>
                <a:cs typeface="Hiragino Sans" pitchFamily="34" charset="-120"/>
              </a:rPr>
              <a:t>Amazon「Satoy Select」開設済み。小口→月49個超で大口へ</a:t>
            </a:r>
            <a:endParaRPr lang="en-US" sz="1150" dirty="0"/>
          </a:p>
        </p:txBody>
      </p:sp>
      <p:sp>
        <p:nvSpPr>
          <p:cNvPr id="10" name="Shape 8"/>
          <p:cNvSpPr/>
          <p:nvPr/>
        </p:nvSpPr>
        <p:spPr>
          <a:xfrm>
            <a:off x="4709160" y="1325880"/>
            <a:ext cx="3977640" cy="82296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11" name="Shape 9"/>
          <p:cNvSpPr/>
          <p:nvPr/>
        </p:nvSpPr>
        <p:spPr>
          <a:xfrm>
            <a:off x="4709160" y="1325880"/>
            <a:ext cx="82296" cy="822960"/>
          </a:xfrm>
          <a:prstGeom prst="rect">
            <a:avLst/>
          </a:prstGeom>
          <a:solidFill>
            <a:srgbClr val="1B2A41"/>
          </a:solidFill>
          <a:ln/>
        </p:spPr>
      </p:sp>
      <p:sp>
        <p:nvSpPr>
          <p:cNvPr id="12" name="Text 10"/>
          <p:cNvSpPr/>
          <p:nvPr/>
        </p:nvSpPr>
        <p:spPr>
          <a:xfrm>
            <a:off x="4965192" y="1417320"/>
            <a:ext cx="3566160" cy="658368"/>
          </a:xfrm>
          <a:prstGeom prst="rect">
            <a:avLst/>
          </a:prstGeom>
          <a:noFill/>
          <a:ln/>
        </p:spPr>
        <p:txBody>
          <a:bodyPr wrap="square" lIns="0" tIns="0" rIns="0" bIns="0" rtlCol="0" anchor="ctr"/>
          <a:lstStyle/>
          <a:p>
            <a:pPr indent="0" marL="0">
              <a:lnSpc>
                <a:spcPct val="110000"/>
              </a:lnSpc>
              <a:spcAft>
                <a:spcPts val="200"/>
              </a:spcAft>
              <a:buNone/>
            </a:pPr>
            <a:r>
              <a:rPr lang="en-US" sz="1150" b="1" dirty="0">
                <a:solidFill>
                  <a:srgbClr val="1B2A41"/>
                </a:solidFill>
                <a:latin typeface="Hiragino Sans" pitchFamily="34" charset="0"/>
                <a:ea typeface="Hiragino Sans" pitchFamily="34" charset="-122"/>
                <a:cs typeface="Hiragino Sans" pitchFamily="34" charset="-120"/>
              </a:rPr>
              <a:t>リサーチ</a:t>
            </a:r>
            <a:endParaRPr lang="en-US" sz="1150" dirty="0"/>
          </a:p>
          <a:p>
            <a:pPr indent="0" marL="0">
              <a:lnSpc>
                <a:spcPct val="110000"/>
              </a:lnSpc>
              <a:buNone/>
            </a:pPr>
            <a:r>
              <a:rPr lang="en-US" sz="950" dirty="0">
                <a:solidFill>
                  <a:srgbClr val="23303F"/>
                </a:solidFill>
                <a:latin typeface="Hiragino Sans" pitchFamily="34" charset="0"/>
                <a:ea typeface="Hiragino Sans" pitchFamily="34" charset="-122"/>
                <a:cs typeface="Hiragino Sans" pitchFamily="34" charset="-120"/>
              </a:rPr>
              <a:t>Keepa契約済み＋自社ツール（Sato-Scope）で3基準フィルタを自動化</a:t>
            </a:r>
            <a:endParaRPr lang="en-US" sz="1150" dirty="0"/>
          </a:p>
        </p:txBody>
      </p:sp>
      <p:sp>
        <p:nvSpPr>
          <p:cNvPr id="13" name="Shape 11"/>
          <p:cNvSpPr/>
          <p:nvPr/>
        </p:nvSpPr>
        <p:spPr>
          <a:xfrm>
            <a:off x="457200" y="2276856"/>
            <a:ext cx="3977640" cy="82296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14" name="Shape 12"/>
          <p:cNvSpPr/>
          <p:nvPr/>
        </p:nvSpPr>
        <p:spPr>
          <a:xfrm>
            <a:off x="457200" y="2276856"/>
            <a:ext cx="82296" cy="822960"/>
          </a:xfrm>
          <a:prstGeom prst="rect">
            <a:avLst/>
          </a:prstGeom>
          <a:solidFill>
            <a:srgbClr val="1B2A41"/>
          </a:solidFill>
          <a:ln/>
        </p:spPr>
      </p:sp>
      <p:sp>
        <p:nvSpPr>
          <p:cNvPr id="15" name="Text 13"/>
          <p:cNvSpPr/>
          <p:nvPr/>
        </p:nvSpPr>
        <p:spPr>
          <a:xfrm>
            <a:off x="713232" y="2368296"/>
            <a:ext cx="3566160" cy="658368"/>
          </a:xfrm>
          <a:prstGeom prst="rect">
            <a:avLst/>
          </a:prstGeom>
          <a:noFill/>
          <a:ln/>
        </p:spPr>
        <p:txBody>
          <a:bodyPr wrap="square" lIns="0" tIns="0" rIns="0" bIns="0" rtlCol="0" anchor="ctr"/>
          <a:lstStyle/>
          <a:p>
            <a:pPr indent="0" marL="0">
              <a:lnSpc>
                <a:spcPct val="110000"/>
              </a:lnSpc>
              <a:spcAft>
                <a:spcPts val="200"/>
              </a:spcAft>
              <a:buNone/>
            </a:pPr>
            <a:r>
              <a:rPr lang="en-US" sz="1150" b="1" dirty="0">
                <a:solidFill>
                  <a:srgbClr val="1B2A41"/>
                </a:solidFill>
                <a:latin typeface="Hiragino Sans" pitchFamily="34" charset="0"/>
                <a:ea typeface="Hiragino Sans" pitchFamily="34" charset="-122"/>
                <a:cs typeface="Hiragino Sans" pitchFamily="34" charset="-120"/>
              </a:rPr>
              <a:t>物理作業</a:t>
            </a:r>
            <a:endParaRPr lang="en-US" sz="1150" dirty="0"/>
          </a:p>
          <a:p>
            <a:pPr indent="0" marL="0">
              <a:lnSpc>
                <a:spcPct val="110000"/>
              </a:lnSpc>
              <a:buNone/>
            </a:pPr>
            <a:r>
              <a:rPr lang="en-US" sz="950" dirty="0">
                <a:solidFill>
                  <a:srgbClr val="23303F"/>
                </a:solidFill>
                <a:latin typeface="Hiragino Sans" pitchFamily="34" charset="0"/>
                <a:ea typeface="Hiragino Sans" pitchFamily="34" charset="-122"/>
                <a:cs typeface="Hiragino Sans" pitchFamily="34" charset="-120"/>
              </a:rPr>
              <a:t>FBA＋WAM NETで完全外注 → 社長はPC作業のみで完結</a:t>
            </a:r>
            <a:endParaRPr lang="en-US" sz="1150" dirty="0"/>
          </a:p>
        </p:txBody>
      </p:sp>
      <p:sp>
        <p:nvSpPr>
          <p:cNvPr id="16" name="Shape 14"/>
          <p:cNvSpPr/>
          <p:nvPr/>
        </p:nvSpPr>
        <p:spPr>
          <a:xfrm>
            <a:off x="4709160" y="2276856"/>
            <a:ext cx="3977640" cy="822960"/>
          </a:xfrm>
          <a:prstGeom prst="rect">
            <a:avLst/>
          </a:prstGeom>
          <a:solidFill>
            <a:srgbClr val="FFFFFF"/>
          </a:solidFill>
          <a:ln w="9525">
            <a:solidFill>
              <a:srgbClr val="E3DDD2"/>
            </a:solidFill>
            <a:prstDash val="solid"/>
          </a:ln>
          <a:effectLst>
            <a:outerShdw sx="100000" sy="100000" kx="0" ky="0" algn="bl" rotWithShape="0" blurRad="88900" dist="25400" dir="8100000">
              <a:srgbClr val="1B2A41">
                <a:alpha val="14000"/>
              </a:srgbClr>
            </a:outerShdw>
          </a:effectLst>
        </p:spPr>
      </p:sp>
      <p:sp>
        <p:nvSpPr>
          <p:cNvPr id="17" name="Shape 15"/>
          <p:cNvSpPr/>
          <p:nvPr/>
        </p:nvSpPr>
        <p:spPr>
          <a:xfrm>
            <a:off x="4709160" y="2276856"/>
            <a:ext cx="82296" cy="822960"/>
          </a:xfrm>
          <a:prstGeom prst="rect">
            <a:avLst/>
          </a:prstGeom>
          <a:solidFill>
            <a:srgbClr val="1B2A41"/>
          </a:solidFill>
          <a:ln/>
        </p:spPr>
      </p:sp>
      <p:sp>
        <p:nvSpPr>
          <p:cNvPr id="18" name="Text 16"/>
          <p:cNvSpPr/>
          <p:nvPr/>
        </p:nvSpPr>
        <p:spPr>
          <a:xfrm>
            <a:off x="4965192" y="2368296"/>
            <a:ext cx="3566160" cy="658368"/>
          </a:xfrm>
          <a:prstGeom prst="rect">
            <a:avLst/>
          </a:prstGeom>
          <a:noFill/>
          <a:ln/>
        </p:spPr>
        <p:txBody>
          <a:bodyPr wrap="square" lIns="0" tIns="0" rIns="0" bIns="0" rtlCol="0" anchor="ctr"/>
          <a:lstStyle/>
          <a:p>
            <a:pPr indent="0" marL="0">
              <a:lnSpc>
                <a:spcPct val="110000"/>
              </a:lnSpc>
              <a:spcAft>
                <a:spcPts val="200"/>
              </a:spcAft>
              <a:buNone/>
            </a:pPr>
            <a:r>
              <a:rPr lang="en-US" sz="1150" b="1" dirty="0">
                <a:solidFill>
                  <a:srgbClr val="1B2A41"/>
                </a:solidFill>
                <a:latin typeface="Hiragino Sans" pitchFamily="34" charset="0"/>
                <a:ea typeface="Hiragino Sans" pitchFamily="34" charset="-122"/>
                <a:cs typeface="Hiragino Sans" pitchFamily="34" charset="-120"/>
              </a:rPr>
              <a:t>資金</a:t>
            </a:r>
            <a:endParaRPr lang="en-US" sz="1150" dirty="0"/>
          </a:p>
          <a:p>
            <a:pPr indent="0" marL="0">
              <a:lnSpc>
                <a:spcPct val="110000"/>
              </a:lnSpc>
              <a:buNone/>
            </a:pPr>
            <a:r>
              <a:rPr lang="en-US" sz="950" dirty="0">
                <a:solidFill>
                  <a:srgbClr val="23303F"/>
                </a:solidFill>
                <a:latin typeface="Hiragino Sans" pitchFamily="34" charset="0"/>
                <a:ea typeface="Hiragino Sans" pitchFamily="34" charset="-122"/>
                <a:cs typeface="Hiragino Sans" pitchFamily="34" charset="-120"/>
              </a:rPr>
              <a:t>自己資金内の小ロットから。融資は売上100万円実績後に検討</a:t>
            </a:r>
            <a:endParaRPr lang="en-US" sz="1150" dirty="0"/>
          </a:p>
        </p:txBody>
      </p:sp>
      <p:sp>
        <p:nvSpPr>
          <p:cNvPr id="19" name="Shape 17"/>
          <p:cNvSpPr/>
          <p:nvPr/>
        </p:nvSpPr>
        <p:spPr>
          <a:xfrm>
            <a:off x="457200" y="3401568"/>
            <a:ext cx="8229600" cy="1143000"/>
          </a:xfrm>
          <a:prstGeom prst="rect">
            <a:avLst/>
          </a:prstGeom>
          <a:solidFill>
            <a:srgbClr val="1B2A41"/>
          </a:solidFill>
          <a:ln/>
          <a:effectLst>
            <a:outerShdw sx="100000" sy="100000" kx="0" ky="0" algn="bl" rotWithShape="0" blurRad="88900" dist="25400" dir="8100000">
              <a:srgbClr val="1B2A41">
                <a:alpha val="14000"/>
              </a:srgbClr>
            </a:outerShdw>
          </a:effectLst>
        </p:spPr>
      </p:sp>
      <p:sp>
        <p:nvSpPr>
          <p:cNvPr id="20" name="Text 18"/>
          <p:cNvSpPr/>
          <p:nvPr/>
        </p:nvSpPr>
        <p:spPr>
          <a:xfrm>
            <a:off x="713232" y="3529584"/>
            <a:ext cx="3657600" cy="274320"/>
          </a:xfrm>
          <a:prstGeom prst="rect">
            <a:avLst/>
          </a:prstGeom>
          <a:noFill/>
          <a:ln/>
        </p:spPr>
        <p:txBody>
          <a:bodyPr wrap="square" lIns="0" tIns="0" rIns="0" bIns="0" rtlCol="0" anchor="ctr"/>
          <a:lstStyle/>
          <a:p>
            <a:pPr indent="0" marL="0">
              <a:buNone/>
            </a:pPr>
            <a:r>
              <a:rPr lang="en-US" sz="1100" b="1" spc="100" kern="0" dirty="0">
                <a:solidFill>
                  <a:srgbClr val="F2B33D"/>
                </a:solidFill>
                <a:latin typeface="Hiragino Sans" pitchFamily="34" charset="0"/>
                <a:ea typeface="Hiragino Sans" pitchFamily="34" charset="-122"/>
                <a:cs typeface="Hiragino Sans" pitchFamily="34" charset="-120"/>
              </a:rPr>
              <a:t>直近のアクション</a:t>
            </a:r>
            <a:endParaRPr lang="en-US" sz="1100" dirty="0"/>
          </a:p>
        </p:txBody>
      </p:sp>
      <p:sp>
        <p:nvSpPr>
          <p:cNvPr id="21" name="Shape 19"/>
          <p:cNvSpPr/>
          <p:nvPr/>
        </p:nvSpPr>
        <p:spPr>
          <a:xfrm>
            <a:off x="713232" y="3913632"/>
            <a:ext cx="329184" cy="329184"/>
          </a:xfrm>
          <a:prstGeom prst="ellipse">
            <a:avLst/>
          </a:prstGeom>
          <a:solidFill>
            <a:srgbClr val="D98E04"/>
          </a:solidFill>
          <a:ln/>
        </p:spPr>
      </p:sp>
      <p:sp>
        <p:nvSpPr>
          <p:cNvPr id="22" name="Text 20"/>
          <p:cNvSpPr/>
          <p:nvPr/>
        </p:nvSpPr>
        <p:spPr>
          <a:xfrm>
            <a:off x="713232" y="38999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1</a:t>
            </a:r>
            <a:endParaRPr lang="en-US" sz="1200" dirty="0"/>
          </a:p>
        </p:txBody>
      </p:sp>
      <p:sp>
        <p:nvSpPr>
          <p:cNvPr id="23" name="Text 21"/>
          <p:cNvSpPr/>
          <p:nvPr/>
        </p:nvSpPr>
        <p:spPr>
          <a:xfrm>
            <a:off x="1133856" y="3858768"/>
            <a:ext cx="2084832" cy="566928"/>
          </a:xfrm>
          <a:prstGeom prst="rect">
            <a:avLst/>
          </a:prstGeom>
          <a:noFill/>
          <a:ln/>
        </p:spPr>
        <p:txBody>
          <a:bodyPr wrap="square" lIns="0" tIns="0" rIns="0" bIns="0" rtlCol="0" anchor="ctr"/>
          <a:lstStyle/>
          <a:p>
            <a:pPr indent="0" marL="0">
              <a:lnSpc>
                <a:spcPct val="110000"/>
              </a:lnSpc>
              <a:buNone/>
            </a:pPr>
            <a:r>
              <a:rPr lang="en-US" sz="950" b="1" dirty="0">
                <a:solidFill>
                  <a:srgbClr val="FFFFFF"/>
                </a:solidFill>
                <a:latin typeface="Hiragino Sans" pitchFamily="34" charset="0"/>
                <a:ea typeface="Hiragino Sans" pitchFamily="34" charset="-122"/>
                <a:cs typeface="Hiragino Sans" pitchFamily="34" charset="-120"/>
              </a:rPr>
              <a:t>Keepaで候補メーカーをリスト化</a:t>
            </a:r>
            <a:endParaRPr lang="en-US" sz="950" dirty="0"/>
          </a:p>
        </p:txBody>
      </p:sp>
      <p:sp>
        <p:nvSpPr>
          <p:cNvPr id="24" name="Shape 22"/>
          <p:cNvSpPr/>
          <p:nvPr/>
        </p:nvSpPr>
        <p:spPr>
          <a:xfrm>
            <a:off x="3410712" y="3913632"/>
            <a:ext cx="329184" cy="329184"/>
          </a:xfrm>
          <a:prstGeom prst="ellipse">
            <a:avLst/>
          </a:prstGeom>
          <a:solidFill>
            <a:srgbClr val="D98E04"/>
          </a:solidFill>
          <a:ln/>
        </p:spPr>
      </p:sp>
      <p:sp>
        <p:nvSpPr>
          <p:cNvPr id="25" name="Text 23"/>
          <p:cNvSpPr/>
          <p:nvPr/>
        </p:nvSpPr>
        <p:spPr>
          <a:xfrm>
            <a:off x="3410712" y="38999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2</a:t>
            </a:r>
            <a:endParaRPr lang="en-US" sz="1200" dirty="0"/>
          </a:p>
        </p:txBody>
      </p:sp>
      <p:sp>
        <p:nvSpPr>
          <p:cNvPr id="26" name="Text 24"/>
          <p:cNvSpPr/>
          <p:nvPr/>
        </p:nvSpPr>
        <p:spPr>
          <a:xfrm>
            <a:off x="3831336" y="3858768"/>
            <a:ext cx="2084832" cy="566928"/>
          </a:xfrm>
          <a:prstGeom prst="rect">
            <a:avLst/>
          </a:prstGeom>
          <a:noFill/>
          <a:ln/>
        </p:spPr>
        <p:txBody>
          <a:bodyPr wrap="square" lIns="0" tIns="0" rIns="0" bIns="0" rtlCol="0" anchor="ctr"/>
          <a:lstStyle/>
          <a:p>
            <a:pPr indent="0" marL="0">
              <a:lnSpc>
                <a:spcPct val="110000"/>
              </a:lnSpc>
              <a:buNone/>
            </a:pPr>
            <a:r>
              <a:rPr lang="en-US" sz="950" b="1" dirty="0">
                <a:solidFill>
                  <a:srgbClr val="FFFFFF"/>
                </a:solidFill>
                <a:latin typeface="Hiragino Sans" pitchFamily="34" charset="0"/>
                <a:ea typeface="Hiragino Sans" pitchFamily="34" charset="-122"/>
                <a:cs typeface="Hiragino Sans" pitchFamily="34" charset="-120"/>
              </a:rPr>
              <a:t>会社概要資料＋ホームページを整える</a:t>
            </a:r>
            <a:endParaRPr lang="en-US" sz="950" dirty="0"/>
          </a:p>
        </p:txBody>
      </p:sp>
      <p:sp>
        <p:nvSpPr>
          <p:cNvPr id="27" name="Shape 25"/>
          <p:cNvSpPr/>
          <p:nvPr/>
        </p:nvSpPr>
        <p:spPr>
          <a:xfrm>
            <a:off x="6108192" y="3913632"/>
            <a:ext cx="329184" cy="329184"/>
          </a:xfrm>
          <a:prstGeom prst="ellipse">
            <a:avLst/>
          </a:prstGeom>
          <a:solidFill>
            <a:srgbClr val="D98E04"/>
          </a:solidFill>
          <a:ln/>
        </p:spPr>
      </p:sp>
      <p:sp>
        <p:nvSpPr>
          <p:cNvPr id="28" name="Text 26"/>
          <p:cNvSpPr/>
          <p:nvPr/>
        </p:nvSpPr>
        <p:spPr>
          <a:xfrm>
            <a:off x="6108192" y="389991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3</a:t>
            </a:r>
            <a:endParaRPr lang="en-US" sz="1200" dirty="0"/>
          </a:p>
        </p:txBody>
      </p:sp>
      <p:sp>
        <p:nvSpPr>
          <p:cNvPr id="29" name="Text 27"/>
          <p:cNvSpPr/>
          <p:nvPr/>
        </p:nvSpPr>
        <p:spPr>
          <a:xfrm>
            <a:off x="6528816" y="3858768"/>
            <a:ext cx="2084832" cy="566928"/>
          </a:xfrm>
          <a:prstGeom prst="rect">
            <a:avLst/>
          </a:prstGeom>
          <a:noFill/>
          <a:ln/>
        </p:spPr>
        <p:txBody>
          <a:bodyPr wrap="square" lIns="0" tIns="0" rIns="0" bIns="0" rtlCol="0" anchor="ctr"/>
          <a:lstStyle/>
          <a:p>
            <a:pPr indent="0" marL="0">
              <a:lnSpc>
                <a:spcPct val="110000"/>
              </a:lnSpc>
              <a:buNone/>
            </a:pPr>
            <a:r>
              <a:rPr lang="en-US" sz="950" b="1" dirty="0">
                <a:solidFill>
                  <a:srgbClr val="FFFFFF"/>
                </a:solidFill>
                <a:latin typeface="Hiragino Sans" pitchFamily="34" charset="0"/>
                <a:ea typeface="Hiragino Sans" pitchFamily="34" charset="-122"/>
                <a:cs typeface="Hiragino Sans" pitchFamily="34" charset="-120"/>
              </a:rPr>
              <a:t>週10社ペースで問い合わせ開始</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8E04"/>
          </a:solidFill>
          <a:ln/>
        </p:spPr>
      </p:sp>
      <p:sp>
        <p:nvSpPr>
          <p:cNvPr id="3" name="Text 1"/>
          <p:cNvSpPr/>
          <p:nvPr/>
        </p:nvSpPr>
        <p:spPr>
          <a:xfrm>
            <a:off x="777240" y="384048"/>
            <a:ext cx="7315200" cy="274320"/>
          </a:xfrm>
          <a:prstGeom prst="rect">
            <a:avLst/>
          </a:prstGeom>
          <a:noFill/>
          <a:ln/>
        </p:spPr>
        <p:txBody>
          <a:bodyPr wrap="square" lIns="0" tIns="0" rIns="0" bIns="0" rtlCol="0" anchor="ctr"/>
          <a:lstStyle/>
          <a:p>
            <a:pPr indent="0" marL="0">
              <a:buNone/>
            </a:pPr>
            <a:r>
              <a:rPr lang="en-US" sz="1050" b="1" spc="400" kern="0" dirty="0">
                <a:solidFill>
                  <a:srgbClr val="F2B33D"/>
                </a:solidFill>
                <a:latin typeface="Hiragino Sans" pitchFamily="34" charset="0"/>
                <a:ea typeface="Hiragino Sans" pitchFamily="34" charset="-122"/>
                <a:cs typeface="Hiragino Sans" pitchFamily="34" charset="-120"/>
              </a:rPr>
              <a:t>SUMMARY</a:t>
            </a:r>
            <a:endParaRPr lang="en-US" sz="1050" dirty="0"/>
          </a:p>
        </p:txBody>
      </p:sp>
      <p:sp>
        <p:nvSpPr>
          <p:cNvPr id="4" name="Text 2"/>
          <p:cNvSpPr/>
          <p:nvPr/>
        </p:nvSpPr>
        <p:spPr>
          <a:xfrm>
            <a:off x="777240" y="658368"/>
            <a:ext cx="7772400" cy="502920"/>
          </a:xfrm>
          <a:prstGeom prst="rect">
            <a:avLst/>
          </a:prstGeom>
          <a:noFill/>
          <a:ln/>
        </p:spPr>
        <p:txBody>
          <a:bodyPr wrap="square" lIns="0" tIns="0" rIns="0" bIns="0" rtlCol="0" anchor="ctr"/>
          <a:lstStyle/>
          <a:p>
            <a:pPr indent="0" marL="0">
              <a:buNone/>
            </a:pPr>
            <a:r>
              <a:rPr lang="en-US" sz="2400" b="1" dirty="0">
                <a:solidFill>
                  <a:srgbClr val="FFFFFF"/>
                </a:solidFill>
                <a:latin typeface="Hiragino Sans" pitchFamily="34" charset="0"/>
                <a:ea typeface="Hiragino Sans" pitchFamily="34" charset="-122"/>
                <a:cs typeface="Hiragino Sans" pitchFamily="34" charset="-120"/>
              </a:rPr>
              <a:t>まとめ — 全体フローを1枚で</a:t>
            </a:r>
            <a:endParaRPr lang="en-US" sz="2400" dirty="0"/>
          </a:p>
        </p:txBody>
      </p:sp>
      <p:sp>
        <p:nvSpPr>
          <p:cNvPr id="5" name="Shape 3"/>
          <p:cNvSpPr/>
          <p:nvPr/>
        </p:nvSpPr>
        <p:spPr>
          <a:xfrm>
            <a:off x="777240" y="1371600"/>
            <a:ext cx="1554480" cy="512064"/>
          </a:xfrm>
          <a:prstGeom prst="rect">
            <a:avLst/>
          </a:prstGeom>
          <a:solidFill>
            <a:srgbClr val="D98E04"/>
          </a:solidFill>
          <a:ln/>
        </p:spPr>
      </p:sp>
      <p:sp>
        <p:nvSpPr>
          <p:cNvPr id="6" name="Text 4"/>
          <p:cNvSpPr/>
          <p:nvPr/>
        </p:nvSpPr>
        <p:spPr>
          <a:xfrm>
            <a:off x="777240" y="1371600"/>
            <a:ext cx="1554480" cy="512064"/>
          </a:xfrm>
          <a:prstGeom prst="rect">
            <a:avLst/>
          </a:prstGeom>
          <a:noFill/>
          <a:ln/>
        </p:spPr>
        <p:txBody>
          <a:bodyPr wrap="square" lIns="0" tIns="0" rIns="0" bIns="0" rtlCol="0" anchor="ctr"/>
          <a:lstStyle/>
          <a:p>
            <a:pPr algn="ctr" indent="0" marL="0">
              <a:buNone/>
            </a:pPr>
            <a:r>
              <a:rPr lang="en-US" sz="1150" b="1" dirty="0">
                <a:solidFill>
                  <a:srgbClr val="FFFFFF"/>
                </a:solidFill>
                <a:latin typeface="Hiragino Sans" pitchFamily="34" charset="0"/>
                <a:ea typeface="Hiragino Sans" pitchFamily="34" charset="-122"/>
                <a:cs typeface="Hiragino Sans" pitchFamily="34" charset="-120"/>
              </a:rPr>
              <a:t>毎週</a:t>
            </a:r>
            <a:endParaRPr lang="en-US" sz="1150" dirty="0"/>
          </a:p>
        </p:txBody>
      </p:sp>
      <p:sp>
        <p:nvSpPr>
          <p:cNvPr id="7" name="Shape 5"/>
          <p:cNvSpPr/>
          <p:nvPr/>
        </p:nvSpPr>
        <p:spPr>
          <a:xfrm>
            <a:off x="2331720" y="1371600"/>
            <a:ext cx="6035040" cy="512064"/>
          </a:xfrm>
          <a:prstGeom prst="rect">
            <a:avLst/>
          </a:prstGeom>
          <a:solidFill>
            <a:srgbClr val="2B3F5C"/>
          </a:solidFill>
          <a:ln/>
        </p:spPr>
      </p:sp>
      <p:sp>
        <p:nvSpPr>
          <p:cNvPr id="8" name="Text 6"/>
          <p:cNvSpPr/>
          <p:nvPr/>
        </p:nvSpPr>
        <p:spPr>
          <a:xfrm>
            <a:off x="2560320" y="1371600"/>
            <a:ext cx="5669280" cy="512064"/>
          </a:xfrm>
          <a:prstGeom prst="rect">
            <a:avLst/>
          </a:prstGeom>
          <a:noFill/>
          <a:ln/>
        </p:spPr>
        <p:txBody>
          <a:bodyPr wrap="square" lIns="0" tIns="0" rIns="0" bIns="0" rtlCol="0" anchor="ctr"/>
          <a:lstStyle/>
          <a:p>
            <a:pPr indent="0" marL="0">
              <a:buNone/>
            </a:pPr>
            <a:r>
              <a:rPr lang="en-US" sz="1050" dirty="0">
                <a:solidFill>
                  <a:srgbClr val="FFFFFF"/>
                </a:solidFill>
                <a:latin typeface="Hiragino Sans" pitchFamily="34" charset="0"/>
                <a:ea typeface="Hiragino Sans" pitchFamily="34" charset="-122"/>
                <a:cs typeface="Hiragino Sans" pitchFamily="34" charset="-120"/>
              </a:rPr>
              <a:t>Keepaリサーチ（3基準） → 会社概要＋4構成メールで問い合わせ（＋FAX/電話）</a:t>
            </a:r>
            <a:endParaRPr lang="en-US" sz="1050" dirty="0"/>
          </a:p>
        </p:txBody>
      </p:sp>
      <p:sp>
        <p:nvSpPr>
          <p:cNvPr id="9" name="Shape 7"/>
          <p:cNvSpPr/>
          <p:nvPr/>
        </p:nvSpPr>
        <p:spPr>
          <a:xfrm>
            <a:off x="777240" y="2029968"/>
            <a:ext cx="1554480" cy="512064"/>
          </a:xfrm>
          <a:prstGeom prst="rect">
            <a:avLst/>
          </a:prstGeom>
          <a:solidFill>
            <a:srgbClr val="D98E04"/>
          </a:solidFill>
          <a:ln/>
        </p:spPr>
      </p:sp>
      <p:sp>
        <p:nvSpPr>
          <p:cNvPr id="10" name="Text 8"/>
          <p:cNvSpPr/>
          <p:nvPr/>
        </p:nvSpPr>
        <p:spPr>
          <a:xfrm>
            <a:off x="777240" y="2029968"/>
            <a:ext cx="1554480" cy="512064"/>
          </a:xfrm>
          <a:prstGeom prst="rect">
            <a:avLst/>
          </a:prstGeom>
          <a:noFill/>
          <a:ln/>
        </p:spPr>
        <p:txBody>
          <a:bodyPr wrap="square" lIns="0" tIns="0" rIns="0" bIns="0" rtlCol="0" anchor="ctr"/>
          <a:lstStyle/>
          <a:p>
            <a:pPr algn="ctr" indent="0" marL="0">
              <a:buNone/>
            </a:pPr>
            <a:r>
              <a:rPr lang="en-US" sz="1150" b="1" dirty="0">
                <a:solidFill>
                  <a:srgbClr val="FFFFFF"/>
                </a:solidFill>
                <a:latin typeface="Hiragino Sans" pitchFamily="34" charset="0"/>
                <a:ea typeface="Hiragino Sans" pitchFamily="34" charset="-122"/>
                <a:cs typeface="Hiragino Sans" pitchFamily="34" charset="-120"/>
              </a:rPr>
              <a:t>見積が来たら</a:t>
            </a:r>
            <a:endParaRPr lang="en-US" sz="1150" dirty="0"/>
          </a:p>
        </p:txBody>
      </p:sp>
      <p:sp>
        <p:nvSpPr>
          <p:cNvPr id="11" name="Shape 9"/>
          <p:cNvSpPr/>
          <p:nvPr/>
        </p:nvSpPr>
        <p:spPr>
          <a:xfrm>
            <a:off x="2331720" y="2029968"/>
            <a:ext cx="6035040" cy="512064"/>
          </a:xfrm>
          <a:prstGeom prst="rect">
            <a:avLst/>
          </a:prstGeom>
          <a:solidFill>
            <a:srgbClr val="2B3F5C"/>
          </a:solidFill>
          <a:ln/>
        </p:spPr>
      </p:sp>
      <p:sp>
        <p:nvSpPr>
          <p:cNvPr id="12" name="Text 10"/>
          <p:cNvSpPr/>
          <p:nvPr/>
        </p:nvSpPr>
        <p:spPr>
          <a:xfrm>
            <a:off x="2560320" y="2029968"/>
            <a:ext cx="5669280" cy="512064"/>
          </a:xfrm>
          <a:prstGeom prst="rect">
            <a:avLst/>
          </a:prstGeom>
          <a:noFill/>
          <a:ln/>
        </p:spPr>
        <p:txBody>
          <a:bodyPr wrap="square" lIns="0" tIns="0" rIns="0" bIns="0" rtlCol="0" anchor="ctr"/>
          <a:lstStyle/>
          <a:p>
            <a:pPr indent="0" marL="0">
              <a:buNone/>
            </a:pPr>
            <a:r>
              <a:rPr lang="en-US" sz="1050" dirty="0">
                <a:solidFill>
                  <a:srgbClr val="FFFFFF"/>
                </a:solidFill>
                <a:latin typeface="Hiragino Sans" pitchFamily="34" charset="0"/>
                <a:ea typeface="Hiragino Sans" pitchFamily="34" charset="-122"/>
                <a:cs typeface="Hiragino Sans" pitchFamily="34" charset="-120"/>
              </a:rPr>
              <a:t>35%概算で利益判定 → キーゾンで月販確認 → 初回5個だけ発注</a:t>
            </a:r>
            <a:endParaRPr lang="en-US" sz="1050" dirty="0"/>
          </a:p>
        </p:txBody>
      </p:sp>
      <p:sp>
        <p:nvSpPr>
          <p:cNvPr id="13" name="Shape 11"/>
          <p:cNvSpPr/>
          <p:nvPr/>
        </p:nvSpPr>
        <p:spPr>
          <a:xfrm>
            <a:off x="777240" y="2688336"/>
            <a:ext cx="1554480" cy="512064"/>
          </a:xfrm>
          <a:prstGeom prst="rect">
            <a:avLst/>
          </a:prstGeom>
          <a:solidFill>
            <a:srgbClr val="D98E04"/>
          </a:solidFill>
          <a:ln/>
        </p:spPr>
      </p:sp>
      <p:sp>
        <p:nvSpPr>
          <p:cNvPr id="14" name="Text 12"/>
          <p:cNvSpPr/>
          <p:nvPr/>
        </p:nvSpPr>
        <p:spPr>
          <a:xfrm>
            <a:off x="777240" y="2688336"/>
            <a:ext cx="1554480" cy="512064"/>
          </a:xfrm>
          <a:prstGeom prst="rect">
            <a:avLst/>
          </a:prstGeom>
          <a:noFill/>
          <a:ln/>
        </p:spPr>
        <p:txBody>
          <a:bodyPr wrap="square" lIns="0" tIns="0" rIns="0" bIns="0" rtlCol="0" anchor="ctr"/>
          <a:lstStyle/>
          <a:p>
            <a:pPr algn="ctr" indent="0" marL="0">
              <a:buNone/>
            </a:pPr>
            <a:r>
              <a:rPr lang="en-US" sz="1150" b="1" dirty="0">
                <a:solidFill>
                  <a:srgbClr val="FFFFFF"/>
                </a:solidFill>
                <a:latin typeface="Hiragino Sans" pitchFamily="34" charset="0"/>
                <a:ea typeface="Hiragino Sans" pitchFamily="34" charset="-122"/>
                <a:cs typeface="Hiragino Sans" pitchFamily="34" charset="-120"/>
              </a:rPr>
              <a:t>売れたら</a:t>
            </a:r>
            <a:endParaRPr lang="en-US" sz="1150" dirty="0"/>
          </a:p>
        </p:txBody>
      </p:sp>
      <p:sp>
        <p:nvSpPr>
          <p:cNvPr id="15" name="Shape 13"/>
          <p:cNvSpPr/>
          <p:nvPr/>
        </p:nvSpPr>
        <p:spPr>
          <a:xfrm>
            <a:off x="2331720" y="2688336"/>
            <a:ext cx="6035040" cy="512064"/>
          </a:xfrm>
          <a:prstGeom prst="rect">
            <a:avLst/>
          </a:prstGeom>
          <a:solidFill>
            <a:srgbClr val="2B3F5C"/>
          </a:solidFill>
          <a:ln/>
        </p:spPr>
      </p:sp>
      <p:sp>
        <p:nvSpPr>
          <p:cNvPr id="16" name="Text 14"/>
          <p:cNvSpPr/>
          <p:nvPr/>
        </p:nvSpPr>
        <p:spPr>
          <a:xfrm>
            <a:off x="2560320" y="2688336"/>
            <a:ext cx="5669280" cy="512064"/>
          </a:xfrm>
          <a:prstGeom prst="rect">
            <a:avLst/>
          </a:prstGeom>
          <a:noFill/>
          <a:ln/>
        </p:spPr>
        <p:txBody>
          <a:bodyPr wrap="square" lIns="0" tIns="0" rIns="0" bIns="0" rtlCol="0" anchor="ctr"/>
          <a:lstStyle/>
          <a:p>
            <a:pPr indent="0" marL="0">
              <a:buNone/>
            </a:pPr>
            <a:r>
              <a:rPr lang="en-US" sz="1050" dirty="0">
                <a:solidFill>
                  <a:srgbClr val="FFFFFF"/>
                </a:solidFill>
                <a:latin typeface="Hiragino Sans" pitchFamily="34" charset="0"/>
                <a:ea typeface="Hiragino Sans" pitchFamily="34" charset="-122"/>
                <a:cs typeface="Hiragino Sans" pitchFamily="34" charset="-120"/>
              </a:rPr>
              <a:t>在庫1.2〜1.5倍でリピート → 在庫表更新 → 2週間ごとに入金</a:t>
            </a:r>
            <a:endParaRPr lang="en-US" sz="1050" dirty="0"/>
          </a:p>
        </p:txBody>
      </p:sp>
      <p:sp>
        <p:nvSpPr>
          <p:cNvPr id="17" name="Shape 15"/>
          <p:cNvSpPr/>
          <p:nvPr/>
        </p:nvSpPr>
        <p:spPr>
          <a:xfrm>
            <a:off x="777240" y="3346704"/>
            <a:ext cx="1554480" cy="512064"/>
          </a:xfrm>
          <a:prstGeom prst="rect">
            <a:avLst/>
          </a:prstGeom>
          <a:solidFill>
            <a:srgbClr val="D98E04"/>
          </a:solidFill>
          <a:ln/>
        </p:spPr>
      </p:sp>
      <p:sp>
        <p:nvSpPr>
          <p:cNvPr id="18" name="Text 16"/>
          <p:cNvSpPr/>
          <p:nvPr/>
        </p:nvSpPr>
        <p:spPr>
          <a:xfrm>
            <a:off x="777240" y="3346704"/>
            <a:ext cx="1554480" cy="512064"/>
          </a:xfrm>
          <a:prstGeom prst="rect">
            <a:avLst/>
          </a:prstGeom>
          <a:noFill/>
          <a:ln/>
        </p:spPr>
        <p:txBody>
          <a:bodyPr wrap="square" lIns="0" tIns="0" rIns="0" bIns="0" rtlCol="0" anchor="ctr"/>
          <a:lstStyle/>
          <a:p>
            <a:pPr algn="ctr" indent="0" marL="0">
              <a:buNone/>
            </a:pPr>
            <a:r>
              <a:rPr lang="en-US" sz="1150" b="1" dirty="0">
                <a:solidFill>
                  <a:srgbClr val="FFFFFF"/>
                </a:solidFill>
                <a:latin typeface="Hiragino Sans" pitchFamily="34" charset="0"/>
                <a:ea typeface="Hiragino Sans" pitchFamily="34" charset="-122"/>
                <a:cs typeface="Hiragino Sans" pitchFamily="34" charset="-120"/>
              </a:rPr>
              <a:t>育ってきたら</a:t>
            </a:r>
            <a:endParaRPr lang="en-US" sz="1150" dirty="0"/>
          </a:p>
        </p:txBody>
      </p:sp>
      <p:sp>
        <p:nvSpPr>
          <p:cNvPr id="19" name="Shape 17"/>
          <p:cNvSpPr/>
          <p:nvPr/>
        </p:nvSpPr>
        <p:spPr>
          <a:xfrm>
            <a:off x="2331720" y="3346704"/>
            <a:ext cx="6035040" cy="512064"/>
          </a:xfrm>
          <a:prstGeom prst="rect">
            <a:avLst/>
          </a:prstGeom>
          <a:solidFill>
            <a:srgbClr val="2B3F5C"/>
          </a:solidFill>
          <a:ln/>
        </p:spPr>
      </p:sp>
      <p:sp>
        <p:nvSpPr>
          <p:cNvPr id="20" name="Text 18"/>
          <p:cNvSpPr/>
          <p:nvPr/>
        </p:nvSpPr>
        <p:spPr>
          <a:xfrm>
            <a:off x="2560320" y="3346704"/>
            <a:ext cx="5669280" cy="512064"/>
          </a:xfrm>
          <a:prstGeom prst="rect">
            <a:avLst/>
          </a:prstGeom>
          <a:noFill/>
          <a:ln/>
        </p:spPr>
        <p:txBody>
          <a:bodyPr wrap="square" lIns="0" tIns="0" rIns="0" bIns="0" rtlCol="0" anchor="ctr"/>
          <a:lstStyle/>
          <a:p>
            <a:pPr indent="0" marL="0">
              <a:buNone/>
            </a:pPr>
            <a:r>
              <a:rPr lang="en-US" sz="1050" dirty="0">
                <a:solidFill>
                  <a:srgbClr val="FFFFFF"/>
                </a:solidFill>
                <a:latin typeface="Hiragino Sans" pitchFamily="34" charset="0"/>
                <a:ea typeface="Hiragino Sans" pitchFamily="34" charset="-122"/>
                <a:cs typeface="Hiragino Sans" pitchFamily="34" charset="-120"/>
              </a:rPr>
              <a:t>外注化（WAM NET）→ 融資（売上100万実績後）→ 限定化・独占</a:t>
            </a:r>
            <a:endParaRPr lang="en-US" sz="1050" dirty="0"/>
          </a:p>
        </p:txBody>
      </p:sp>
      <p:sp>
        <p:nvSpPr>
          <p:cNvPr id="21" name="Shape 19"/>
          <p:cNvSpPr/>
          <p:nvPr/>
        </p:nvSpPr>
        <p:spPr>
          <a:xfrm>
            <a:off x="795528" y="4160520"/>
            <a:ext cx="7589520" cy="0"/>
          </a:xfrm>
          <a:prstGeom prst="line">
            <a:avLst/>
          </a:prstGeom>
          <a:noFill/>
          <a:ln w="12700">
            <a:solidFill>
              <a:srgbClr val="2B3F5C"/>
            </a:solidFill>
            <a:prstDash val="solid"/>
          </a:ln>
        </p:spPr>
      </p:sp>
      <p:sp>
        <p:nvSpPr>
          <p:cNvPr id="22" name="Text 20"/>
          <p:cNvSpPr/>
          <p:nvPr/>
        </p:nvSpPr>
        <p:spPr>
          <a:xfrm>
            <a:off x="777240" y="4315968"/>
            <a:ext cx="7772400" cy="731520"/>
          </a:xfrm>
          <a:prstGeom prst="rect">
            <a:avLst/>
          </a:prstGeom>
          <a:noFill/>
          <a:ln/>
        </p:spPr>
        <p:txBody>
          <a:bodyPr wrap="square" lIns="0" tIns="0" rIns="0" bIns="0" rtlCol="0" anchor="ctr"/>
          <a:lstStyle/>
          <a:p>
            <a:pPr indent="0" marL="0">
              <a:spcAft>
                <a:spcPts val="300"/>
              </a:spcAft>
              <a:buNone/>
            </a:pPr>
            <a:r>
              <a:rPr lang="en-US" sz="1500" b="1" dirty="0">
                <a:solidFill>
                  <a:srgbClr val="F2B33D"/>
                </a:solidFill>
                <a:latin typeface="Hiragino Sans" pitchFamily="34" charset="0"/>
                <a:ea typeface="Hiragino Sans" pitchFamily="34" charset="-122"/>
                <a:cs typeface="Hiragino Sans" pitchFamily="34" charset="-120"/>
              </a:rPr>
              <a:t>探すのは商品ではなく、パートナーになるメーカー。</a:t>
            </a:r>
            <a:endParaRPr lang="en-US" sz="1500" dirty="0"/>
          </a:p>
          <a:p>
            <a:pPr indent="0" marL="0">
              <a:buNone/>
            </a:pPr>
            <a:r>
              <a:rPr lang="en-US" sz="1100" dirty="0">
                <a:solidFill>
                  <a:srgbClr val="C9D4E3"/>
                </a:solidFill>
                <a:latin typeface="Hiragino Sans" pitchFamily="34" charset="0"/>
                <a:ea typeface="Hiragino Sans" pitchFamily="34" charset="-122"/>
                <a:cs typeface="Hiragino Sans" pitchFamily="34" charset="-120"/>
              </a:rPr>
              <a:t>商品は入れ替わっても、メーカーとの関係は資産として残る。</a:t>
            </a:r>
            <a:endParaRPr lang="en-US" sz="1500" dirty="0"/>
          </a:p>
        </p:txBody>
      </p:sp>
      <p:sp>
        <p:nvSpPr>
          <p:cNvPr id="23" name="Text 21"/>
          <p:cNvSpPr/>
          <p:nvPr/>
        </p:nvSpPr>
        <p:spPr>
          <a:xfrm>
            <a:off x="8412480" y="4791456"/>
            <a:ext cx="365760" cy="256032"/>
          </a:xfrm>
          <a:prstGeom prst="rect">
            <a:avLst/>
          </a:prstGeom>
          <a:noFill/>
          <a:ln/>
        </p:spPr>
        <p:txBody>
          <a:bodyPr wrap="square" lIns="0" tIns="0" rIns="0" bIns="0" rtlCol="0" anchor="ctr"/>
          <a:lstStyle/>
          <a:p>
            <a:pPr algn="r" indent="0" marL="0">
              <a:buNone/>
            </a:pPr>
            <a:r>
              <a:rPr lang="en-US" sz="900" dirty="0">
                <a:solidFill>
                  <a:srgbClr val="8FA1B8"/>
                </a:solidFill>
                <a:latin typeface="Hiragino Sans" pitchFamily="34" charset="0"/>
                <a:ea typeface="Hiragino Sans" pitchFamily="34" charset="-122"/>
                <a:cs typeface="Hiragino Sans" pitchFamily="34" charset="-120"/>
              </a:rPr>
              <a:t>23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メーカー仕入れ式シンプル物販 完全ワークフロー</dc:title>
  <dc:subject>PptxGenJS Presentation</dc:subject>
  <dc:creator>Satoy Select / カズヨ</dc:creator>
  <cp:lastModifiedBy>Satoy Select / カズヨ</cp:lastModifiedBy>
  <cp:revision>1</cp:revision>
  <dcterms:created xsi:type="dcterms:W3CDTF">2026-06-12T00:37:27Z</dcterms:created>
  <dcterms:modified xsi:type="dcterms:W3CDTF">2026-06-12T00:37:27Z</dcterms:modified>
</cp:coreProperties>
</file>